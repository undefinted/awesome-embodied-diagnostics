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609061ef0d441d" /><Relationship Type="http://schemas.openxmlformats.org/officeDocument/2006/relationships/extended-properties" Target="/docProps/app.xml" Id="R4a55cf751f504f85" /><Relationship Type="http://schemas.openxmlformats.org/officeDocument/2006/relationships/officeDocument" Target="/ppt/presentation.xml" Id="R71edc042274f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521196de9d43e8"/>
  </p:sldMasterIdLst>
  <p:notesMasterIdLst>
    <p:notesMasterId xmlns:r="http://schemas.openxmlformats.org/officeDocument/2006/relationships" r:id="R833a71ec82ed441c"/>
  </p:notesMasterIdLst>
  <p:sldIdLst>
    <p:sldId xmlns:r="http://schemas.openxmlformats.org/officeDocument/2006/relationships" id="256" r:id="Rb0f118422a9448c7"/>
    <p:sldId xmlns:r="http://schemas.openxmlformats.org/officeDocument/2006/relationships" id="257" r:id="Rc5eb6e7f48cb4de6"/>
    <p:sldId xmlns:r="http://schemas.openxmlformats.org/officeDocument/2006/relationships" id="258" r:id="Rfda827ddc5674bb8"/>
    <p:sldId xmlns:r="http://schemas.openxmlformats.org/officeDocument/2006/relationships" id="259" r:id="R1068993ba6c84f32"/>
    <p:sldId xmlns:r="http://schemas.openxmlformats.org/officeDocument/2006/relationships" id="260" r:id="R462a6500a5cb4a37"/>
    <p:sldId xmlns:r="http://schemas.openxmlformats.org/officeDocument/2006/relationships" id="261" r:id="R90876896d14d4056"/>
    <p:sldId xmlns:r="http://schemas.openxmlformats.org/officeDocument/2006/relationships" id="262" r:id="R9e9805c6d93f4ba4"/>
    <p:sldId xmlns:r="http://schemas.openxmlformats.org/officeDocument/2006/relationships" id="263" r:id="R9b74493723a24c53"/>
    <p:sldId xmlns:r="http://schemas.openxmlformats.org/officeDocument/2006/relationships" id="264" r:id="R1b6a2106e0b644d8"/>
    <p:sldId xmlns:r="http://schemas.openxmlformats.org/officeDocument/2006/relationships" id="265" r:id="R1907f1bbdfa14312"/>
    <p:sldId xmlns:r="http://schemas.openxmlformats.org/officeDocument/2006/relationships" id="266" r:id="R58646e47e2164e23"/>
    <p:sldId xmlns:r="http://schemas.openxmlformats.org/officeDocument/2006/relationships" id="267" r:id="Ra039b29944c749c4"/>
    <p:sldId xmlns:r="http://schemas.openxmlformats.org/officeDocument/2006/relationships" id="268" r:id="R120666ce8da84cf1"/>
    <p:sldId xmlns:r="http://schemas.openxmlformats.org/officeDocument/2006/relationships" id="269" r:id="R246cc5374b3c42bc"/>
    <p:sldId xmlns:r="http://schemas.openxmlformats.org/officeDocument/2006/relationships" id="270" r:id="R5044849eb4d5471a"/>
    <p:sldId xmlns:r="http://schemas.openxmlformats.org/officeDocument/2006/relationships" id="271" r:id="R2bf259b0fd474dfc"/>
    <p:sldId xmlns:r="http://schemas.openxmlformats.org/officeDocument/2006/relationships" id="272" r:id="R7f5bfc3541ac4049"/>
    <p:sldId xmlns:r="http://schemas.openxmlformats.org/officeDocument/2006/relationships" id="273" r:id="Rf7f3e02b65004a9d"/>
    <p:sldId xmlns:r="http://schemas.openxmlformats.org/officeDocument/2006/relationships" id="274" r:id="R0cdf3f9d7ace4a5d"/>
    <p:sldId xmlns:r="http://schemas.openxmlformats.org/officeDocument/2006/relationships" id="275" r:id="Rf0e0dd7ef9954f1a"/>
    <p:sldId xmlns:r="http://schemas.openxmlformats.org/officeDocument/2006/relationships" id="276" r:id="Rc606f06b963b4256"/>
    <p:sldId xmlns:r="http://schemas.openxmlformats.org/officeDocument/2006/relationships" id="277" r:id="Rc23457c70cb047f0"/>
    <p:sldId xmlns:r="http://schemas.openxmlformats.org/officeDocument/2006/relationships" id="278" r:id="R43cf27b9b5dc492c"/>
    <p:sldId xmlns:r="http://schemas.openxmlformats.org/officeDocument/2006/relationships" id="279" r:id="R75783f46dfab46ff"/>
    <p:sldId xmlns:r="http://schemas.openxmlformats.org/officeDocument/2006/relationships" id="280" r:id="R013ec274208644ae"/>
    <p:sldId xmlns:r="http://schemas.openxmlformats.org/officeDocument/2006/relationships" id="281" r:id="R7880e1a5ed9c4287"/>
    <p:sldId xmlns:r="http://schemas.openxmlformats.org/officeDocument/2006/relationships" id="282" r:id="Rc3b7e39882dc437b"/>
    <p:sldId xmlns:r="http://schemas.openxmlformats.org/officeDocument/2006/relationships" id="283" r:id="R2cdb3774ab65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e0534177c4296" /><Relationship Type="http://schemas.openxmlformats.org/officeDocument/2006/relationships/slideMaster" Target="/ppt/slideMasters/slideMaster1.xml" Id="Re9521196de9d43e8" /><Relationship Type="http://schemas.openxmlformats.org/officeDocument/2006/relationships/notesMaster" Target="/ppt/notesMasters/notesMaster1.xml" Id="R833a71ec82ed441c" /><Relationship Type="http://schemas.openxmlformats.org/officeDocument/2006/relationships/presProps" Target="/ppt/presProps.xml" Id="R11403fb166a44956" /><Relationship Type="http://schemas.openxmlformats.org/officeDocument/2006/relationships/viewProps" Target="/ppt/viewProps.xml" Id="R4e953ecd1cb446e8" /><Relationship Type="http://schemas.openxmlformats.org/officeDocument/2006/relationships/tableStyles" Target="/ppt/tableStyles.xml" Id="R6fc7d4c4785f4320" /><Relationship Type="http://schemas.openxmlformats.org/officeDocument/2006/relationships/slide" Target="/ppt/slides/slide1.xml" Id="Rb0f118422a9448c7" /><Relationship Type="http://schemas.openxmlformats.org/officeDocument/2006/relationships/slide" Target="/ppt/slides/slide2.xml" Id="Rc5eb6e7f48cb4de6" /><Relationship Type="http://schemas.openxmlformats.org/officeDocument/2006/relationships/slide" Target="/ppt/slides/slide3.xml" Id="Rfda827ddc5674bb8" /><Relationship Type="http://schemas.openxmlformats.org/officeDocument/2006/relationships/slide" Target="/ppt/slides/slide4.xml" Id="R1068993ba6c84f32" /><Relationship Type="http://schemas.openxmlformats.org/officeDocument/2006/relationships/slide" Target="/ppt/slides/slide5.xml" Id="R462a6500a5cb4a37" /><Relationship Type="http://schemas.openxmlformats.org/officeDocument/2006/relationships/slide" Target="/ppt/slides/slide6.xml" Id="R90876896d14d4056" /><Relationship Type="http://schemas.openxmlformats.org/officeDocument/2006/relationships/slide" Target="/ppt/slides/slide7.xml" Id="R9e9805c6d93f4ba4" /><Relationship Type="http://schemas.openxmlformats.org/officeDocument/2006/relationships/slide" Target="/ppt/slides/slide8.xml" Id="R9b74493723a24c53" /><Relationship Type="http://schemas.openxmlformats.org/officeDocument/2006/relationships/slide" Target="/ppt/slides/slide9.xml" Id="R1b6a2106e0b644d8" /><Relationship Type="http://schemas.openxmlformats.org/officeDocument/2006/relationships/slide" Target="/ppt/slides/slide10.xml" Id="R1907f1bbdfa14312" /><Relationship Type="http://schemas.openxmlformats.org/officeDocument/2006/relationships/slide" Target="/ppt/slides/slide11.xml" Id="R58646e47e2164e23" /><Relationship Type="http://schemas.openxmlformats.org/officeDocument/2006/relationships/slide" Target="/ppt/slides/slide12.xml" Id="Ra039b29944c749c4" /><Relationship Type="http://schemas.openxmlformats.org/officeDocument/2006/relationships/slide" Target="/ppt/slides/slide13.xml" Id="R120666ce8da84cf1" /><Relationship Type="http://schemas.openxmlformats.org/officeDocument/2006/relationships/slide" Target="/ppt/slides/slide14.xml" Id="R246cc5374b3c42bc" /><Relationship Type="http://schemas.openxmlformats.org/officeDocument/2006/relationships/slide" Target="/ppt/slides/slide15.xml" Id="R5044849eb4d5471a" /><Relationship Type="http://schemas.openxmlformats.org/officeDocument/2006/relationships/slide" Target="/ppt/slides/slide16.xml" Id="R2bf259b0fd474dfc" /><Relationship Type="http://schemas.openxmlformats.org/officeDocument/2006/relationships/slide" Target="/ppt/slides/slide17.xml" Id="R7f5bfc3541ac4049" /><Relationship Type="http://schemas.openxmlformats.org/officeDocument/2006/relationships/slide" Target="/ppt/slides/slide18.xml" Id="Rf7f3e02b65004a9d" /><Relationship Type="http://schemas.openxmlformats.org/officeDocument/2006/relationships/slide" Target="/ppt/slides/slide19.xml" Id="R0cdf3f9d7ace4a5d" /><Relationship Type="http://schemas.openxmlformats.org/officeDocument/2006/relationships/slide" Target="/ppt/slides/slide20.xml" Id="Rf0e0dd7ef9954f1a" /><Relationship Type="http://schemas.openxmlformats.org/officeDocument/2006/relationships/slide" Target="/ppt/slides/slide21.xml" Id="Rc606f06b963b4256" /><Relationship Type="http://schemas.openxmlformats.org/officeDocument/2006/relationships/slide" Target="/ppt/slides/slide22.xml" Id="Rc23457c70cb047f0" /><Relationship Type="http://schemas.openxmlformats.org/officeDocument/2006/relationships/slide" Target="/ppt/slides/slide23.xml" Id="R43cf27b9b5dc492c" /><Relationship Type="http://schemas.openxmlformats.org/officeDocument/2006/relationships/slide" Target="/ppt/slides/slide24.xml" Id="R75783f46dfab46ff" /><Relationship Type="http://schemas.openxmlformats.org/officeDocument/2006/relationships/slide" Target="/ppt/slides/slide25.xml" Id="R013ec274208644ae" /><Relationship Type="http://schemas.openxmlformats.org/officeDocument/2006/relationships/slide" Target="/ppt/slides/slide26.xml" Id="R7880e1a5ed9c4287" /><Relationship Type="http://schemas.openxmlformats.org/officeDocument/2006/relationships/slide" Target="/ppt/slides/slide27.xml" Id="Rc3b7e39882dc437b" /><Relationship Type="http://schemas.openxmlformats.org/officeDocument/2006/relationships/slide" Target="/ppt/slides/slide28.xml" Id="R2cdb3774ab65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7ec61090994b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7ee14f45b4e9c" /><Relationship Type="http://schemas.openxmlformats.org/officeDocument/2006/relationships/notesMaster" Target="/ppt/notesMasters/notesMaster1.xml" Id="R1f304ffcb9964b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78e30b17fe4f38" /><Relationship Type="http://schemas.openxmlformats.org/officeDocument/2006/relationships/notesMaster" Target="/ppt/notesMasters/notesMaster1.xml" Id="R0805c73cab154c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0aa93221941fa" /><Relationship Type="http://schemas.openxmlformats.org/officeDocument/2006/relationships/notesMaster" Target="/ppt/notesMasters/notesMaster1.xml" Id="R6e0371ca8cd446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f4008e5874561" /><Relationship Type="http://schemas.openxmlformats.org/officeDocument/2006/relationships/notesMaster" Target="/ppt/notesMasters/notesMaster1.xml" Id="Red4b61d7b2b9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787efababb4692" /><Relationship Type="http://schemas.openxmlformats.org/officeDocument/2006/relationships/notesMaster" Target="/ppt/notesMasters/notesMaster1.xml" Id="R3941aee14dc343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b722633e44d0f" /><Relationship Type="http://schemas.openxmlformats.org/officeDocument/2006/relationships/notesMaster" Target="/ppt/notesMasters/notesMaster1.xml" Id="R82a8d0b0fefd4a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4c72feb74d4d88" /><Relationship Type="http://schemas.openxmlformats.org/officeDocument/2006/relationships/notesMaster" Target="/ppt/notesMasters/notesMaster1.xml" Id="R33be58a57a7b47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d1a0baf6e64b83" /><Relationship Type="http://schemas.openxmlformats.org/officeDocument/2006/relationships/notesMaster" Target="/ppt/notesMasters/notesMaster1.xml" Id="R649e96a7efeb43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fd1a0012f4474c" /><Relationship Type="http://schemas.openxmlformats.org/officeDocument/2006/relationships/notesMaster" Target="/ppt/notesMasters/notesMaster1.xml" Id="R9fdcaf0dd25f4e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eca52844554fb3" /><Relationship Type="http://schemas.openxmlformats.org/officeDocument/2006/relationships/notesMaster" Target="/ppt/notesMasters/notesMaster1.xml" Id="R60ee5b300efe4f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564e195b764e7f" /><Relationship Type="http://schemas.openxmlformats.org/officeDocument/2006/relationships/notesMaster" Target="/ppt/notesMasters/notesMaster1.xml" Id="Rc8187a74ad2a40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e246b68a694807" /><Relationship Type="http://schemas.openxmlformats.org/officeDocument/2006/relationships/notesMaster" Target="/ppt/notesMasters/notesMaster1.xml" Id="R5b3361e9db6b4f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0b225c25c34e23" /><Relationship Type="http://schemas.openxmlformats.org/officeDocument/2006/relationships/notesMaster" Target="/ppt/notesMasters/notesMaster1.xml" Id="Rf7f72dfbf0684e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46aad7d8024545" /><Relationship Type="http://schemas.openxmlformats.org/officeDocument/2006/relationships/notesMaster" Target="/ppt/notesMasters/notesMaster1.xml" Id="R404c8224b0d04d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bc18400ce54e0d" /><Relationship Type="http://schemas.openxmlformats.org/officeDocument/2006/relationships/notesMaster" Target="/ppt/notesMasters/notesMaster1.xml" Id="R0b84d3c9776744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e0d4dd61614d36" /><Relationship Type="http://schemas.openxmlformats.org/officeDocument/2006/relationships/notesMaster" Target="/ppt/notesMasters/notesMaster1.xml" Id="Ra93a7aedd00045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238adfe55448e7" /><Relationship Type="http://schemas.openxmlformats.org/officeDocument/2006/relationships/notesMaster" Target="/ppt/notesMasters/notesMaster1.xml" Id="Rf707e60ad23548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f4724ed0404c29" /><Relationship Type="http://schemas.openxmlformats.org/officeDocument/2006/relationships/notesMaster" Target="/ppt/notesMasters/notesMaster1.xml" Id="Rfca92ce8aae241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d58b08c36c4312" /><Relationship Type="http://schemas.openxmlformats.org/officeDocument/2006/relationships/notesMaster" Target="/ppt/notesMasters/notesMaster1.xml" Id="Rfcf6d8c563e249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0da926ea9f4ed1" /><Relationship Type="http://schemas.openxmlformats.org/officeDocument/2006/relationships/notesMaster" Target="/ppt/notesMasters/notesMaster1.xml" Id="R01794e62354647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629097ec2d4cd8" /><Relationship Type="http://schemas.openxmlformats.org/officeDocument/2006/relationships/notesMaster" Target="/ppt/notesMasters/notesMaster1.xml" Id="R56f035778b784a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6c9a0bda454012" /><Relationship Type="http://schemas.openxmlformats.org/officeDocument/2006/relationships/notesMaster" Target="/ppt/notesMasters/notesMaster1.xml" Id="R836a5443dc4447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c969639f16482c" /><Relationship Type="http://schemas.openxmlformats.org/officeDocument/2006/relationships/notesMaster" Target="/ppt/notesMasters/notesMaster1.xml" Id="Rbd356023bf6745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197663afc14dfa" /><Relationship Type="http://schemas.openxmlformats.org/officeDocument/2006/relationships/notesMaster" Target="/ppt/notesMasters/notesMaster1.xml" Id="Rc04a7cd48cda450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b8e6a385eed4c97" /><Relationship Type="http://schemas.openxmlformats.org/officeDocument/2006/relationships/notesMaster" Target="/ppt/notesMasters/notesMaster1.xml" Id="R4a83ccca839547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0bec605b524315" /><Relationship Type="http://schemas.openxmlformats.org/officeDocument/2006/relationships/notesMaster" Target="/ppt/notesMasters/notesMaster1.xml" Id="Rdffa88612422434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44bece0e6747e1" /><Relationship Type="http://schemas.openxmlformats.org/officeDocument/2006/relationships/notesMaster" Target="/ppt/notesMasters/notesMaster1.xml" Id="Rf7efbe629f5b43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2021caa0d1a4f12" /><Relationship Type="http://schemas.openxmlformats.org/officeDocument/2006/relationships/notesMaster" Target="/ppt/notesMasters/notesMaster1.xml" Id="R4ccc9e13bd284e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开场：本报告关注的不是把机器人接到检测设备上，而是让新增诊断证据决定下一次物理动作。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Tsinghua University presentation template and brand assets.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强调三件事：物理交互、置信状态、证据驱动的下一动作。安全停止和人工接管属于闭环的一部分。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User-provided source deck definition and its cited embodied-intelligence surveys.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用这一页建立后续统一比较框架：每个模块都回答定义、当前证据、前景方向和推荐切入点。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User-provided architecture illustration and application icons.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分类依据不是传感器名称，同一种超声既可能是观察式检测，也可能在施加受控压力时成为响应式检测。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Author taxonomy synthesized from the user-provided source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定义页只强调闭环机制；下一页再谈证据成熟度。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Su et al., Nature Communications (2024): https://www.nature.com/articles/s41467-024-48421-y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Yang et al., Nature Communications (2025): https://www.nature.com/articles/s41467-025-62865-w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重点不是精确比较不同技术的 TRL，而是显示：稳定采集和诊断价值驱动的主动策略并不同步成熟。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https://www.nature.com/articles/s41467-024-48421-y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https://www.nature.com/articles/s41467-025-62865-w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https://www.nature.com/articles/s41598-025-87109-1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Evidence stage is author coding from representative systems, not a systematic review or regulatory designation.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A7 的价值来自粗到细、多模态和显式测量成本，而不是某一种光谱技术本身。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https://www.nature.com/articles/s41467-024-48421-y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https://www.nature.com/articles/s41598-025-87109-1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https://www.nature.com/articles/s41377-022-00773-0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讲图时强调两个核心模块：belief-state estimation 与 next-best action；固定栅格扫描不属于这里的核心创新。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Retained A7 illustration from the user-provided PPTX.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https://www.nature.com/articles/s41598-025-87109-1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https://www.nature.com/articles/s41377-022-00773-0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新鲜标本适合第一篇工作；口腔黏膜是后续在体转化路径。评价必须同时报告测点数、扫描时间、漏检率和停止校准。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https://www.nature.com/articles/s41368-018-0011-4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https://www.nature.com/articles/s41598-025-87109-1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https://www.nature.com/articles/s41598-017-02695-9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响应式检测的关键是刺激参数可控、响应可测、并且下一刺激由当前响应决定。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https://spj.science.org/doi/10.34133/cbsystems.0348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https://pmc.ncbi.nlm.nih.gov/articles/PMC5522506/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不要把 DBS 的成熟度直接外推到机器人触诊；两者安全等级、硬件、临床路径完全不同。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https://spj.science.org/doi/10.34133/cbsystems.0348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https://www.science.org/doi/10.1126/sciadv.adp0348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https://pmc.ncbi.nlm.nih.gov/articles/PMC5522506/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https://www.nature.com/articles/s41591-024-03196-z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Evidence stage is author coding from representative systems.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面向 AI—机器人团队，R1/R2 能更快形成闭环基准与临床合作；R4 应独立建立安全和监管路线。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https://spj.science.org/doi/10.34133/cbsystems.0348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https://pmc.ncbi.nlm.nih.gov/articles/PMC5522506/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https://www.nature.com/articles/s41591-024-03196-z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论文比较应包含固定栅格、信息增益策略和诊断不确定性策略，而不仅是最终分类准确率。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https://spj.science.org/doi/10.34133/cbsystems.0348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https://www.science.org/doi/10.1126/sciadv.adp0348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强调路径规划、进针和取样只是能力链；最薄弱的一环通常是实时样本充分性。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https://www.science.org/doi/10.1126/scirobotics.adf7614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https://www.nature.com/articles/s41598-020-71089-5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https://pmc.ncbi.nlm.nih.gov/articles/PMC7156113/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2026 采血数据提供了一个有价值的基准：不仅看命中，还要看样本分析等效性、轻微不良事件和患者体验。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https://academic.oup.com/clinchem/advance-article/doi/10.1093/clinchem/hvag029/8566288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https://clinicaltrials.gov/study/NCT05878483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https://www.nature.com/articles/s41598-020-71089-5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https://www.science.org/doi/10.1126/scirobotics.adf7614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Capability scores are author coding, not regulatory status.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S4 的高成熟度不代表研究空间消失；它可作为安全、工作流和患者体验的现实基准。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https://academic.oup.com/clinchem/advance-article/doi/10.1093/clinchem/hvag029/8566288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https://www.science.org/doi/10.1126/scirobotics.adf7614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https://www.nature.com/articles/s41598-020-71089-5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第一阶段不应直接做人体自主活检；新鲜标本能保留真实组织异质性，同时提供病理真值并降低风险。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https://www.nature.com/articles/s41598-020-71089-5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https://www.science.org/doi/10.1126/scirobotics.adf7614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实验室方向要区分 automation level 和 adaptation level，后续页面将把二者分开。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https://www.nature.com/articles/s41378-024-00775-5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https://www.nature.com/articles/s41598-025-89069-y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这页的横轴不是准确率，而是实体操作自动化；纵轴才是结果是否能改变下一实验。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https://www.nature.com/articles/s41378-024-00775-5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https://www.nature.com/articles/s41598-025-89069-y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https://www.nature.com/articles/s42003-020-01385-3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Quadrant positions are author coding, not market share or regulatory status.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如果团队偏 AI 与成像，L2 是最短路径；如果已有微流控平台，L3 更容易形成端到端闭环。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https://www.nature.com/articles/s41378-024-00775-5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https://www.nature.com/articles/s41598-025-89069-y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https://www.nature.com/articles/s41467-025-66269-8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实验室方向的论文亮点不应只写“自动化了多少步”，而要证明主动策略用更少实验或更少资源达到同等或更高质量。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https://www.nature.com/articles/s41378-024-00775-5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https://www.nature.com/articles/s41598-025-89069-y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https://www.nature.com/articles/s42003-020-01385-3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日常场景中的具身性不要求一定有机械臂；关键是系统能主动改变测量或支持行为，并在真实环境中闭环。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https://www.nature.com/articles/s41746-022-00657-y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https://www.nature.com/articles/s41597-023-02519-y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明确标注 Civit 结果为预印本。矩阵表示公开研究中的典型能力组合，不代表所有产品或监管状态。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https://www.nature.com/articles/s41746-022-00657-y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https://www.nature.com/articles/s41597-023-02519-y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https://arxiv.org/abs/2607.15156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https://www.nature.com/articles/s41746-025-02117-9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E1+E2 的组合解决纯被动监测的核心弱点：异常可能是真风险，也可能是传感缺失或日常情境变化，需要主动确认。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https://www.nature.com/articles/s41746-022-00657-y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https://arxiv.org/abs/2607.15156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https://www.nature.com/articles/s41746-025-02117-9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首个纵向研究可围绕衰弱/跌倒，因功能任务标准化且可由治疗师提供参考；慢病恶化更需要临床结局与照护工作流。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https://www.nature.com/articles/s41746-022-00657-y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https://www.nature.com/articles/s41597-023-02519-y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https://arxiv.org/abs/2607.15156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优先级是研究启动顺序，不是临床价值排名。应结合团队已有硬件、临床合作、数据和安全能力调整。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All scores are author synthesis from the representative primary studies cited on slides 5–25.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https://www.nature.com/articles/s41746-024-01102-y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收尾时把方向讨论落到可执行研究设计：同预算、公平基线、前瞻停止规则、跨域泛化和人类监督。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Common evaluation framework synthesized from the evidence gaps reviewed in this deck.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https://www.nature.com/articles/s41746-024-01102-y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讨论问题：最希望优先推进哪一条闭环？现有临床伙伴、硬件和真值条件分别是什么？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Tsinghua University closing-slide photograph and brand assets.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4bf3f486e40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c35d88f844b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8ce8c29ab4f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1194e479345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597f7b0ce44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625ba5d444b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678ed11d646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76dec49fe41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c661a68a24e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aa378a0d746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5c84b1d1d490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4110888-7CEF-4401-8256-2264F83AF7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D60856E-ABC5-47A7-B1BA-E7472E567E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6A614F-0314-4E0E-8864-7532E6853F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BAB1CB-731A-40D0-90BD-88AB863815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FC8F89-2FC7-4DE8-B82A-A4B678E8E3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E03E5E-D7C9-4058-A11D-7C27A642B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405DA35-A8DF-4075-9055-65088D4A11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E7D5E47-3FC8-403C-AF9A-4C51D8780F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F5E1A9-EB72-4F98-8558-320081D24E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227F35-34C6-49A3-83EC-07B4E89CD3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C483186-7D52-47C8-853C-8AC438E90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E0DA83D-E02C-4C3B-8936-F527E16CF9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2744D6D-2F5E-4CCD-A7EE-4CEE0AC3CA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46977B-945A-464F-AAC1-568860C42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B06450-0214-44AD-AE22-60BA01CA04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C5B24C-F721-4ED5-88B8-9FB0EC059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6EC5A63-39E8-40C7-9D00-E05BAEAD91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997BCF1-1394-4805-A28D-CA6F79441C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BC6C95D-FD9A-41CC-A232-06CEC2EDC6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F2C4326-B3BF-4788-8E49-D378170622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10313EC-3AF1-4315-8201-804D324751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84683D-F5DB-4881-8ACA-032362C66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4F4D5B0-35C2-4190-8BEA-A0CC44F69B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672AB84-55ED-4108-9516-C6FAAFEDC9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9340CEA-75DB-438C-9157-B3F2609822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B04CC30-3D2E-46E0-B2F0-814C239A716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4FEB18A-14E0-43BC-AE91-3A66CDFE1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463340D-9A44-4466-AEE8-7A6D793E90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FD332B6-B9D4-4123-B0C3-7095DE4F7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1AF4C0-3F82-4D87-8513-11D00E47F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97DBB90-6CAD-4D1C-9717-783E077C29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0858420-907B-47A6-A1B9-B6BCA8967A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B56BE57-79A9-4FFB-B210-CF46E7491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24B5C99-79CA-419D-8CAA-FD484011F9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6333679-3D05-4FC0-B20A-14C905899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9933E73-8E3D-4D6E-A238-F11703ABC4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B7F515-C170-437D-AD3A-0228F52C1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E3CAD63-09FF-4EA0-8A5B-26F95652E8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DE87124-B920-4561-857B-AED655B7FC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FFB126B-21BF-4126-AA12-10C63256D0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0C382B7-C9C7-4281-82DB-78593A23AD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D64247D-38A5-4496-9586-A98FAB443F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BB2AFCC-BD7D-409E-B0B1-31BBDA5B0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0CE219D-B4E4-4B2B-B3AE-C8B62864B40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6FF68B4-9A46-4CD8-9975-DE6257585F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B43E8DB-93A0-4FBE-B973-990A4AEA3C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8C08008-6636-48A0-AA6F-348BA1B304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B12B755-E8BA-4EAF-9062-0479C73137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EAD672-D6FC-42C9-832E-E815C8878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7B79379-D401-4A1B-9663-6A8D36251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3BE8FD-F3B5-4C67-B826-438495F90D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607DFDB-1328-4F0F-9E64-8150774B1B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7B4CB64-12C1-45EB-A8B1-A3BA1DAB6B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D60ADFB-98BD-4F21-A8FA-AED00BDB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8423A42-9C56-42A1-AE4E-A506F01929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8221C4-FEC3-4179-BFC0-890058A93A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0841A97-112F-428E-B46C-D84F810254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18A77D-56C3-49A2-AAED-3159ADC9D7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278d22226746c8" /><Relationship Type="http://schemas.openxmlformats.org/officeDocument/2006/relationships/slideLayout" Target="/ppt/slideLayouts/slideLayout1.xml" Id="Rca8416d89c0d4818" /><Relationship Type="http://schemas.openxmlformats.org/officeDocument/2006/relationships/slideLayout" Target="/ppt/slideLayouts/slideLayout2.xml" Id="Raf1068d9c48a413a" /><Relationship Type="http://schemas.openxmlformats.org/officeDocument/2006/relationships/slideLayout" Target="/ppt/slideLayouts/slideLayout3.xml" Id="R949528605ce04916" /><Relationship Type="http://schemas.openxmlformats.org/officeDocument/2006/relationships/slideLayout" Target="/ppt/slideLayouts/slideLayout4.xml" Id="Rdeca912af9374959" /><Relationship Type="http://schemas.openxmlformats.org/officeDocument/2006/relationships/slideLayout" Target="/ppt/slideLayouts/slideLayout5.xml" Id="R63f224b786ce4da8" /><Relationship Type="http://schemas.openxmlformats.org/officeDocument/2006/relationships/slideLayout" Target="/ppt/slideLayouts/slideLayout6.xml" Id="R1eb26d476d8c4b2d" /><Relationship Type="http://schemas.openxmlformats.org/officeDocument/2006/relationships/slideLayout" Target="/ppt/slideLayouts/slideLayout7.xml" Id="Rca3a98df506a4a04" /><Relationship Type="http://schemas.openxmlformats.org/officeDocument/2006/relationships/slideLayout" Target="/ppt/slideLayouts/slideLayout8.xml" Id="R1450928aea864322" /><Relationship Type="http://schemas.openxmlformats.org/officeDocument/2006/relationships/slideLayout" Target="/ppt/slideLayouts/slideLayout9.xml" Id="R86590348112e4db7" /><Relationship Type="http://schemas.openxmlformats.org/officeDocument/2006/relationships/slideLayout" Target="/ppt/slideLayouts/slideLayout10.xml" Id="R867bbadee0b5472b" /><Relationship Type="http://schemas.openxmlformats.org/officeDocument/2006/relationships/slideLayout" Target="/ppt/slideLayouts/slideLayout11.xml" Id="R9b03c4d1dbe94fa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6D15B7C-8F79-4314-9A79-1A7E4E984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EE45AE8-DBE8-466F-A9DB-FACEDE869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F3A6A09-837A-43CC-BDA5-EDF4D1EDEC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7865C2-F6B5-4E8A-B286-EF9E88C371C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A45DEC8-59B0-4689-961A-BC72DE30931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8416d89c0d4818"/>
    <p:sldLayoutId xmlns:r="http://schemas.openxmlformats.org/officeDocument/2006/relationships" id="2147483650" r:id="Raf1068d9c48a413a"/>
    <p:sldLayoutId xmlns:r="http://schemas.openxmlformats.org/officeDocument/2006/relationships" id="2147483651" r:id="R949528605ce04916"/>
    <p:sldLayoutId xmlns:r="http://schemas.openxmlformats.org/officeDocument/2006/relationships" id="2147483652" r:id="Rdeca912af9374959"/>
    <p:sldLayoutId xmlns:r="http://schemas.openxmlformats.org/officeDocument/2006/relationships" id="2147483653" r:id="R63f224b786ce4da8"/>
    <p:sldLayoutId xmlns:r="http://schemas.openxmlformats.org/officeDocument/2006/relationships" id="2147483654" r:id="R1eb26d476d8c4b2d"/>
    <p:sldLayoutId xmlns:r="http://schemas.openxmlformats.org/officeDocument/2006/relationships" id="2147483655" r:id="Rca3a98df506a4a04"/>
    <p:sldLayoutId xmlns:r="http://schemas.openxmlformats.org/officeDocument/2006/relationships" id="2147483656" r:id="R1450928aea864322"/>
    <p:sldLayoutId xmlns:r="http://schemas.openxmlformats.org/officeDocument/2006/relationships" id="2147483657" r:id="R86590348112e4db7"/>
    <p:sldLayoutId xmlns:r="http://schemas.openxmlformats.org/officeDocument/2006/relationships" id="2147483658" r:id="R867bbadee0b5472b"/>
    <p:sldLayoutId xmlns:r="http://schemas.openxmlformats.org/officeDocument/2006/relationships" id="2147483659" r:id="R9b03c4d1dbe94fa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c3546e9f442a9" /><Relationship Type="http://schemas.openxmlformats.org/officeDocument/2006/relationships/image" Target="/ppt/media/image.png" Id="Rf6d77ba1339546ad" /><Relationship Type="http://schemas.openxmlformats.org/officeDocument/2006/relationships/image" Target="/ppt/media/image.jpeg" Id="R971f2b0f13ca43f2" /><Relationship Type="http://schemas.openxmlformats.org/officeDocument/2006/relationships/image" Target="/ppt/media/image2.jpeg" Id="Ree9e603591c24970" /><Relationship Type="http://schemas.openxmlformats.org/officeDocument/2006/relationships/notesSlide" Target="/ppt/notesSlides/notesSlide1.xml" Id="R88bec485e867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67e7d9e1074d9f" /><Relationship Type="http://schemas.openxmlformats.org/officeDocument/2006/relationships/image" Target="/ppt/media/image.jpeg" Id="R866561e818234c3d" /><Relationship Type="http://schemas.openxmlformats.org/officeDocument/2006/relationships/notesSlide" Target="/ppt/notesSlides/notesSlide2.xml" Id="R212306851e33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263ffdcd3943c4" /><Relationship Type="http://schemas.openxmlformats.org/officeDocument/2006/relationships/image" Target="/ppt/media/image.jpeg" Id="R344ced690d5d4975" /><Relationship Type="http://schemas.openxmlformats.org/officeDocument/2006/relationships/image" Target="/ppt/media/image2.png" Id="Rae037febdbf3488f" /><Relationship Type="http://schemas.openxmlformats.org/officeDocument/2006/relationships/image" Target="/ppt/media/image3.png" Id="R36486eff2f1d4ab2" /><Relationship Type="http://schemas.openxmlformats.org/officeDocument/2006/relationships/image" Target="/ppt/media/image4.png" Id="R3497cf9de0834255" /><Relationship Type="http://schemas.openxmlformats.org/officeDocument/2006/relationships/image" Target="/ppt/media/image5.png" Id="Rc45f70c5283e44e6" /><Relationship Type="http://schemas.openxmlformats.org/officeDocument/2006/relationships/image" Target="/ppt/media/image6.png" Id="Rf606ffdbe28d4818" /><Relationship Type="http://schemas.openxmlformats.org/officeDocument/2006/relationships/image" Target="/ppt/media/image7.png" Id="R742ac3c0ef43467e" /><Relationship Type="http://schemas.openxmlformats.org/officeDocument/2006/relationships/image" Target="/ppt/media/image8.png" Id="R5e987cd22a074df9" /><Relationship Type="http://schemas.openxmlformats.org/officeDocument/2006/relationships/image" Target="/ppt/media/image9.png" Id="Rde1901fc3f7b4017" /><Relationship Type="http://schemas.openxmlformats.org/officeDocument/2006/relationships/image" Target="/ppt/media/image10.png" Id="Rdd7abbac704d4785" /><Relationship Type="http://schemas.openxmlformats.org/officeDocument/2006/relationships/image" Target="/ppt/media/image11.png" Id="R77da9959e87e429b" /><Relationship Type="http://schemas.openxmlformats.org/officeDocument/2006/relationships/image" Target="/ppt/media/image12.png" Id="Rfbe3d44ffc034ac9" /><Relationship Type="http://schemas.openxmlformats.org/officeDocument/2006/relationships/image" Target="/ppt/media/image13.png" Id="R007f3ddbc5594e8a" /><Relationship Type="http://schemas.openxmlformats.org/officeDocument/2006/relationships/image" Target="/ppt/media/image14.png" Id="R513aac800a974412" /><Relationship Type="http://schemas.openxmlformats.org/officeDocument/2006/relationships/notesSlide" Target="/ppt/notesSlides/notesSlide3.xml" Id="Rfe6cf3b1df3c42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648191038a4c0c" /><Relationship Type="http://schemas.openxmlformats.org/officeDocument/2006/relationships/image" Target="/ppt/media/image.jpeg" Id="R9dfc1993d0d940b2" /><Relationship Type="http://schemas.openxmlformats.org/officeDocument/2006/relationships/notesSlide" Target="/ppt/notesSlides/notesSlide4.xml" Id="Rfb3c53a053c24b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8747210f494681" /><Relationship Type="http://schemas.openxmlformats.org/officeDocument/2006/relationships/image" Target="/ppt/media/image.jpeg" Id="Rc8d5d7503cc74efe" /><Relationship Type="http://schemas.openxmlformats.org/officeDocument/2006/relationships/notesSlide" Target="/ppt/notesSlides/notesSlide5.xml" Id="R25e63d627b00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73e191eb1d4267" /><Relationship Type="http://schemas.openxmlformats.org/officeDocument/2006/relationships/image" Target="/ppt/media/image.jpeg" Id="R791d5897266f49d1" /><Relationship Type="http://schemas.openxmlformats.org/officeDocument/2006/relationships/notesSlide" Target="/ppt/notesSlides/notesSlide6.xml" Id="Re9131ee6076a4e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ef0c61e43a4b28" /><Relationship Type="http://schemas.openxmlformats.org/officeDocument/2006/relationships/image" Target="/ppt/media/image.jpeg" Id="Reaac4fc5022146f8" /><Relationship Type="http://schemas.openxmlformats.org/officeDocument/2006/relationships/notesSlide" Target="/ppt/notesSlides/notesSlide7.xml" Id="R1b6c9cb3ab7b42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d2aed07d1b4889" /><Relationship Type="http://schemas.openxmlformats.org/officeDocument/2006/relationships/image" Target="/ppt/media/image.jpeg" Id="R17cd875975224287" /><Relationship Type="http://schemas.openxmlformats.org/officeDocument/2006/relationships/image" Target="/ppt/media/image15.png" Id="R7299db8df7364fd8" /><Relationship Type="http://schemas.openxmlformats.org/officeDocument/2006/relationships/notesSlide" Target="/ppt/notesSlides/notesSlide8.xml" Id="R1b90f4d9913e49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087ca31e44139" /><Relationship Type="http://schemas.openxmlformats.org/officeDocument/2006/relationships/image" Target="/ppt/media/image.jpeg" Id="Re35944ee46284506" /><Relationship Type="http://schemas.openxmlformats.org/officeDocument/2006/relationships/notesSlide" Target="/ppt/notesSlides/notesSlide9.xml" Id="R71b033b965874f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fa927cb00144c2" /><Relationship Type="http://schemas.openxmlformats.org/officeDocument/2006/relationships/image" Target="/ppt/media/image.jpeg" Id="R8bac30a5882344fd" /><Relationship Type="http://schemas.openxmlformats.org/officeDocument/2006/relationships/notesSlide" Target="/ppt/notesSlides/notesSlide10.xml" Id="R50e4c9a848f54d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33dbcad84c4219" /><Relationship Type="http://schemas.openxmlformats.org/officeDocument/2006/relationships/image" Target="/ppt/media/image.jpeg" Id="R313d102f5c724575" /><Relationship Type="http://schemas.openxmlformats.org/officeDocument/2006/relationships/notesSlide" Target="/ppt/notesSlides/notesSlide11.xml" Id="R1b3b1eba57bc4e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297b4f0cd4240" /><Relationship Type="http://schemas.openxmlformats.org/officeDocument/2006/relationships/image" Target="/ppt/media/image.jpeg" Id="R1c203241a4cc49f0" /><Relationship Type="http://schemas.openxmlformats.org/officeDocument/2006/relationships/notesSlide" Target="/ppt/notesSlides/notesSlide12.xml" Id="R51c7b818a1054e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f5cc1e28b42dc" /><Relationship Type="http://schemas.openxmlformats.org/officeDocument/2006/relationships/image" Target="/ppt/media/image.jpeg" Id="R304979fec3a84c88" /><Relationship Type="http://schemas.openxmlformats.org/officeDocument/2006/relationships/notesSlide" Target="/ppt/notesSlides/notesSlide13.xml" Id="R86276a1907d345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ebfce901e64122" /><Relationship Type="http://schemas.openxmlformats.org/officeDocument/2006/relationships/image" Target="/ppt/media/image.jpeg" Id="R2f9fc46ab2eb4ab2" /><Relationship Type="http://schemas.openxmlformats.org/officeDocument/2006/relationships/notesSlide" Target="/ppt/notesSlides/notesSlide14.xml" Id="Ref793e2688ae4f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900189f0874db3" /><Relationship Type="http://schemas.openxmlformats.org/officeDocument/2006/relationships/image" Target="/ppt/media/image.jpeg" Id="R8e72e467a49f47f1" /><Relationship Type="http://schemas.openxmlformats.org/officeDocument/2006/relationships/notesSlide" Target="/ppt/notesSlides/notesSlide15.xml" Id="R2299e43b7c3c47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5e45c921449b4" /><Relationship Type="http://schemas.openxmlformats.org/officeDocument/2006/relationships/image" Target="/ppt/media/image.jpeg" Id="Rc319600630ed4eb6" /><Relationship Type="http://schemas.openxmlformats.org/officeDocument/2006/relationships/notesSlide" Target="/ppt/notesSlides/notesSlide16.xml" Id="R8a903eda4e274d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5608a4daf49ef" /><Relationship Type="http://schemas.openxmlformats.org/officeDocument/2006/relationships/image" Target="/ppt/media/image.jpeg" Id="R99e223dad8c145fe" /><Relationship Type="http://schemas.openxmlformats.org/officeDocument/2006/relationships/notesSlide" Target="/ppt/notesSlides/notesSlide17.xml" Id="Rc5859464649b40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5a887aed9c4f36" /><Relationship Type="http://schemas.openxmlformats.org/officeDocument/2006/relationships/image" Target="/ppt/media/image.jpeg" Id="R59f54f4110ee438f" /><Relationship Type="http://schemas.openxmlformats.org/officeDocument/2006/relationships/notesSlide" Target="/ppt/notesSlides/notesSlide18.xml" Id="R64c7954219544e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e0fab9dc14b39" /><Relationship Type="http://schemas.openxmlformats.org/officeDocument/2006/relationships/image" Target="/ppt/media/image.jpeg" Id="R42d24280cd54481d" /><Relationship Type="http://schemas.openxmlformats.org/officeDocument/2006/relationships/notesSlide" Target="/ppt/notesSlides/notesSlide19.xml" Id="R17d0f812229942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68e181b4a942d6" /><Relationship Type="http://schemas.openxmlformats.org/officeDocument/2006/relationships/image" Target="/ppt/media/image.jpeg" Id="Rb4ea563284594df3" /><Relationship Type="http://schemas.openxmlformats.org/officeDocument/2006/relationships/notesSlide" Target="/ppt/notesSlides/notesSlide20.xml" Id="R8adddf1e8c1b4d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acdaf04cba4fd6" /><Relationship Type="http://schemas.openxmlformats.org/officeDocument/2006/relationships/image" Target="/ppt/media/image.jpeg" Id="R7c36e2ca311147b8" /><Relationship Type="http://schemas.openxmlformats.org/officeDocument/2006/relationships/notesSlide" Target="/ppt/notesSlides/notesSlide21.xml" Id="R9dbc24d2b3be46b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d5b1e053154103" /><Relationship Type="http://schemas.openxmlformats.org/officeDocument/2006/relationships/image" Target="/ppt/media/image.jpeg" Id="R8eb223b52dc54568" /><Relationship Type="http://schemas.openxmlformats.org/officeDocument/2006/relationships/notesSlide" Target="/ppt/notesSlides/notesSlide22.xml" Id="R4c3dead9776e42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3a3ca740ef44e9" /><Relationship Type="http://schemas.openxmlformats.org/officeDocument/2006/relationships/image" Target="/ppt/media/image.jpeg" Id="R3dab1ddb69ce4030" /><Relationship Type="http://schemas.openxmlformats.org/officeDocument/2006/relationships/notesSlide" Target="/ppt/notesSlides/notesSlide23.xml" Id="Rab0d5a819d7f4a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74bcd91a0b4280" /><Relationship Type="http://schemas.openxmlformats.org/officeDocument/2006/relationships/image" Target="/ppt/media/image.jpeg" Id="Rd80197be86d049bc" /><Relationship Type="http://schemas.openxmlformats.org/officeDocument/2006/relationships/notesSlide" Target="/ppt/notesSlides/notesSlide24.xml" Id="Rd515c657dc684a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82ad5b0b54cde" /><Relationship Type="http://schemas.openxmlformats.org/officeDocument/2006/relationships/image" Target="/ppt/media/image.jpeg" Id="Re877d2cf0bb346af" /><Relationship Type="http://schemas.openxmlformats.org/officeDocument/2006/relationships/notesSlide" Target="/ppt/notesSlides/notesSlide25.xml" Id="R03d5ee202ec54a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28aa7778145c6" /><Relationship Type="http://schemas.openxmlformats.org/officeDocument/2006/relationships/image" Target="/ppt/media/image.jpeg" Id="Reedde410da6f497d" /><Relationship Type="http://schemas.openxmlformats.org/officeDocument/2006/relationships/notesSlide" Target="/ppt/notesSlides/notesSlide26.xml" Id="Re7c14b8908a94c7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6472d1eab74ba1" /><Relationship Type="http://schemas.openxmlformats.org/officeDocument/2006/relationships/image" Target="/ppt/media/image.jpeg" Id="R9b76dff964364a81" /><Relationship Type="http://schemas.openxmlformats.org/officeDocument/2006/relationships/notesSlide" Target="/ppt/notesSlides/notesSlide27.xml" Id="R493f49f2bbb149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b388824393449f" /><Relationship Type="http://schemas.openxmlformats.org/officeDocument/2006/relationships/image" Target="/ppt/media/image16.png" Id="Ra45148d8100c46d1" /><Relationship Type="http://schemas.openxmlformats.org/officeDocument/2006/relationships/image" Target="/ppt/media/image17.png" Id="Re9bd3cd237484102" /><Relationship Type="http://schemas.openxmlformats.org/officeDocument/2006/relationships/notesSlide" Target="/ppt/notesSlides/notesSlide28.xml" Id="R18240e2cf642441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6d77ba1339546ad">
            <a:alphaModFix amt="15000"/>
            <a:lum/>
          </a:blip>
          <a:srcRect l="0" t="0" r="0" b="0"/>
          <a:stretch>
            <a:fillRect l="0" t="-7000" r="0" b="-7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43482FA-C884-49EC-9EE6-124230E5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1962384"/>
            <a:ext cx="12192002" cy="268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37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1580C2A-C685-487B-933E-E4C3F93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885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4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医学检测具身智能应用</a:t>
            </a:r>
            <a:endParaRPr sz="4800" b="1" spc="30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4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Embodied Intelligence for Medical Testing</a:t>
            </a:r>
            <a:endParaRPr sz="4800" b="1" spc="30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E07EF9C5-D073-44B3-8724-54B32F85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62550"/>
            <a:ext cx="514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1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汇报人：孙婉然  |  Presenter: Wanran Sun</a:t>
            </a:r>
            <a:endParaRPr b="1" spc="300">
              <a:latin typeface="KaiTi"/>
              <a:ea typeface="KaiTi"/>
              <a:cs typeface="KaiTi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CC2C1A8-1F1D-471A-915E-75090B17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721" y="0"/>
            <a:ext cx="7672552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f2b0f13ca43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3376" y="374851"/>
            <a:ext cx="2525247" cy="988061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4413ED8-D5DB-4230-B5BF-54CA08A3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81650"/>
            <a:ext cx="3619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A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A22"/>
                </a:solidFill>
                <a:latin typeface="Arial"/>
                <a:ea typeface="Arial"/>
                <a:cs typeface="Arial"/>
              </a:rPr>
              <a:t>2026.08.11</a:t>
            </a:r>
            <a:endParaRPr b="1" spc="300">
              <a:solidFill>
                <a:srgbClr val="813789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e603591c24970"/>
          <a:srcRect xmlns:a="http://schemas.openxmlformats.org/drawingml/2006/main" l="0" t="4430" r="0" b="8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" y="13497"/>
            <a:ext cx="12192001" cy="19353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87599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749D18F-50E5-41F3-8AA6-D8081B23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6FE63E4-F837-40D1-8C64-EBD8BD13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1813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3B32455-453C-4E2B-97E6-31901BEF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561e818234c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DDDCCB-F323-4F3B-B89F-9035C418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1002792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Medical Testing Becomes Embodied When Evidence Selects the Next Action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925F7BA-A187-4D6B-9058-197141A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" y="838200"/>
            <a:ext cx="11210925" cy="1322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医学检测具身智能：AI 依托机器人或智能传感器与患者、组织、样本和仪器发生物理交互；它维护当前诊断置信状态，并据此选择下一次观察、刺激或采样动作，直到证据充分、安全停止或转人工。</a:t>
            </a:r>
            <a:endParaRPr sz="200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Embodied medical testing closes the loop between diagnostic belief, physical action and new evidence.</a:t>
            </a:r>
            <a:endParaRPr sz="200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4AAB97-41E0-4FDF-9A0E-A983DBC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304800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4AEC80-8CED-4317-8D86-5B7ADBF6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304800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B90EFC-BC2E-4F44-A354-6FE33F59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304800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16B0E8-6330-4A2A-9A60-44A7169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304800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7B98F7-A629-4737-B865-7A49DE7B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12383">
            <a:solidFill>
              <a:srgbClr val="80398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BE351F-626A-4398-BD0B-086DFA9E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94AEC9-2CA8-4B53-93CA-A06D6CC6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任务与先验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CB7416-1114-4674-83ED-DEE89E16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目标 · 患者信息 · 既往记录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A43B72-F403-4D9B-B19E-59A2C4EF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245745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12383">
            <a:solidFill>
              <a:srgbClr val="80398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D8D226-C317-4805-A86D-3AE48358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571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FB10FC-E34C-4F7B-B9E1-3E81BCF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25717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当前证据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240F32-DAB1-4AC0-AEE0-CCCD506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303847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图像 · 信号 · 响应 · 样本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5B24D2-E532-46D9-B654-5B9AC73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245745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12383">
            <a:solidFill>
              <a:srgbClr val="80398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A0BB84-E5A0-490F-9A65-98EBAA11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571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20A05B-8CA4-4699-99A6-FC27F0C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25717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置信状态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F698BD-08E0-446F-A15B-61ED1207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03847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病灶 · 覆盖 · 质量 · 不确定性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C32338-FA97-4A1B-B8E4-3E84F2F7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45745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12383">
            <a:solidFill>
              <a:srgbClr val="80398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38C520-57CD-4408-9A92-DC21C391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71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085D10-6E32-49B3-A5C3-A4F74A80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65" y="25717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下一物理动作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C3F710-82D3-4241-931B-F76D96B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03847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观察 · 刺激 · 采样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FE0B4F-B67A-4A33-BF0A-731AE404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45745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12383">
            <a:solidFill>
              <a:srgbClr val="80398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A79B20-6DCD-4400-80D5-02863DA1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571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06468B-28E9-4A70-A78B-B3929FC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25717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安全执行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70D047-F03A-429B-BDD5-08CC37B3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303847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约束 · 监测 · 人类监督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1EB12A-FD2F-4A00-8CFD-A4A7D0B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43375"/>
            <a:ext cx="1143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6A60DF-004F-4860-92F4-6575CBBB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95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新证据更新置信状态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EA4C95-603C-4BE5-A318-D54B612B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38625"/>
            <a:ext cx="5133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5F09ED-63E2-4E01-914F-9A62673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区别于固定流程自动化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F87092-7CBA-45F0-B943-8FAB062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434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当证据不足时，系统会改变下一次测量的位置、方式、强度或样本；当风险升高时，系统会停止或转交人工。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E13062-8BDF-451E-9552-64D4D82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95BA20-EB80-4647-8401-8C658050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核心判断：若“下一动作”不受诊断证据影响，它更接近自动化，而不是医学检测具身智能。</a:t>
            </a:r>
          </a:p>
        </p:txBody>
      </p:sp>
    </p:spTree>
    <p:extLst>
      <p:ext uri="{BB962C8B-B14F-4D97-AF65-F5344CB8AC3E}">
        <p14:creationId xmlns:p14="http://schemas.microsoft.com/office/powerpoint/2010/main" val="10760194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21E409B4-0452-4BE6-AA7B-49C841E1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8DB6EDE-5300-44AA-B48F-8FF27616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1813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A29BD79-548B-411B-9D43-B74B2DDA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ced690d5d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ABF34B6-6963-4885-A1DA-54FBB5D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1002792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Application domains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B205F9C-28CD-4430-8B99-7AAB7308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" y="833120"/>
            <a:ext cx="11210925" cy="1630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7150" tIns="28575" rIns="57150" bIns="28575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统一架构：多模态感知维护诊断置信状态，任务规划器选择下一物理动作，执行后的新证据反向更新状态；安全治理、人类监督和可追溯性贯穿全流程。</a:t>
            </a:r>
            <a:endParaRPr sz="200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三大应用的差别在于交互对象、动作类型与最终诊断证据。 </a:t>
            </a:r>
            <a:endParaRPr sz="200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37febdbf348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" y="2471420"/>
            <a:ext cx="6281420" cy="4188460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3BD481CE-877D-43BC-A7BD-D24896D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940" y="2370455"/>
            <a:ext cx="12700" cy="429514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7030A0"/>
            </a:solidFill>
            <a:prstDash val="dash"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左大括号 13">
            <a:extLst xmlns:a="http://schemas.openxmlformats.org/drawingml/2006/main">
              <a:ext uri="{FF2B5EF4-FFF2-40B4-BE49-F238E27FC236}">
                <a16:creationId xmlns:a16="http://schemas.microsoft.com/office/drawing/2014/main" id="{D974AB77-6344-4769-BD52-CE4C16D1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610" y="2749550"/>
            <a:ext cx="99695" cy="3744595"/>
          </a:xfrm>
          <a:prstGeom xmlns:a="http://schemas.openxmlformats.org/drawingml/2006/main" prst="leftBrace">
            <a:avLst>
              <a:gd name="adj1" fmla="val 0"/>
              <a:gd name="adj2" fmla="val 50000"/>
            </a:avLst>
          </a:prstGeom>
          <a:ln xmlns:a="http://schemas.openxmlformats.org/drawingml/2006/main">
            <a:solidFill>
              <a:srgbClr val="7030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33E6542-0F79-44A4-8C0E-001D5789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65" y="2268855"/>
            <a:ext cx="176403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Times New Roman"/>
                <a:ea typeface="Times New Roman"/>
                <a:cs typeface="Times New Roman"/>
              </a:rPr>
              <a:t>Application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1F2B54C-B1B1-4868-8203-D1664EB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587625"/>
            <a:ext cx="406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Times New Roman"/>
                <a:ea typeface="Times New Roman"/>
                <a:cs typeface="Times New Roman"/>
              </a:rPr>
              <a:t>Clinical Detection and Intervention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70A3273-6798-476D-A355-A87BE77C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3679190"/>
            <a:ext cx="40640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Times New Roman"/>
                <a:ea typeface="Times New Roman"/>
                <a:cs typeface="Times New Roman"/>
              </a:rPr>
              <a:t>Laboratory diagnostics and assay development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1269E63-ED24-4160-B131-420B2AC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5045075"/>
            <a:ext cx="40640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Times New Roman"/>
                <a:ea typeface="Times New Roman"/>
                <a:cs typeface="Times New Roman"/>
              </a:rPr>
              <a:t>Everyday embodied monitoring and adaptive support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86eff2f1d4a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4185" y="2903855"/>
            <a:ext cx="848360" cy="848360"/>
          </a:xfrm>
          <a:prstGeom xmlns:a="http://schemas.openxmlformats.org/drawingml/2006/main" prst="rect">
            <a:avLst/>
          </a:prstGeom>
        </p:spPr>
      </p:pic>
      <p:pic>
        <p:nvPicPr>
          <p:cNvPr id="6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7cf9de0834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2950845"/>
            <a:ext cx="781685" cy="781685"/>
          </a:xfrm>
          <a:prstGeom xmlns:a="http://schemas.openxmlformats.org/drawingml/2006/main" prst="rect">
            <a:avLst/>
          </a:prstGeom>
        </p:spPr>
      </p:pic>
      <p:pic>
        <p:nvPicPr>
          <p:cNvPr id="6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f70c5283e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9620" y="2928620"/>
            <a:ext cx="803910" cy="803910"/>
          </a:xfrm>
          <a:prstGeom xmlns:a="http://schemas.openxmlformats.org/drawingml/2006/main" prst="rect">
            <a:avLst/>
          </a:prstGeom>
        </p:spPr>
      </p:pic>
      <p:pic>
        <p:nvPicPr>
          <p:cNvPr id="6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6ffdbe28d4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5450" y="4328160"/>
            <a:ext cx="793750" cy="793750"/>
          </a:xfrm>
          <a:prstGeom xmlns:a="http://schemas.openxmlformats.org/drawingml/2006/main" prst="rect">
            <a:avLst/>
          </a:prstGeom>
        </p:spPr>
      </p:pic>
      <p:pic>
        <p:nvPicPr>
          <p:cNvPr id="66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ac3c0ef43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9695" y="4328160"/>
            <a:ext cx="744855" cy="744855"/>
          </a:xfrm>
          <a:prstGeom xmlns:a="http://schemas.openxmlformats.org/drawingml/2006/main" prst="rect">
            <a:avLst/>
          </a:prstGeom>
        </p:spPr>
      </p:pic>
      <p:pic>
        <p:nvPicPr>
          <p:cNvPr id="67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87cd22a07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2190" y="4240530"/>
            <a:ext cx="813435" cy="813435"/>
          </a:xfrm>
          <a:prstGeom xmlns:a="http://schemas.openxmlformats.org/drawingml/2006/main" prst="rect">
            <a:avLst/>
          </a:prstGeom>
        </p:spPr>
      </p:pic>
      <p:pic>
        <p:nvPicPr>
          <p:cNvPr id="68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901fc3f7b4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5800" y="4192905"/>
            <a:ext cx="882650" cy="882650"/>
          </a:xfrm>
          <a:prstGeom xmlns:a="http://schemas.openxmlformats.org/drawingml/2006/main" prst="rect">
            <a:avLst/>
          </a:prstGeom>
        </p:spPr>
      </p:pic>
      <p:pic>
        <p:nvPicPr>
          <p:cNvPr id="69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abbac704d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4030" y="5741035"/>
            <a:ext cx="813435" cy="813435"/>
          </a:xfrm>
          <a:prstGeom xmlns:a="http://schemas.openxmlformats.org/drawingml/2006/main" prst="rect">
            <a:avLst/>
          </a:prstGeom>
        </p:spPr>
      </p:pic>
      <p:pic>
        <p:nvPicPr>
          <p:cNvPr id="70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a9959e87e42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7790" y="2903855"/>
            <a:ext cx="882015" cy="882015"/>
          </a:xfrm>
          <a:prstGeom xmlns:a="http://schemas.openxmlformats.org/drawingml/2006/main" prst="rect">
            <a:avLst/>
          </a:prstGeom>
        </p:spPr>
      </p:pic>
      <p:pic>
        <p:nvPicPr>
          <p:cNvPr id="7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3d44ffc03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6680" y="5728335"/>
            <a:ext cx="817880" cy="817880"/>
          </a:xfrm>
          <a:prstGeom xmlns:a="http://schemas.openxmlformats.org/drawingml/2006/main" prst="rect">
            <a:avLst/>
          </a:prstGeom>
        </p:spPr>
      </p:pic>
      <p:pic>
        <p:nvPicPr>
          <p:cNvPr id="72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f3ddbc559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0920" y="5664200"/>
            <a:ext cx="944880" cy="944880"/>
          </a:xfrm>
          <a:prstGeom xmlns:a="http://schemas.openxmlformats.org/drawingml/2006/main" prst="rect">
            <a:avLst/>
          </a:prstGeom>
        </p:spPr>
      </p:pic>
      <p:pic>
        <p:nvPicPr>
          <p:cNvPr id="7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aac800a97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6925" y="5650230"/>
            <a:ext cx="829945" cy="8299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181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3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c1993d0d940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Application Taxonomy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A4EEE3-0522-4EFC-8EEF-A853593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临床检测与干预：按“如何获得下一份诊断证据”分为三类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47078D-0F21-49CF-A12C-7BFD0B94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Classify by the physical action that creates the next diagnostic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11933-C498-4D70-A1F9-7C01F40C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2766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F819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4B49B-719F-4886-A28E-A5F8A3A3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975D7E-CB74-4B68-AFC2-BD93EB8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C0E714-1EA8-4419-85E5-A40A23E3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主动观察式检测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9B53E5-66F1-4804-8329-7286E965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Active Observational Sensing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F22AEF-7EFE-4A9A-A85B-B31B94B8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动作 / Action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3F8395-DFD2-4BB0-A8F9-BB2BA7C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改变视点、位置、方向、接触或扫描路径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8DCE32-E6C3-4AE6-BA0A-16387F7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0C8D97-72FA-4ECA-8C43-CBBA96C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证据 / Evidence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D7619C-21B1-4DCB-974F-A909C9B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新图像、光谱、点云或生理信号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231B5F-18A6-4C47-BD7F-EF5759D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机器人超声｜内镜视点规划｜OCT/光谱扫描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BAA38-0B07-4706-9C5F-E3E1AA72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32766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882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8E6146-4A1E-4871-AEFC-20550D4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4CDFB8-6514-4E48-B62B-3E0F3887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EA7D10-67D6-4926-A754-0230E355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响应式交互检测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BDE9B7-FAA1-4453-B9C6-6959D02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71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C1882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1882F"/>
                </a:solidFill>
                <a:latin typeface="Arial"/>
                <a:ea typeface="Arial"/>
                <a:cs typeface="Arial"/>
              </a:rPr>
              <a:t>Response-Based Interactive Diagnosis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853F39-1951-4785-8792-9391C547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动作 / Action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B122AA-4404-4EBB-862D-2555A1F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67025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施加受控机械、电、声学或运动刺激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DF0354-E86D-41E4-B8DE-635C43C7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67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74E85A-3368-49F6-9AF4-D6AFDB6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证据 / Evidence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1E9BCF-F3E5-4213-8C54-12249BFA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力学、生理或功能响应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44585C-01C2-4FB3-9C21-2BA8342F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触诊｜弹性检测｜关节激发｜刺激—响应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E45687-2294-4115-B2E3-7173B036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2766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4576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60E5F0-2389-47B0-81A5-EC9296A1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200ECC-BED4-4238-857D-C89F2BA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D98BF4-8CD3-42C9-BBEB-16B54E11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采样式交互检测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1079BF-0351-4611-8B3E-A7CA5BB0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B4576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45769"/>
                </a:solidFill>
                <a:latin typeface="Arial"/>
                <a:ea typeface="Arial"/>
                <a:cs typeface="Arial"/>
              </a:rPr>
              <a:t>Sample-Based Interactive Diagnosis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3D8B9C-3B1B-4D11-A8CB-33B3D04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动作 / Action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2EC5B3-23C7-46C1-843B-269BCB80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67025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穿刺、抽吸、切取或采集组织/体液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7245C8-DADB-4766-A783-41A71C6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1EFF9D-CE2E-49FD-B9FA-4829833A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证据 / Evidence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DE70F9-A875-4EAE-99C6-3B5DA7DB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离体样本及病理、生化或分子结果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B71411-8375-4662-A0F8-924FA963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活检｜细针抽吸｜内镜活检｜机器人采血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00A569-7924-429B-BD73-AFCE11C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75A786-D7B0-4632-A122-2162CE6B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并列应用：实验室诊断与检测开发操作样本/试剂/仪器；日常监测与自适应支持在真实生活环境中持续观察、主动确认并提供支持。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4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5d7503cc74e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1A.1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6769D-9C8D-4F87-AA9E-4E9FE0A5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主动观察式检测：让当前观察决定下一次观测动作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EBE2DC-A4CB-4F4D-B6B7-BD2CB277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Active Observational Sensing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CF94E3-70DA-4604-B426-E4E17720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A1F808-F3B7-4E48-A081-5751E090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AOS · ACTIVE OBSERVATION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128FA-CAEC-42BB-A10D-93FEF3DD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1F5F5B-2863-4B90-BBC4-D8AFF14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4B31F3-FA65-418F-BD66-D2A34CC7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6BE8C9-385C-465C-84EA-F12FD3A0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2833AD-DBD3-4CAD-AC03-8A0A94AB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12383">
            <a:solidFill>
              <a:srgbClr val="2F819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4C2B51-6224-4829-A26C-83D9F31C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C6C017-40AF-4127-A29E-5EF9CBB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当前观察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20BA7B-4C87-4C05-88FA-5B432300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图像 / 光谱 / 信号 + 传感器位姿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557655-9173-477B-8A36-38C1A30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12383">
            <a:solidFill>
              <a:srgbClr val="2F819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193E05-0F6A-4B67-BE00-10E0BFDF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AA2A6C-8209-4EA3-BEF1-77170649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质量与覆盖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B3464D-F36D-454E-AEF7-551B1EB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病灶、覆盖率、信噪比、不确定性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5B2DD8-7086-4713-9AC2-B2A6349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12383">
            <a:solidFill>
              <a:srgbClr val="2F819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5D7015-7AAE-4486-8E65-C15ADB64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53A850-01CD-4849-B4D8-B76B7CEB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选择下一动作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7A2F04-780A-464D-8A62-1FEBFD8D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视点、姿态、接触、扫描路径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086E07-5E04-42EC-95ED-FD4C6E4A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12383">
            <a:solidFill>
              <a:srgbClr val="2F819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B919DE-F86C-477C-B70A-675F5B9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61D351-6A49-44C4-A8FD-09701B3B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6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安全执行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29250D-F9DC-4745-AB2A-5A87D196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碰撞、力、工作空间与运动约束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89C624-AD13-4AE0-94C5-054E5ADE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12383">
            <a:solidFill>
              <a:srgbClr val="2F819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23A1AA-30E8-4C63-AE72-34EF3D7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D14FD3-5420-46EE-8CAB-B075C474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获得新证据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1C46A2-94D0-4D54-BA98-B783B79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继续、复扫、停止或转人工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91CE1D-019F-4078-BBA2-AF9441DD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9AB473-0853-4697-9FCB-873BA76A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4F25FC-6F11-4123-93AC-1E702F0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动作对象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DDDC3E-6009-4A53-A473-DD5F03C7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视点｜位置｜方向｜接触状态｜扫描路径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A80E6E-8ED2-45D3-B332-D167C2B5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Active variables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0265C4-93AE-4270-BC01-AB5B7AF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092B43-E68F-4061-BE89-D69C018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688F91-2FD0-40B9-913B-3261D832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诊断证据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717CA2-CA2F-445C-BBD8-F0F05BC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新图像｜光谱｜点云｜生理信号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61C084-2F5A-4B40-B687-BD5FA71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Diagnostic evidence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76739F-287E-4A53-9FC0-C27C0149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C88EE3-9BF8-49D5-A2BC-A38CE7A5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0">
            <a:solidFill>
              <a:srgbClr val="2F819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38B6D6-D8AA-443B-A242-FE703B85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闭环输出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AB4F36-743E-4071-9B78-8FDA72A4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继续｜精扫｜复扫｜停止｜人工接管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44F985-FC3E-4521-A049-0AD5F790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Decision outputs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A64B48-FDE4-4455-842C-B02434DB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36B86C-FC66-4878-8DB6-446617E7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边界：核心动作改变“如何观察”，而不是主动施加诊断刺激或获取离体样本。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5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7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d5897266f49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1A.1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2C285E-D88F-4703-8B51-1A6A025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机器人超声已进入人体闭环；主动光谱扫描仍停留在“会扫、但不会主动选点”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AC123E-2C6B-487F-BE2B-20821BFA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Representative evidence stage — not regulatory status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E067AF-59F5-4F05-9849-4A56DDEF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429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0FD32D-3780-4C73-9A79-3273A695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D5AA8E-5D88-4151-B14A-E7EAA655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代表性任务 / Task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5FFC40-4DEC-4D4B-92FB-69B840EF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062546-DD94-4C7F-B83B-B3F58E27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台架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Bench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E2271A-FC80-47D9-891C-D5438BC6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2DAAA2-E892-4E32-A36F-CC02B6C4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离体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Ex vivo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590F8F-DC6E-4CE5-B20C-4D09775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9DC723-1E4E-4EC9-A8BE-F8452E72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动物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Animal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D26B4C-1478-4CF9-8AB4-36F809B8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4BD91E-92D9-4546-8457-8F2445EA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人体可行性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Human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5D2060-25A4-4F0D-B38D-D3CD9E30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C7A63F-5DA0-48EC-95D1-A7518A92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临床流程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Workflow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5E18C5-FE54-444D-AE58-1F3211E4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1F947D-3CE8-4332-A788-199CB0C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机器人超声 / Robotic US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F087C8-9088-4791-A3D5-E2C07F90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52688"/>
            <a:ext cx="403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0">
            <a:solidFill>
              <a:srgbClr val="E9F3F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F16B92-5E2C-4093-AF5F-85DBF4A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60364E-40D6-4767-9616-E9FD5647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29A5D2-FC60-4784-8B49-FFC6942C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6F041A-98AF-4C37-9B11-31B86AEC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912BB4-4620-42E5-BBC5-F2B32F6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764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36C239-CAA8-413E-8DC3-08188B5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5272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A73C2E-63A8-4788-AD25-F5FA5B41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内镜视点与导航 / Endoscopy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74A98B-D95C-4B70-9CFB-F7F26F0E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33713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0">
            <a:solidFill>
              <a:srgbClr val="E9F3F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DE4F6D-98FB-4B6E-B26B-E720A57A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6775AE-B4CC-4DFF-9C16-4A32683E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7F50A6-B3AB-4A4F-9C6D-9CFED41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C7D866-8914-4C96-A727-EA0BDCB7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75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BC42A9-5FD1-4470-AB78-5CE76CE0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6371AF-7B4C-4946-A112-3398341D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AE964C-3F7B-4926-A0C5-25ED3D3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机器人 OCT / pCLE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23CAE9-830E-40C0-8279-1494D829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14738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0">
            <a:solidFill>
              <a:srgbClr val="E9F3F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AACA8A-5B2F-45F8-A124-2D297488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4AD8B0-0EB7-4AB8-A9EC-B2D6E22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D6B886-E4D1-43FA-939D-36D3EDA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3AF3D6-215B-4D86-A17F-5D8C15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6476D1-3DB8-4DF4-8B8A-6033A5BD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B72F5F-C626-4661-AB88-A45A015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AFE042-B918-4CD6-9AFB-2DBE8BF5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光学与光谱映射 / Optical spectral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1A84276-7060-4DAB-896B-1497EBD4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95763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0">
            <a:solidFill>
              <a:srgbClr val="E9F3F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97BA93-5C30-4195-B949-C2B585B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045937C-0198-4CA4-9977-87004561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974F7A-813F-4C15-A822-EC12D22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FA0EBF-F0B6-42B6-8A4F-1E03CC1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95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8F9FC7-C330-46E6-8889-86261851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07DF8A-274E-4D03-B4AB-D20F206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320304-2AA9-489A-BCA8-07A5CD8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皮肤与创面多视角成像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164ACD9-4D9F-4FA9-A47B-980AD9F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76788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0">
            <a:solidFill>
              <a:srgbClr val="E9F3F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4BA677A-1F4F-49C2-AE94-09730BD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A2437E-999A-4319-9AD1-ECDEA94A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84EA47C-4164-4E6B-8D9F-AA510610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DA14326-8526-4CC1-816B-2FDC6DC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005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F9C42A-3466-407A-98D1-D9050BB7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9635FDA-2FB2-43F9-9DD6-3B24CBC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52A61B8-7ABB-48CD-BFD5-E7A31DB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X-ray / CT 定位与采集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2698A56-5E32-4077-B981-344248C9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357813"/>
            <a:ext cx="403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0">
            <a:solidFill>
              <a:srgbClr val="E9F3F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35AA6C2-032B-4760-9A20-771B8F9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5057DE-7C9D-4BF8-B308-FCCBDD2F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ACC96D-2C55-4057-B5AA-B021AC85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FE3F3FD-B6E0-445B-AF28-4CE39C81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BFD353B-8DAF-4796-83E2-B289095D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816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11430">
            <a:solidFill>
              <a:srgbClr val="2F819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3E1A078-EC71-4468-949C-964F531E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1EA1EF3-31A5-441E-BE40-A03E457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89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8A21CD-A62D-4B2A-A813-5FA7068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FARUS 人体扫描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DC2551D-F628-4634-8C08-51393214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526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70 名健康受试者 + 19 名患者，2024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16CEFDC-66D9-4774-9C66-C47494A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90F5B11-33F8-4619-BF4F-684B368A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&gt;90%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46AF809-89C3-4E87-A64D-E8AA5579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自主颈动脉扫描成功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F01CB55-62C3-4288-83E5-C7F36576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575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247,297 组专家图像—动作对，2025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7F419B4-7A55-4976-9182-BAF8D2EA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79C154E-7DBC-44C5-AFC3-D0CDC296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1 cm²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E83813E-2A0E-4F6D-BE0C-EBDADA0B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新鲜脑组织 Raman 成像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314E0A-E1AB-4495-B5CA-DF38DEAD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624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人体标本可行，但扫描点策略仍固定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49ABC1D-64F5-4C5C-B247-6BC65DA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真正的研究空白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D88C097-F0B2-475F-84EF-05AE4C25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149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诊断不确定性何时触发新视点、精扫或停止；以及跨患者、跨设备、跨日期的策略泛化。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20E596E-4F66-4EC8-94DF-BB6FAFF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 i="0">
                <a:solidFill>
                  <a:srgbClr val="8A838E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8A838E"/>
                </a:solidFill>
                <a:latin typeface="Arial"/>
                <a:ea typeface="Arial"/>
                <a:cs typeface="Arial"/>
              </a:rPr>
              <a:t>Evidence coding: Su et al., Nat Commun 2024; Yang et al., Nat Commun 2025; Raman margin studies 2017–2025. Details in notes.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6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c4fc5022146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1A.2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0CC365-591C-436C-976C-2B76F58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最值得做的不是重复成熟采集，而是把诊断置信状态直接接入下一测量策略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92B3B-15C9-4151-97D9-28572867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Promising directions for active observational sensing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83F123-5E03-4BA1-8A1E-F9BC85FA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096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028351-5F67-44D9-9FD3-5C1C11B7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4C5AAA-88B9-410B-BBB2-6596B76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036913-B2E0-4CA4-BE93-50A7F35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5149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技术可实现性 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FA8ECB-EFDE-48BD-BC66-8471FA16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诊断闭环研究机会 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85BCB2-E5E5-494C-8977-04A1D52A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rPr>
              <a:t>探索型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E2AC52-EA9D-4B07-A404-64314C64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优先区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CE92CC-75BF-46CE-B1DA-F285D274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71813"/>
            <a:ext cx="11239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0D62DB-A66C-4AA6-83B2-9402D1D1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8963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79FF91-340A-411D-9FD8-9EAEE77D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9438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自主超声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F85FF2-A5CE-45FD-9493-A9EA41A5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47023"/>
            <a:ext cx="13525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59F33F-2155-45A3-945A-4267850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04173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8F900A-BA78-4089-8C3A-7A8914A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4648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内镜视点规划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9D9C37-197C-494B-BDD1-834E4607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96603"/>
            <a:ext cx="12001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66B275-579E-4A94-90E2-7016DFC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53753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E50EFD-1A32-454D-961D-F05919C1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44228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OCT / pCLE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AE40F4-CD13-435A-8B94-B32CE82E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3788"/>
            <a:ext cx="12382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C3F62B-9383-48B4-BF5B-AE2AA42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90938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278DDA-AB06-4BB9-9CDF-A6B548BF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81413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皮肤 / 创面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0F1585-C7A0-429F-9714-9D7FB5F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30479"/>
            <a:ext cx="12382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806ECB-E770-4FD1-981F-EC35F62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87629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F62DBE-539E-486F-BC66-5C19CA0C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78104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眼耳鼻扫描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4B82A9-8871-4797-9A4A-06F0564C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39565"/>
            <a:ext cx="11239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5A5140-1B4C-4D5A-94C6-365BB8B7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9671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A6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2D28D9-FD9E-45F8-9C87-DC19069F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8719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X-ray / CT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B0D81F-4A07-46E6-BE51-B36951D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3640"/>
            <a:ext cx="15430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190"/>
          </a:solidFill>
          <a:ln xmlns:a="http://schemas.openxmlformats.org/drawingml/2006/main" w="19050">
            <a:solidFill>
              <a:srgbClr val="2F819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87B1F8-11C3-4BA2-AC37-C80961E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1079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E9AED9-6EFA-47B2-9C68-89FCD16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0126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主动光学—光谱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12389B-046B-4831-ADC2-578914FF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E7D5A3-7560-4321-B409-1C938E06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0">
            <a:solidFill>
              <a:srgbClr val="E9F3F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7FB788-AF0D-4F4C-85E2-277C4091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为何优先 A7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3F48AE-0ACD-4F16-AFBF-89EC719E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EE5539-B5EA-4EDE-9499-07A69E8C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互补模态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F249DD-C320-45DE-8A2C-A1F71F1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宽场 RGB/MSI 负责找区域，Raman/DRS 负责高特异确认。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B970D4-99C9-4ED2-975F-604DCA30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CA2679-F0A1-4F09-AC56-2010094A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可定义成本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E19D177-A429-45DA-B416-9141D83E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每个新测点都有时间、接触和光剂量成本，适合主动策略。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07BA57-C08C-41FC-A99F-1CEBCF33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98F971-4445-45E9-B3BD-49DAD9AE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真值可获得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B13355-58ED-4630-B134-B6ED7A1F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新鲜标本可与病理共注册，降低第一阶段临床风险。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643E42-9BA3-4A8F-995A-6A282D97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EEB104-E7AF-4C9D-A29F-33275B1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空白明确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9DE935-C064-40AD-B32B-698EC9C4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244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下一点、停止与转人工策略尚缺系统比较。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88E3BB-71E9-4F74-9AC4-137B7029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 i="0">
                <a:solidFill>
                  <a:srgbClr val="8A838E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8A838E"/>
                </a:solidFill>
                <a:latin typeface="Arial"/>
                <a:ea typeface="Arial"/>
                <a:cs typeface="Arial"/>
              </a:rPr>
              <a:t>Portfolio positions are qualitative author synthesis from representative evidence; they are not market or regulatory rankings.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B18E4EA5-3F4A-465A-9BCE-11C3B081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E4AD95A-C2D7-442D-BF4D-6BE085D4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7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CD317E3-5FC8-40F2-B92E-850C69FF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d875975224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8A43D6A-E10C-4B9D-873B-759D8A43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202C981-940A-4434-BF3E-F015BCA8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1A.2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8622614-7AC8-45A5-B7C4-72854D5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" y="820420"/>
            <a:ext cx="1142936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A7：主动机器人光学与光谱扫描——由病灶、覆盖、质量和不确定性共同决定下一测量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9db8df736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975" y="1188720"/>
            <a:ext cx="10140950" cy="5577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378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8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9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944ee46284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1A.2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E3225B-4B5B-4F1A-BE25-1F36286F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A7 可覆盖六类临床场景，但第一课题应选择“易取真值、低风险、闭环收益清晰”的平台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BD4355-C046-4C10-A980-0C5CD5F5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Clinical application scenarios and recommended entry point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6809BA-C2F8-41A3-A160-0B94981E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7145">
            <a:solidFill>
              <a:srgbClr val="2F819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129A1-BB56-4B77-9F5B-AE3C10D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C8ACD0-7D8C-44E7-9F38-52D2997F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口腔黏膜检测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38001-AF06-4369-83C7-B921FE1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050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Oral Mucosal Mapping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CEBB76-E772-401E-8978-C8D2708A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8A9A7E-700B-4318-A4F3-CE2BB20B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MSI 宽场筛查 → Raman/DRS 靶向确认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FC7E4C-438A-4632-A06D-8574FC6D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17145">
            <a:solidFill>
              <a:srgbClr val="2F819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B18D64-0E3B-4DB6-98F2-7438329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190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88029C-93CA-4D50-B834-2ED23B9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38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新鲜标本与切缘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C468DD-438E-48FB-9BFD-C00F70D4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Fresh Specimen &amp; Margins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96B677-FF5E-49AC-9727-A65DF9CC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D27FD8-B299-4F03-9960-14ED715A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诊断不确定性驱动的切缘重点采样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EFA5AA-07F0-4C53-A316-3C263DD4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57FA2F-075A-4CCB-BCF3-06606B3B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CB"/>
          </a:solidFill>
          <a:ln xmlns:a="http://schemas.openxmlformats.org/drawingml/2006/main" w="9525">
            <a:solidFill>
              <a:srgbClr val="B9C8C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A8613A-D6BF-4988-AF99-AA948B7D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皮肤与创面评估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8B6588-D31D-4EF3-A669-BDEFB454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Skin &amp; Wound Assessment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D99823-83A3-4B8A-B6B4-CCD0505A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9293BD-EDF2-4F94-9D8B-2CF5CF77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95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多视角灌注与组织氧合映射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B7D47A-B406-4C3A-93F7-700C7131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76F9F2-1D89-419B-8444-58552F55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CB"/>
          </a:solidFill>
          <a:ln xmlns:a="http://schemas.openxmlformats.org/drawingml/2006/main" w="9525">
            <a:solidFill>
              <a:srgbClr val="B9C8C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0F027E-CE47-460E-B072-D153C513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腹腔镜灌注监测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7EF75C-3371-482D-B209-239F34A7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Laparoscopic Perfusion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2CEFA8-BC98-4244-B6F0-9D1B1AFD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646611-B1F3-4A8E-BEBB-298F7BF6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对疑似缺血区域进行动态复扫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B98688-95E6-495C-AB98-27A9ED3B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9090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F2B27C-A6B3-4904-AEA2-8A590168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CB"/>
          </a:solidFill>
          <a:ln xmlns:a="http://schemas.openxmlformats.org/drawingml/2006/main" w="9525">
            <a:solidFill>
              <a:srgbClr val="B9C8C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59D0EB-D7B9-41A2-8A3F-5EA3BED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337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内镜光学活检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A984A5-F8F2-4047-BF21-AFC1DBC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Endoscopic Optical Biopsy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8153CF-C2E6-438C-B7A3-4B88A276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767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44EA1E-0B1C-4B40-8E8B-1EEDE768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主动搜索病灶 → OCT/pCLE/Raman 局部确认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E418BD-53A9-4F30-8D58-82862A8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335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D5FC14-ADC0-4C47-935F-AA957572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CB"/>
          </a:solidFill>
          <a:ln xmlns:a="http://schemas.openxmlformats.org/drawingml/2006/main" w="9525">
            <a:solidFill>
              <a:srgbClr val="B9C8C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86BC11-8DC1-4681-BDBB-3632FFD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337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神经外科切缘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6B1763-A5CF-40FF-9DFA-DB8C6F74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0047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2F819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2F8190"/>
                </a:solidFill>
                <a:latin typeface="Arial"/>
                <a:ea typeface="Arial"/>
                <a:cs typeface="Arial"/>
              </a:rPr>
              <a:t>Neurosurgical Margin Mapping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90321B4-B04A-4ADF-B90B-D323E828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9F53453-2917-43A5-90E2-17C2D408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脑移位感知的 HSI 自适应扫描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EC120BB-F948-4AF9-B888-38DD434B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4"/>
          </a:solidFill>
          <a:ln xmlns:a="http://schemas.openxmlformats.org/drawingml/2006/main" w="9525">
            <a:solidFill>
              <a:srgbClr val="2F819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356344-185D-4CEB-AFF6-704A908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2F8190"/>
                </a:solidFill>
                <a:latin typeface="Noto Sans SC Thin"/>
                <a:ea typeface="Noto Sans SC Thin"/>
                <a:cs typeface="Noto Sans SC Thin"/>
              </a:rPr>
              <a:t>推荐切入：口腔黏膜或新鲜手术标本——RGB/MSI 宽场筛查 → 主动 Raman/DRS 稀疏确认。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9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c30a5882344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1B.1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BB930E-560A-4EE4-9EAD-65350D8E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响应式交互检测：受控刺激之后的响应，才是诊断证据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DDA0AA-5110-4B8B-9E6D-85C28CE8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Response-Based Interactive Diagnosis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04188B-98D1-47AD-A757-038E2C0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C36C92-0900-45AD-81C4-CD068FF0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RID · STIMULUS → RESPONSE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97F574-0DCD-451C-9278-BBC6DF6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A55AF9-A8AB-41E8-8531-F21A1C1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D2E854-CB74-49DD-BBD1-7B2E67B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6143B2-B6B1-4DB1-B280-9898DE5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B3BF1F-A8F8-4263-B1AA-6E53C6BE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79B753-EA71-42E0-BBD4-3A4EE9E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257665-C0C3-45B6-898F-5ECD231E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状态先验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7DE9F1-3F01-4A5E-ADED-FBDAA6D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解剖、症状、可疑区域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09C751-B5ED-4C84-B9DB-949D967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08E079-9E05-483C-8C14-A296FA7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733DB4-BF96-4E12-A3FE-DAC52428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规划刺激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EC8CA1-DDF0-4709-9AA6-BA57553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位置、方向、幅值、频率、持续时间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914329-F12B-4BE7-8D32-C129991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F29501-0810-4330-8A22-8A0C253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A46843-F022-4743-A8FC-7711E50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安全施加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732DA6-F91B-4C19-B8F1-E6CF2211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力、电、磁、声学或运动刺激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2EF30D-5DF0-4D13-9808-36FE6C82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BD2396-B6F9-4C38-9293-BAF9642B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E0EE3E-E6BE-4500-B342-6858ADE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6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测量响应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18DF53-6A68-4999-920F-58FA70CF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力—位移、形变、肌电、诱发电位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9D0818-0CF6-41C3-AAF9-9C519EAE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41283A-57A9-451A-91B4-D2CF2C29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5BDD5C-FEF1-4A02-955D-5002304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估计状态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4B5B40-6686-43D1-9DC4-385A8B3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刚度、稳定性、神经或功能状态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590326-0FC2-43F1-9C4F-D38C920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7CB9AE-2E79-4BBB-A800-ECDE3ED3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F5B857-F96B-4933-A394-E5A7FAA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刺激动作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9557EF-DC18-4657-B267-F5052A4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压入｜压缩｜振动｜电刺激｜关节运动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DC6BBB-EBD4-4C24-B5C0-D324E6F7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Controlled stimulus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718CF9-AFEE-4799-8937-11A71129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478F81-3DFB-4D3B-A97E-35956836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76A401-0416-4587-91F3-4CE85978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响应证据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BA90AF-17BA-4D32-B27D-A629989C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力学｜形变｜诱发电位｜肌电｜功能表现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A7F113-66F2-4DA8-A74D-88B4196F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Measured response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5013B9A-9F29-4B79-9FCF-B1A87C05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94D6C0-ED69-4D04-B83E-BE771450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8A4E61-C03D-43F7-8514-176A13F1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下一决策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78E0A4-EB1C-41C0-924C-62FEEB8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换位置｜改轨迹｜调幅值/频率｜停止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1A8743E-BF0A-46A9-BC48-B9183FCC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Adaptive decision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62A6107-5B05-44C4-B2F8-2A927131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C146C9E-B1B6-4B3E-AB41-FD14DA69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边界：若系统只改变观察视点，则属于 AOS；若证据来自切取后的样本，则属于 SID。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10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7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d102f5c7245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1B.1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33F9C-8BA9-424D-8E79-D72E45D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成熟度高度分化：神经调控已有人体闭环试验，物理检查机器人仍多为专科原型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01AB46-C251-493A-8382-B8A435F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Representative evidence stage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69117D-30BA-4089-91C3-2E4C3A1E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429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9D8AF4-E7DF-45E8-B1D8-999DFCFD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3BF38A-6F80-4256-A916-5CCE63B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代表性任务 / Task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34BD35-6EC9-4424-8089-BEE39919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6C0970-E3DE-4400-9B51-420DD832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台架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Bench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A5C42A-8C0F-4694-9614-6A2BF2C6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F46FAA-6197-409B-88B8-0480353E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离体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Ex vivo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7933F6-DF81-4DF9-B39B-4C5100AF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ADD144-4922-4A50-BF31-78F95367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动物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Animal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6FA9C4-1D52-408D-A8B1-76B60C45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4FE8B8-9CE9-4196-AAD1-DC10E5E6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人体可行性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Human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50A990-07DD-470E-8583-FD3C95B2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57350"/>
            <a:ext cx="100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B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FB120D-1B73-4A14-9102-0C3A568F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430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临床流程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Workflow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2CF0FE-3495-4BB3-A4E8-3EE36A6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E01D9A-654A-4903-B025-D7A436D9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机器人触诊 / Palpation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04852F-7CC3-480E-A10B-BC72B8AD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52688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F65EB8-E477-4B30-A120-9198ABF0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8BA637-7C0D-4FCE-B671-4223D0E4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764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E633C8-D2D2-4656-8ABD-96D6E201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00D821-8990-473C-A3FF-45F0F2E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037677-C16A-4D24-8D81-D37E6F1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2409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5A9430-CAE0-47BE-9562-9FD3CD7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5272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D80CA6-13A5-49DF-8C82-E95C09A1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力控弹性检测 / Elastography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171AAC-0F0C-4564-9B7E-A0CD9DF9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33713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53E296-C049-443D-939A-7E3D8F9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C0FFDA-FF40-47E3-9DFD-8A76F6B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39EFA7-FF60-4837-A31F-379C4A50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A6ABE4-40B1-4819-B772-D8DDC5B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75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710F7B-739F-4FDB-9E7A-C2F1D4A5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2990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8B3C16-C19C-44A6-96BD-903197E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2BE231-C96B-484C-9EE5-D6E07C32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振动与剪切波 / Vibro-sensing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39688D-D0D2-4AD1-96FB-E7E60E34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14738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8BC7374-6DE2-48B9-A0F7-5B2119A8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0FB23B-A413-4206-9727-745CA844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91CAD5-8D98-4CD7-82F7-C0CA3231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A03A02-0FD1-40C9-A953-9C71147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374655-4891-4CA4-98C1-99B39E4C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F1AC68-A9E7-4276-85CA-4AE75A8E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A6DC95-E2CF-4BDD-A0F5-9847F6F4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关节应力与松弛度检查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440A65A-351C-43E7-B9BF-3999C814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95763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DE8912-760D-48C8-B7D5-4BBA671B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FA9054A-DFFF-448E-BF4A-634A578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195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97994A-9CC9-4E1A-B970-9AA0D8EE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3D2487-536A-41C7-84D2-8A019E20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5149FE9-1C13-4866-A149-F782A1E5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4152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0DC7F31-3F1F-4CDD-BDC9-7FBDC092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35FBEDA-2435-47A5-A766-21160630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肌肉与肌腱激发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D3D8EEE-D33F-4681-A8C3-66A10351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76788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77ADA9-E577-4C9F-B863-6EEAAF6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12BA613-2BF0-4C58-937E-5A351B3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F234A79-EF61-431C-9372-B1B6C7EC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005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A4BE079-2B44-4D1C-8F8D-E3E44EA0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386047E-9B94-4C01-B507-9759F842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4733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CFD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8D7A2CE-0CD0-43E6-9E48-07357AE8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F310921-0CC7-485C-A8AD-203B688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神经刺激—响应映射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20F675-E788-48C5-8065-3C9E935E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357813"/>
            <a:ext cx="403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1E6BB38-6B8E-46F0-924C-CADF02B5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B6D19BF-406B-4A33-8CF5-1E207E76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0488C6-8691-416B-B536-CAA414C6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08CEB19-0C0D-41BB-9EDB-2D6E5842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5BB654-6F79-4023-BCBE-84A34978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816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11430">
            <a:solidFill>
              <a:srgbClr val="C1882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7C6797D-1A91-4121-B4C8-22DC250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03C0C6-310E-4095-A053-912EA7B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C1882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1882F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24029AF-3579-4D26-B7F2-F945AE18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自适应 DBS 随机可行性试验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9D05769-68B6-4FF9-A5B7-D25923D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526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人体闭环证据，但属于高风险植入式系统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137CEC8-C780-4153-A376-AB01A4A9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1EF003A-7DBD-4991-8B56-250762A0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C1882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1882F"/>
                </a:solidFill>
                <a:latin typeface="Arial"/>
                <a:ea typeface="Arial"/>
                <a:cs typeface="Arial"/>
              </a:rPr>
              <a:t>3-DoF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C0BC9FE-5670-4271-BD7E-2E92ACD7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机器人膝关节松弛度检测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2C2DB74-B385-4D5C-BC1D-124ECEF6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575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提供位移与端点刚度；证据来自尸体膝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9FAA443-7ECA-442C-975A-5C24FA6E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E7F0E67-B243-4C86-A7AB-13ED91E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C1882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1882F"/>
                </a:solidFill>
                <a:latin typeface="Arial"/>
                <a:ea typeface="Arial"/>
                <a:cs typeface="Arial"/>
              </a:rPr>
              <a:t>Sequential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6090D6C-5D91-4C0F-B664-4A33609B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贝叶斯序贯触诊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4FE983D-8B22-47E0-8570-4C21D1F1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624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能主动选点，但仍以离体/实验验证为主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048DE44-C0D3-47BC-8B2D-C1475ED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共同缺口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9133D2-6DEB-43B9-9479-847AA546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149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多数系统优化接触稳定或重建误差，尚未把“诊断不确定性下降”作为刺激序列的目标函数。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6A457E8-1C70-44C0-94DB-DC9FD3C7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 i="0">
                <a:solidFill>
                  <a:srgbClr val="8A838E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8A838E"/>
                </a:solidFill>
                <a:latin typeface="Arial"/>
                <a:ea typeface="Arial"/>
                <a:cs typeface="Arial"/>
              </a:rPr>
              <a:t>Evidence: Branch et al. 2017; tactile/palpation studies 2024–2025; Oehrn et al., Nature Medicine 2024. Details in notes.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11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03241a4cc49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1B.2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2BF4B3-7B00-4DA6-9519-FE97BC4D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近期最优组合是“多模态触诊 + 主动力轨迹”；闭环神经刺激适合作为长期专科路线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140ECF-EBE8-4E7E-8FE7-4D11BF5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Promising directions for response-based diagnosis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467BF6-0928-445B-AACF-33F7941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096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36013-90D7-40D2-ABFC-EF3ED231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B1D078-9C19-447B-A594-9A674D24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15FD07-FC11-4B28-8DA8-9E1C0408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5149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近期可实现性 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A3EB1F-3567-496A-8A26-CE96DDF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临床价值 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4187C-2905-4CD7-A272-848AEEC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rPr>
              <a:t>探索型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D0CE83-35A6-4988-B0B4-B45CAAF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优先区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7B18C-F156-4F42-8969-C29D5FAE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66035"/>
            <a:ext cx="19240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1882F"/>
          </a:solidFill>
          <a:ln xmlns:a="http://schemas.openxmlformats.org/drawingml/2006/main" w="19050">
            <a:solidFill>
              <a:srgbClr val="C1882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138427-7842-4BB1-AC89-4D8A41E9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2318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32634D-9689-484E-AB9E-894B17D2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1366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多模态触诊与刚度映射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76CF50-F979-4566-A4A5-3B19F1AE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28010"/>
            <a:ext cx="1809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1882F"/>
          </a:solidFill>
          <a:ln xmlns:a="http://schemas.openxmlformats.org/drawingml/2006/main" w="19050">
            <a:solidFill>
              <a:srgbClr val="C1882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1413F8-B76A-4276-AE0E-34F8C341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8516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659693-A50F-4A85-92FF-3286E02E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7563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主动力轨迹弹性检测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FC4929-C664-4D3C-A6AC-6AB176D5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8998"/>
            <a:ext cx="18859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0D6C8C-65CC-4127-A116-49B47E8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66148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1882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1882F"/>
                </a:solidFill>
                <a:latin typeface="Arial"/>
                <a:ea typeface="Arial"/>
                <a:cs typeface="Arial"/>
              </a:rPr>
              <a:t>R3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68BF8C-3BD4-4279-B3AB-1C08BDD8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56623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个体化肌骨 / 关节激发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C418FC-3085-4D4F-9D97-04402F33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81739"/>
            <a:ext cx="16954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9FD60A-F0B4-446C-B644-C1632905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8889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1882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1882F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C0E0DA-FCA4-4F67-9BD8-53A44CA9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29364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闭环神经刺激—响应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5FFF01-E664-4BA6-B955-409DFF7B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2987AF-EAD9-4BF3-A433-47C5D084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B90F89-D478-4659-AA2E-6F29F7BB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方向判断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014077-4DD6-4871-9C9B-28E33E49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D04376-6C75-43ED-BFEC-40FF0BA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R1：首选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ED305C-8C13-44DD-8E87-63054203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表浅器官、仿体和离体组织都可获得相对可靠真值。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177862-6627-44F3-B898-E615C966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99A47E-2A80-42BE-9B29-92FEA32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R2：算法亮点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B2C2AB-83BE-47CD-A26F-00B97077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主动选择压入点、方向和力轨迹，闭环收益可量化。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46D8BC-258B-463C-BD94-B6EAEB47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9C047C-90DF-4CCE-BB05-5EB4F335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R3：专科化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9B765D-0B9A-4CCC-9925-7588A22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需要标准化动作、个体化安全限值和临床参考。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16E332-C42A-4121-B529-CBCEDCFC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C81753-1135-4C89-A567-4697563F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R4：长期线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385DB1-5C17-4FF1-A464-8EA5604C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244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价值高，但监管、伦理和硬件门槛显著更高。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12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979fec3a84c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1B.2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B82ED2-51B6-463C-8116-927EF4AE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推荐切入：诊断不确定性驱动的多模态机器人触诊与弹性检测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3FDD00-6F5F-4BF7-A130-F721D5E2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Uncertainty-aware multimodal robotic palpation and elastography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878CB7-5101-4D90-AF80-9E21E0A1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3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B19EB2-E345-4793-A332-5856579E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E6EDA1-E3B8-43A8-A779-3911DCE9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9B9993-DD56-410D-B3D3-5F9669AE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56DB1F-614F-4A92-8D40-F660DC9B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287D81-C79B-4F48-B541-27CB9115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视觉 / 解剖先验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BD6137-BD25-4D51-8B7D-5E3D94C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定位可疑区域与安全接触面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C0F0BC-1D88-447A-85E7-1798C1FB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28A4F1-7942-4C8D-A3BD-19738791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8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46655A-883F-4618-BCCB-BBD6C697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选择触诊动作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329FB5-C9D2-418C-960D-FDCA6450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点位、方向、速度与力轨迹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4FE5F8-E837-4426-9C6C-05A35577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314A7A-0C38-414C-BD3A-547B1EC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B1740F-57F3-4998-AF44-BCC9FB76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多模态采集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5FB14E-8539-4AFF-9008-29A31A76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力 + 形变 + US/OCT + 位姿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CB45E8-FF7D-4634-B1E2-B7E2196B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3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12383">
            <a:solidFill>
              <a:srgbClr val="C1882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C3D173-14EF-4C4B-94A3-940EB00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5F8190-A1BC-4595-B641-239A98A7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置信状态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ECF152-FA71-4D02-93BE-41CAD5E6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163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刚度图、病灶概率与不确定性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AAD334-7E59-41B5-A606-B095094D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ADDE81-5485-4763-BCBB-ECA8434B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289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复扫 / 下一压入点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80FD78-88D8-4F6E-8F59-56A550F8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4BA6A4-A348-466F-9A07-B6CCC07E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771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8F6D25-5F9A-42B9-BD89-3E9A910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第一阶段实验路线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B004F8-A36B-4371-9104-A14594B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38650"/>
            <a:ext cx="5238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9D6F4B-D718-4B01-B311-5709219D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89D107-1D29-481C-84B6-5083FF1E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组织仿体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5BD176-468C-4173-9730-F2B1BBD0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已知刚度与病灶位置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F7DA71-B7E1-4856-9314-8B22D073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38650"/>
            <a:ext cx="5238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0">
            <a:solidFill>
              <a:srgbClr val="C1882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0BE4E0-741E-4012-8E6F-7D440C9F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40DD3A-FACE-40FB-843B-08CCFC9F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离体组织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FAF628-75FB-4F04-85FA-80C1E330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病理 / 力学真值共注册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45C143-0935-45F8-B98A-3C84934A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67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AD5966-9CDE-4EFA-9C19-59EDFCBA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浅表在体可行性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6CA4D4-BB0B-4BD0-9010-8CB42AC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医生监督与严格力限值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1670A1-3B39-47E3-989C-7AD1FBC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62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727F3A-0F35-49D4-898A-D2AD68C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solidFill>
              <a:srgbClr val="FBF3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65CE43B-73EA-45CC-A789-E8E304D7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573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C1882F"/>
                </a:solidFill>
                <a:latin typeface="Noto Sans SC Thin"/>
                <a:ea typeface="Noto Sans SC Thin"/>
                <a:cs typeface="Noto Sans SC Thin"/>
              </a:rPr>
              <a:t>必须报告的指标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E148E1-F9C0-4567-9587-688BCD05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4920C4-08C4-4A76-B6BC-8843D458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诊断收益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CBA91A-1BBD-4131-9083-BA63C53B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622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AUC/灵敏度随触诊点数与时间的变化。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EC49611-57B4-4322-9E4A-3986308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76C643-A2CA-4C25-A8BB-6F50FCB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力学质量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7B3D98-E71E-4065-825D-BD5740C0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刚度误差、覆盖率、滑移与低质量接触比例。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E7C6855-F7EF-4FF6-A99F-A93FD2B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70D89B-E4F5-4BF0-B07A-3EADD4D4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策略可信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5A0141-626D-49A3-88C7-5767913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005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停止校准、未检风险、跨患者与跨设备泛化。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92DE161-589F-4840-89FC-5FB5423C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82F"/>
          </a:solidFill>
          <a:ln xmlns:a="http://schemas.openxmlformats.org/drawingml/2006/main" w="9525">
            <a:solidFill>
              <a:srgbClr val="C1882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A36DDEE-9A6E-44E0-949F-3A97EAB0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安全与接管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55ACA9-62BC-41F6-B027-B6BF9DE6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96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峰值力、超限次数、人工接管及时性。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13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fc46ab2eb4a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1C.1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4FA2B9-D67D-4F2B-8FA2-52708945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采样式交互检测：完成进针只是中间步骤，合格样本才是终点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9CAEE-E88A-47DF-B5CC-4D75635B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Sample-Based Interactive Diagnosis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3490C1-9BE3-41F3-AF59-583FEA82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70FEAD-837D-46EF-AFCC-95ACAE1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SID · TARGET → SAMPLE → ADEQUACY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BA99B2-8A4D-413D-8B2C-0B0E7A48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B27272-82E5-4C89-8E19-B1A57B0A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2ED484-B704-4534-B5F7-5B0FB23A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F9E525-9D3A-4BF8-B1AD-EF6C02E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ACFE08-B7AB-4F4F-AE22-DB4FBFC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FFD01A-DD0F-4173-B008-A306555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FD10E9-182D-46E9-A21A-1D58766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目标定位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A107C3-8A52-4F2A-9DE9-B09E8EA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影像、解剖和诊断优先级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EE9F76-E8D1-4ADE-8191-915D1A9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3C3E53-E61F-48A3-9B92-E9E5F656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CFF75D-F588-47F5-B62D-055AE622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安全路径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9BA3D9-F8CB-4D16-AE3A-9FDFF828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血管、器官、变形与无菌约束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ED6C92-0DC9-4363-879D-C2624187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DF96D8-BA17-46EF-B904-93916551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4D3EDF-0466-4A70-8099-40486E39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采样动作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AD897C-71E5-42AF-A623-02E3C0A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穿刺、抽吸、切取、采血或拭子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739295-E8A6-48AC-A8CB-CF08FC8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859D71-2278-425D-B085-222CE5D6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A818E7-6B6E-4685-9028-90E9AB0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6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样本获得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AA47EE-F391-4818-AA91-43D48690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组织 / 细胞 / 体液 + 身份追踪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4741A2-AB18-494F-BB59-098E07CD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C7FBE6-26A7-47D2-89A9-542C29A7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26A283-3E25-45D6-A4BD-903465A0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充分性判断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8F7E28-A328-4B9A-8509-496A06AC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重采、换位、停止或转人工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155087-66F5-497D-9621-80257140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2D8633-8AD5-4C91-B426-EBFAB8C9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FCD6D9-FA70-46D4-8094-F99FB72F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采样动作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2F09C1-5B86-4F00-A90E-5BED9A46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粗针活检｜FNA｜内镜活检｜采血｜拭子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75DB60-6FB6-4B1A-87B4-A550AE17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Sampling action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0A13DEE-87C6-44E3-89AF-93289500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C5C6E4-7AB1-421B-A013-EABFEC9C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C0EC72-3ADF-4F2F-B2C4-5FDFB5F1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诊断证据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2C7915-A8E1-4727-949C-73D6A24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病理｜细胞学｜生化｜免疫｜分子结果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CDE8CB-235C-4645-A9A7-237EFE8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Diagnostic evidence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5907FA-3401-4654-B58E-7CA19C82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9CAA4D-AA76-445D-8F07-BCC14591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2414A9-A8B5-4FC9-A52E-5D602E5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关键约束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3A1FAC-6B0B-48A3-AA76-64AA91B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靶点误差｜出血｜无菌｜样本身份｜充分性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C497FC-B505-427E-951F-711BB123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562475"/>
            <a:ext cx="322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Safety and traceability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19145E-47A5-4A69-AC99-D0B64A7E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DAB278A-6B22-432B-9D50-FAF4751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核心闭环：当前样本质量决定是否重新定位、再次采样、停止或转人工。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14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9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2e467a49f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1C.1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275E29-AC00-405D-BAC0-49CA1E84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机器人采血已进入多中心临床验证；自主活检的短板集中在样本充分性与软组织变形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1DB55-0B8A-4D9F-B052-B69BCCE5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Capability maturity across the sampling chain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3A8EE-1A2D-46B5-99D7-9C58B609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429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56B59F-9AEA-4912-821F-04374327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2173F5-578D-4F3A-AF42-B03E1EEB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任务 / Task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A3D077-8578-439C-B591-4AC60287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57350"/>
            <a:ext cx="904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0FE58E-00EF-4FE0-AC57-11735B36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73355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靶点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定位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0E9125-A897-4FD2-B0C0-F7081143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57350"/>
            <a:ext cx="904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A8BD9E-ED31-462F-A7E4-EE2B072F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3355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路径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规划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7D630C-B179-4919-B978-6FEFCD58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904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3F886D-6532-4B5C-A3BF-14025990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3355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自动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进针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569B8D-CD99-416B-964A-CBB753E0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57350"/>
            <a:ext cx="904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04E4C2-FC5F-4CC3-BB70-688F0B7D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3355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自动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采样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A0E268-CD22-44EC-AF21-3871743E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904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F01E1A-C1CC-494C-992F-09A7FA0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3355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充分性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判断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F0A313-0A23-49D0-866A-4A3BF37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657350"/>
            <a:ext cx="904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DCEE1E-97E8-4B92-94AA-C6FD3954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人体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证据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598EFD-773F-4359-A905-BBE5E40B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5324EE-E685-42FF-B428-D158627C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机器人采血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16B0F2-11EB-439E-93CA-A58ABCFE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35743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205739-964D-443A-BAFA-6518023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235743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922AB2-31C7-4BF3-AEBB-847BFDBE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235743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B3C51A-3A93-495B-9A97-44082C99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888" y="235743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195359-ADE8-4823-94C1-9D32771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3" y="23764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90A77D-0BC5-4668-BE97-F3A34D8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235743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5B1C24-635D-4FFE-9D12-EA80809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5272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782A4C-89E6-4B68-82FD-95E9B121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经皮粗针活检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436317-9C2C-417D-99E3-566FD9A1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93846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9A86E4-988D-48EF-BD87-0300C355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293846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56CE6D-38FB-423E-B591-57AE57DF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29575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738312-D5AB-4CB4-A039-ED8C1DE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29575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2EC9F4-9CEC-4A69-BDF8-B7D908C2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29765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DA0FDC-CE6C-482F-AA2A-1D1F2FB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29575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9AF578-4EC1-4E8B-BE4C-75CC5AFD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5BE333-8A92-4F62-95A3-7FFEB220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细针抽吸 / FNA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6394B5-6ED0-4B89-B152-1B4157F5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873B1B-A827-4D7B-B47D-37A28967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6EC3A5-378C-433D-8709-35F9E316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8A3C7A-0510-4601-8C52-B7F98E97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666FAE-7081-4249-B10D-7FAB7FDB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35575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4C9859-9497-4065-A8AF-DF3805B4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E28E1F-3ED0-458F-B3C0-E9D0CE5F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BEB86C4-6357-40A4-8E71-C1FC647C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内镜活检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F6005EB-CB6C-4396-B776-83F0160B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410051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215F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7D996C-2072-48CF-B2F0-5034EDF1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41195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B26F36-A420-473C-8EC8-5187B3B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41386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CC7C46-2690-4D20-AF77-33A25414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41195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0FFA1BC-DF22-416F-B53E-1254BCC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41386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8F0C48-A0F5-41AF-8B13-7289EF1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1195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3DD3BA-8E77-4273-91AC-7328DBA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998FB28-52C2-4613-83B9-79F17FA8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经支气管活检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4DF3084-F83B-4CA5-9D42-54A5B0B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47005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5F9DF4-C3C2-4D14-821D-E6E63A96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47005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E08A50-F133-40D5-87BA-A9D693D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47196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D9B107E-7D4A-4E6F-89A9-433323FD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47005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D7B242-1778-4265-8DBB-C6B3BDF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47196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51419C6-3C89-4E2C-8737-4AA28522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7005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FFCFB59-F8FE-4E1F-B5E2-AB4127AD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742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12CD8FE-B90B-4AC5-804D-C29DAE61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骨髓 / 其他体液采集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4764523-5A95-49EC-93CA-A4C06E4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52816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1FEF651-7CAA-4EF2-BB7E-28C2DDF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53006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98DEBF-813A-4273-B40C-E67D3E24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53006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507AACC-038B-4D5E-850F-027F711B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52816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35FFBC-70B3-4418-8514-6AF6253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53006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A7C7D63-715F-4AAF-96D1-F7D638F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53006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E57C8C4-F67C-4E88-98EF-7500D86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4EE149F-9A68-41E5-9E44-44CBF069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B4576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B45769"/>
                </a:solidFill>
                <a:latin typeface="Arial"/>
                <a:ea typeface="Arial"/>
                <a:cs typeface="Arial"/>
              </a:rPr>
              <a:t>1,633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40000E0-3463-47DA-BEF4-8970EA6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常规使用受试者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D2D2576-E7C8-4AC0-BF2C-5000C148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526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2026 年自主机器人采血多中心队列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9A3148-EEFA-4DAD-A00F-F40053D7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2BAEAA-490A-49AD-85ED-796562D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B4576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B45769"/>
                </a:solidFill>
                <a:latin typeface="Arial"/>
                <a:ea typeface="Arial"/>
                <a:cs typeface="Arial"/>
              </a:rPr>
              <a:t>94.5%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76C58A-20FA-477A-AC1A-32B37AD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首针成功率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4031B4-C64E-4B9D-BB06-E6EC74DD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575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系统识别到合适静脉时；95% CI 93.3–95.5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154EED0-D659-4D2A-B034-4E61D307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C73D48-BD61-4BDD-81FD-B1D133E4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B4576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B45769"/>
                </a:solidFill>
                <a:latin typeface="Arial"/>
                <a:ea typeface="Arial"/>
                <a:cs typeface="Arial"/>
              </a:rPr>
              <a:t>0.6%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D28431-D1A7-4BA3-A428-211AF93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轻微不良事件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A7FC73-AB89-4448-B887-3AE48713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624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样本检测结果与人工采集具有分析等效性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83781B-E3E1-492E-9828-C23723FE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最大能力缺口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B16D0BD-66D2-4A52-8EA3-B2F013A1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149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“针到达目标”不等于“样本可诊断”；需要把光学、超声或快速病理充分性评价接回重采样动作。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1337A8-2942-4DAE-95DA-8236CF3D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 i="0">
                <a:solidFill>
                  <a:srgbClr val="8A838E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8A838E"/>
                </a:solidFill>
                <a:latin typeface="Arial"/>
                <a:ea typeface="Arial"/>
                <a:cs typeface="Arial"/>
              </a:rPr>
              <a:t>Scores: 0 none, 1 bench, 2 controlled/human feasibility, 3 mature representative evidence. Author coding; details in notes.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15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9600630ed4e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1C.2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E59A36-FB8D-4A27-BF0C-14288732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近期落地与核心创新应走双轨：机器人采血建立临床基准，充分性感知活检建立研究壁垒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D1BD34-91F3-48C0-9360-189913D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Promising directions for sample-based diagnosis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9A05EB-CCAF-422E-8DDC-DB21DD66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096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9AF6E8-C434-4319-B5B4-C173D0A7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37BBCC-202E-4079-BEEE-AC05F4B4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58CF0C-2B2C-4342-A5D0-984F0081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5149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近期可实现性 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BEE291-987F-46CD-ACCA-5EF47930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临床价值 / 创新性 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3C779C-D5B5-41C7-B2C9-E354E2F5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rPr>
              <a:t>探索型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358A30-BF37-4B89-B749-5AEA85B6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优先区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589A97-45EC-431E-87C1-FF41F6A6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41245"/>
            <a:ext cx="20193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5769"/>
          </a:solidFill>
          <a:ln xmlns:a="http://schemas.openxmlformats.org/drawingml/2006/main" w="19050">
            <a:solidFill>
              <a:srgbClr val="B4576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70179F-3B26-46AD-9C7B-CD01C663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9839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9C17D5-C422-4ACE-A5D3-E6C5447F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8887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样本充分性感知的自主活检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A19071-8ED7-49CA-BFC8-92521130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2095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F1A0A2-C700-4A92-B6E3-DE29378A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B4576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5769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9E8673-67A6-45A5-9FA5-CBDA995B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0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软组织变形下靶点与路径更新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A9087C-BF02-4352-B084-A2B6814A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31319"/>
            <a:ext cx="1809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FDC209-1EF9-42BC-BE3E-EDB95D1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88469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B4576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5769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4C3C55-AF22-421E-BA94-74C6544B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8944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内镜搜索—活检一体化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4F66EF-6FDE-4312-87A3-986BD7F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5121"/>
            <a:ext cx="20764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5769"/>
          </a:solidFill>
          <a:ln xmlns:a="http://schemas.openxmlformats.org/drawingml/2006/main" w="19050">
            <a:solidFill>
              <a:srgbClr val="B4576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199224-8F59-4D9D-B697-8A81B5B2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2271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ED9341-E133-4187-B3B5-DD1F2404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22746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闭环机器人采血与样本处理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DC985F-7B61-4762-A171-41EB23CA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51B21D-518F-4C06-9855-1C4B4148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0">
            <a:solidFill>
              <a:srgbClr val="F9EB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BECC0B-C840-41D4-AAD1-E9FDFDB3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双轨策略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586588-F96F-4857-A4DE-906E0560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E4618E-F69A-4FAE-880C-E86DC242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S4：临床基准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750F26-6FB3-49B0-AA82-DE0455F4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已有大样本人群数据，可研究工作流、体验和异常处理。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D695FA-5C50-4CE6-9670-9F55EBE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F6EA9A-0C15-4F92-BF12-8EC53A91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S1：论文主线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8C15F5-4C07-44C4-8C86-430A059E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把充分性概率接入重采样，闭环定义最清晰。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3C1FB9-3A77-4E95-8288-251FE8D3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026E77-257F-4C97-9149-FD540D11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S2：通用能力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26A0C7-B76B-4DEF-AB22-4005720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组织变形与呼吸运动决定真实穿刺可靠性。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E6763F-D472-42FA-ADB2-1B2691E9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C52BBB-FDF5-4147-B3E3-135A4109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S3：系统难题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222743F-E4F9-48F8-9E22-F789870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244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视野搜索、工具切换与活检质量需端到端协同。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16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23dad8c1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1C.2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3B1E4F-614A-4DF4-B4F0-94A0FEF0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推荐切入：样本充分性驱动的机器人活检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3A26B-AE35-49AA-BF53-EC0E0EA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Sample-adequacy-aware robotic biopsy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A052C3-69BB-442B-A145-BE173590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3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468D9D-4019-421F-8BA2-5E7FA6DD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9225F6-D1EF-41FC-A4E9-EDF19C7A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1731A7-92CB-4CC2-B167-678F1CDF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36160F-CB50-4B05-B7FB-1F34F88C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2717AB-F457-444F-9A38-732CFA6B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影像引导定位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1BE03F-2EAA-44EE-A949-D7687D50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目标 + 风险结构 + 软组织变形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168FAB-A158-485F-96B9-EC70855E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B7F758-D88B-47F4-82D6-AE509C64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8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6B5D9D-10E0-48C2-A01C-0FC11275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安全进针与取样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BE9606-8055-4DEF-8E49-9A11817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路径、针尖、接触与组织采集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EFA15C-1034-4049-B27D-829E87A5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AA6DAA-4E12-4D7B-926A-0F090AA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7A1ABB-EBF4-4029-85FF-31EA1BDD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快速充分性评价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1D60AA-B177-4504-B71B-54EC020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US / OCT / Raman / DRS / 快速显微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FAC4B5-A4A0-4EFA-8CD9-D476424B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3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9EBEE"/>
          </a:solidFill>
          <a:ln xmlns:a="http://schemas.openxmlformats.org/drawingml/2006/main" w="12383">
            <a:solidFill>
              <a:srgbClr val="B4576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DDFD28-39A6-4092-87F7-F135FC0B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592A35-ECCE-44DF-989D-D44ADF1E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充分性概率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D7CD68-263A-41B6-BC6C-02B2911B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163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目标组织、坏死、污染与样本量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F8FC07-DACC-4250-B8B0-9C036A6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C5C9FA-9AF0-4B49-AA3C-09D4E61D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289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重定位 / 重采样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DD9685-7B3F-4BCD-AE40-D8963472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AF3664-31B5-403B-9AAF-5E480327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771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243703-B037-413A-9746-1A4EA028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最安全的第一平台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B3CADB-43BD-4377-87C9-5A8C4A7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新鲜手术标本上的机器人粗针取样：病理共注册 + 针内/离体光学充分性评价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7882E2-B5C5-4A33-AF32-BBB2DACF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260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49DFDD-0A2B-4AE7-BDF0-133D9583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4554B9-4A1A-4BAD-9372-4748A5C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95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输入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4BFB43-E349-4F87-BCC3-97DCC35D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195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标本表面图像、靶区与风险结构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1872A8-888D-4B0B-BA26-38E61729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4686300"/>
            <a:ext cx="2260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D11BFE-8215-4C4D-91E0-EC58729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46863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21B25B-E60F-4954-A616-B52E39CE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450" y="4810125"/>
            <a:ext cx="195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闭环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97CA77-AB26-4C8D-92C7-0047E23F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450" y="5086350"/>
            <a:ext cx="195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取样 → 充分性 → 重采/停止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769CDBB-F529-4234-8A76-2E3DCF6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686300"/>
            <a:ext cx="2260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341EA0-F8C2-47CE-A27F-8597055E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6863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0">
            <a:solidFill>
              <a:srgbClr val="B4576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39509B-7969-4D6C-93F8-C24D1E16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4810125"/>
            <a:ext cx="195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真值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0A1844-9F11-4713-A0C1-E6B57CD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5086350"/>
            <a:ext cx="195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样本病理 + 位置共注册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C7E0FC-8FA5-42DF-8D88-83498B23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62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AF7BCB-D261-4562-BA08-1FA07E4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E"/>
          </a:solidFill>
          <a:ln xmlns:a="http://schemas.openxmlformats.org/drawingml/2006/main" w="0">
            <a:solidFill>
              <a:srgbClr val="F9EBE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CE9679A-A99C-48D7-BCDC-075A74E6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573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B45769"/>
                </a:solidFill>
                <a:latin typeface="Noto Sans SC Thin"/>
                <a:ea typeface="Noto Sans SC Thin"/>
                <a:cs typeface="Noto Sans SC Thin"/>
              </a:rPr>
              <a:t>核心评价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F8F323-71E2-478D-BE72-79393292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3E58052-CC81-4DFC-8A47-373DF59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样本终点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298A59-C470-4A95-8C53-5E820AF2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622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合格样本率、目标组织比例、坏死/污染率。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13114A-F181-45F7-A0AC-EE4BD70B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7070ED-104B-4122-864E-808038CB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动作成本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E820C98-56F6-4028-820B-C9CAAAB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进针次数、路径长度、时间与组织损伤。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273B24F-8E14-4E03-87FC-7F30A5AB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623085-E85F-4DDF-9995-9D7079DB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停止策略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77BEB2-88F8-4E75-972E-D172A9E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005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充分性校准、漏采风险和转人工规则。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231751-FD22-4075-B085-C4CD825E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769"/>
          </a:solidFill>
          <a:ln xmlns:a="http://schemas.openxmlformats.org/drawingml/2006/main" w="9525">
            <a:solidFill>
              <a:srgbClr val="B457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345A410-7DDC-40C3-A659-A38CBF64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泛化与安全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0E4745E-DF2D-4CD1-A7CD-2333C752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96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跨器官、跨针型、跨成像设备与异常恢复。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17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54f4110ee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86AB8C-83F9-4E36-A5C2-E9030FC8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实验室具身智能：结果与质量状态决定下一实验操作，而不只是自动执行协议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94AC54-5C1C-4615-82E3-373920F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Laboratory Diagnostics and Assay Development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37079B-6A20-4367-9609-CC9CE914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80D1B4-1755-4768-99D1-FAD37E1B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 · SAMPLE → ASSAY → ADAPT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A74897-EDAC-4141-9DD3-1AE42126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F6B9A3-5424-4B97-A505-9D0E030D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1EE720-A3EF-4D7C-9407-6321C5EE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595EA8-2DDC-4608-B66D-F087427E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B73D2B-9F83-46D2-92A2-389A5A0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F5ABDA-1713-466A-9A11-DE6D24E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DCE96B-0417-4FD3-9642-CC7B3FB5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样本接收与 QC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A631CF-D1F0-41C4-8381-E642D004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身份、体积、污染与前处理要求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6EF540-895A-4553-B8B2-94B6747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8E9082-1C70-4728-991B-A1DB3799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2B8389-2C64-4788-A403-4CD30A87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制备与操作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AC7E58-B29C-490D-A633-0D8A142E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分装、移液、离心、提取、孵育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6D03D1-1198-4901-8827-D1D7AC3D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8387DB-578A-45DA-B425-67CAE651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E86804-AF4E-4D54-82F9-297921B8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检测执行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201F99-DC0D-4A74-8882-6B91B15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微流控、显微、读板、光谱、质谱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F385DB-669D-4CFD-806A-A08F41EA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CC34D3-F449-4371-9B1A-B7C8B6B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B9400E-2DA8-495C-96B5-370F610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6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结果与不确定性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E23559-1379-4748-B766-7DEF0C52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质控、异常、置信度与批次效应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C11F51-0F4D-46DB-9BC4-4C1FFD06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7E8938-448D-496B-981B-F607645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61AE2B-5587-4F0E-8BC0-189244B7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下一实验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612821-8D4D-45C0-B540-95DB38C7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复测、确认、加测或优化协议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EDCEFD-DA81-47C6-A04D-AB859340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8855DC-DE1E-4C1B-BF39-F3A14F5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FFAA59-8808-4E4B-AE5F-88AC420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实体操作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AD1A12-4D3F-436C-AA5C-137522EE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样本、试剂、耗材和仪器必须被真实搬运与操控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2673F5-B8A0-4111-B199-E64E854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84B7C7-98E4-4B7C-A2FD-392C097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B348B7-F93A-48E1-B82A-05CCAEF8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跨设备协调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8B2319-F021-477F-B44F-4CA4683C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液体处理、培养、成像、分析和身份追踪需要统一状态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3F9F80-F580-46ED-A2A8-83CC4039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3048CD-63FA-488F-8040-34E0522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6BB3F3-CA20-427C-BE0B-8CAC4A1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闭环适应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135D03-6312-4C1F-B009-691C74FF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失败恢复、结果驱动的协议更新与新实验选择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4E7DFF-BBDC-4800-8D19-CEC6DD73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AF4F0B-E19F-4F20-902E-E6AFE883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判断标准：高自动化但结果不改变协议，仍是固定流水线；结果驱动的复测、加测和优化才形成闭环。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18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24280cd5448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C6877-6785-459C-9615-3894A0D9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当前实验室系统“会操作”多、“会根据结果改变实验”少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9815D0-068A-403B-8742-62C55A57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Physical automation versus result-driven adaptation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AD5767-7B5D-4BFE-AEDE-E890100E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81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8CF23-1C5C-4F8A-9A12-55D3329B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D3B7C6-3584-4BA2-B0A7-29646F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739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590611-9F15-45C2-B9BD-64AB45D4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5149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物理自动化程度 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EF0C60-FA50-40AC-A789-D0C09395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结果驱动适应程度 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30460D-FDD5-4C3C-B8B7-E90B0841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rPr>
              <a:t>探索型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5707C5-BB3F-4961-9D72-6C184A03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优先区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30EEC2-86E4-4663-99F0-964AD512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58" y="4617244"/>
            <a:ext cx="13525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CFF2BB-93E5-4D0B-BDF5-2AD4C6B9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058" y="4674394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3399A1-EF7D-479C-9362-F38836B0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708" y="4664869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临床分析仪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BE91EB-850D-4BB8-9018-A7C10CD9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865" y="4167664"/>
            <a:ext cx="13525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BBBA81-FA4C-4EFB-8447-CE4CC537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65" y="4224814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2405AD-C261-46A2-8FCE-C9F5D895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715" y="4215289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液体工作站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1EEE67-CF1B-481F-8EAF-80699BB2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3689985"/>
            <a:ext cx="16764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616FFE-8979-4F97-A948-D9025F70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374713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185723-2387-4BC3-AE36-FAC9571C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540" y="373761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跨设备实验机器人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23D5BB-A711-4AFE-98A4-3CDBD016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333" y="3240405"/>
            <a:ext cx="16192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E866C"/>
          </a:solidFill>
          <a:ln xmlns:a="http://schemas.openxmlformats.org/drawingml/2006/main" w="19050">
            <a:solidFill>
              <a:srgbClr val="3E866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AE38F5-D7AC-4601-9A08-09A2C8CE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533" y="329755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1F4DFB-3CC2-49C2-AC17-EA402D7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3" y="328803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主动显微 / 光谱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9092C4-BE03-46B6-B476-EFAFA1E4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2790825"/>
            <a:ext cx="16764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E866C"/>
          </a:solidFill>
          <a:ln xmlns:a="http://schemas.openxmlformats.org/drawingml/2006/main" w="19050">
            <a:solidFill>
              <a:srgbClr val="3E866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356F3E-CDDD-43AB-8FC0-79B2D955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540" y="2847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FBCF6D-D3D0-4A60-B6F5-41016AA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28384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闭环数字微流控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BDDC05-68C4-405D-B7EC-43702BE9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65" y="2341245"/>
            <a:ext cx="16192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B4D25B-A860-4E9B-A396-D8131FDA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239839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72195F-BC80-4700-B811-816BB252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015" y="238887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自驱动检测开发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07A3B7-CEFE-4CD9-855B-34A952D9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57350"/>
            <a:ext cx="2686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1F4F9F-B6B2-4F7A-BE94-B6AD07B8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71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2.74%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8B0CBC-E9B9-4541-9F7B-F062CE9D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μDropAI 分液 CV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37A9AE-C994-4837-8E9A-AD97857D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开环为 5.62%，70 次实验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872EB9-F161-4900-8BF1-CD658DD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686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A506ED-AB3D-4B15-80AC-F13972F8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Closed loop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A482A5-DE92-4E76-92BD-055BD3EE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ANL 自主实验室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618E48-DA40-40DD-B47E-7F2F630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575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培养—前处理—测量—分析—优化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FB834C-F8EE-470B-8BA9-96247F11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67150"/>
            <a:ext cx="2686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04EB173-F844-4A5C-ADA0-7DB687C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Adaptive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9D14D3-85E9-41B1-BC6B-D01090C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43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主动光谱显微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22CA1A-F06D-49D7-B1F6-7CEC44D1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减少采集时间，同时在高梯度区域加密采样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D616AE-5CB7-4861-BCC3-1AF2AB14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48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核心缺口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731514-817A-4147-92FD-FBB99594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149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跨设备失败恢复、批次漂移、样本身份与结果驱动的协议验证仍缺统一基准。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61AF4C8-72FD-43BF-B4BD-77B5D8C5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 i="0">
                <a:solidFill>
                  <a:srgbClr val="8A838E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8A838E"/>
                </a:solidFill>
                <a:latin typeface="Arial"/>
                <a:ea typeface="Arial"/>
                <a:cs typeface="Arial"/>
              </a:rPr>
              <a:t>Guo et al. 2024; Fushimi et al. 2025; Holman et al. 2020. Quadrant positions are qualitative author synthesis.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19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a563284594d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79D666-275C-4B5F-9CC8-CA12A6D6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主动读出与闭环微流控适合作为近期切入，自驱动检测开发适合作为中期整合目标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016DA1-7D61-4DD8-9B9E-44D0974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Promising directions for laboratory diagnostics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A73479-86B3-46FE-B180-80B1EBCF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096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5BAAC2-09E5-4B67-98E7-370632D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DD200-A315-444A-A72A-A283F90B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914E33-083C-487A-9768-9A5F1CF4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5149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近期可实现性 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4E2FB8-6F09-4C22-B82E-072235BF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诊断 / 研发价值 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5918F0-68E2-4CCF-93FB-02ADF9CE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rPr>
              <a:t>探索型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929416-77B8-4B0B-9FD6-0D964999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优先区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EC2DE9-1579-45A4-862C-9AFCFF8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93294"/>
            <a:ext cx="18478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102F54-628F-4DFB-9636-0D1719B8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50444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A6C730-213D-4000-9C65-F17A2C56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0919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通用实验室操作智能体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DB62F5-8F5B-4D54-924C-22630460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4207"/>
            <a:ext cx="1809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E866C"/>
          </a:solidFill>
          <a:ln xmlns:a="http://schemas.openxmlformats.org/drawingml/2006/main" w="19050">
            <a:solidFill>
              <a:srgbClr val="3E866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AB3274-C8BA-47EF-9961-F248B030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41357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AA85D0-4BC4-4178-9070-584069CD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1832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主动显微与光谱读出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1B3EF0-6E6B-4DC1-9024-4DBECF6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78430"/>
            <a:ext cx="16383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E866C"/>
          </a:solidFill>
          <a:ln xmlns:a="http://schemas.openxmlformats.org/drawingml/2006/main" w="19050">
            <a:solidFill>
              <a:srgbClr val="3E866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D900D8-63F9-45E9-811E-F27E354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3558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10517C-99AB-446B-93A4-264B3EA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6055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闭环微流控诊断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B96971-1D8A-4BE2-902A-E473874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97443"/>
            <a:ext cx="18859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EECB8C-6F29-49F2-9A59-77FBFD09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4593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E866C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3B3614-046E-4D69-A456-10C35CD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45068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自驱动检测与方案开发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EF1811-731B-4D6F-B2E3-F3302081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B16798-2A0F-4FD5-AB5E-39A45B9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EAF4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5C7ADC-7756-421B-86F9-6B9DCC9A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推荐顺序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FE81A5-4F41-44DD-A310-DF19EFA7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090672-DABD-46A2-BBA9-3E6F4AF8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L2：先做读出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408481-8742-4C28-B70D-D98314DA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主动选视野或波长，设备边界清晰，容易量化节省。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FE01E1-2674-487A-B15B-BA0D2D6E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68D43C-8DF2-450D-A42C-9767E5B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L3：形成闭环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92E539-BA8E-45D1-9A97-FAB9A2D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视觉反馈能检测液滴失败并即时纠正。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4E1BEC-1D39-478F-9339-4702A7EA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E90CF6-43DC-4A8D-BA16-1F0B9318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L4：中期整合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B3F1E6-56D6-4244-B159-6E9EDAB7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将下一实验选择、执行、读出与验证连接起来。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AA7C71-CD8B-4714-A8D9-6BEF3305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3B597A-D0A7-423E-9477-E25B0D75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L1：长期底座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C62725-87A6-4439-8045-0E1DFE93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244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跨仪器通用操作与异常恢复的硬件门槛最高。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20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6e2ca311147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5158F3-3FEA-4631-850D-1562CCC9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推荐核心方向：主动读出驱动的闭环检测与实验方案开发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BECBD7-1ACC-46E0-8AEE-CCF9326B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Closed-loop assay development with active readout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7BDB01-ECBE-4EE3-A7B7-454489BC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2343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BBC996-EAA2-4EA2-9D8F-E9DB54B9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2343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76A27E-C9FB-4195-A4F8-ADDCD54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2343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C4298-C175-4B16-AC80-26C8371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2343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0">
            <a:solidFill>
              <a:srgbClr val="3E866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E72BB3-7832-4C91-BFE8-3D934117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173B6E-97E5-4827-A96D-DD9342C6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FFCB88-BE40-483C-8779-2E027B22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6690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检测假设与设计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5C200-C7C2-40B6-8B0E-A63F6F75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目标、参数空间、成本与质量约束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4AD93F-9752-4170-9B04-93472DCE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175260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79F07A-3B6D-4D04-861B-B3C7E100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704DE1-7F86-4C5A-9948-8B035DF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186690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机器人执行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611A7F-A402-468D-9D61-86A7714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33362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液体处理、孵育、微流控与样本转移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FAD4D2-591F-4BAB-891A-C435A0D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75260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EBC33F-23A8-4592-AF59-7BE32762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E5072E-BD75-4A98-9AB3-A1A01720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186690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主动读出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C02A43-3114-4C3C-A31B-4B42C30E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33362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显微视野、波长、时间点或重复测量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429971-B94D-4F30-84B9-2992B757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175260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B08415-1ACE-4589-B8AE-4BC767A6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ECE79E-A037-4AF3-B070-5889739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65" y="186690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质量与不确定性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4CD76F-7D17-4372-9BDC-B080E23C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33362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批次、漂移、异常、置信度与可重复性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0E88CE-D98F-45DE-AF11-A2EDBA97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1752600"/>
            <a:ext cx="201168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383">
            <a:solidFill>
              <a:srgbClr val="3E866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16BAF7-79FA-4BD5-BA23-82C4179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115163-0726-4293-8A14-2DD9C8A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186690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下一实验 / 验证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32985C-54C0-4BC2-ACD5-91BFAAA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333625"/>
            <a:ext cx="17449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复测、加测、参数更新与外部验证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782557-14FD-490E-B959-FCD2EDD9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6953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C6D890-6492-4026-AD3B-8BD7F4D0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优先应用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577A7D-9B9F-460C-AEBC-ACC0DCDC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89645E-A231-46F8-9D68-F021E5F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抗菌药物敏感性检测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9F3FB2-7571-4E1A-A1FB-2344D5C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38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295119-E7CC-4400-81BA-EEF67FD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3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传染病多重检测面板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884DF7-F9D0-48C9-A78E-F822515F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7E9426-0BCD-485B-9C48-9F822B66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肿瘤标志物组合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B35014-4E9A-4A57-BBFC-B277C27E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67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E69C34-9FA5-4F2D-AAE2-5248EECB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672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试剂浓度与反应条件优化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78CD5A-7083-4CB4-9664-B97F7B86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66C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DE8B76-B965-4902-B706-5182DBF7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数字病理 / 细胞检测协议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1EF0CF2-556B-4BCF-99B0-29B2B6BD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3524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466E9F-443D-460C-98BC-89C0D615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评价指标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0D62BE-D1CD-4205-989B-722BE6F1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• 达到目标所需实验数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• 试剂与样本消耗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• 跨批次重复性与校准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• 失败检测与恢复率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• 协议、样本和数据可追溯性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94DB4C-2E7E-4480-98BD-C28AFA33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076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3E866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22FCEB-6D5D-40B3-A645-CB17E8C7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45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3E866C"/>
                </a:solidFill>
                <a:latin typeface="Noto Sans SC Thin"/>
                <a:ea typeface="Noto Sans SC Thin"/>
                <a:cs typeface="Noto Sans SC Thin"/>
              </a:rPr>
              <a:t>第一基准：固定网格/固定协议 vs 主动读出/贝叶斯实验策略；同时报告收益、成本与失败恢复。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21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223b52dc5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111616-547C-4B09-BA5A-3A6C0A9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日常具身监测：低负担持续观察，异常时主动确认，再提供支持或升级照护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8A897E-4CD5-406C-A76A-155B6B29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Everyday Embodied Monitoring and Adaptive Support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B4A6FB-F1D4-4072-891E-476F053B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000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B9BB6F-9919-4207-BA4B-489B6E96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280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EVERYDAY · OBSERVE → CONFIRM → 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2C146A-ECA3-415F-92B9-A544BE0D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B1A6D0-7F92-4D7F-9E45-6210ACC6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26570E-0EE5-42CB-B957-5D9F5B88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7216A1-D85F-4650-8F02-67EADD7D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2466975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678CE7-18EE-4B65-BA34-DC6F598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78026C-A8F2-4EAB-9C98-B0AFBBC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41589D-9E66-408B-AB3F-C5BD324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被动日常监测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31AC6A-D26B-4422-B3BD-CE619C5D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生理、行为、环境和设备状态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95EA16-3DFD-4A48-A45F-54BE4ECB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996BE1-A2D1-41E7-809D-056BC413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6AD161-1390-47EE-B38D-A342933E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变化或不确定性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07EC43-C2B0-4885-A1E5-32870666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偏离个人基线、数据缺失或风险上升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C7BEA6-7D81-4D48-B7C5-C2E4E6C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998FA4-673E-4BAC-BCBA-64394FE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6989B6-71D2-4CE2-BA43-679167A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主动确认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EDD0AE-E489-44CC-AC24-8524EEC0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提问、功能测试、新视角或短时加密采样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C998AA-1F15-4A02-9663-2D20AD5C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604A15-E206-402F-9A9B-1B1D0D5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9ABD07-124B-4BFA-9A63-D90EC478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6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风险与功能状态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83081D-8310-4198-A1C6-3D196A5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跌倒、衰弱、慢病恶化、认知变化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E7E51E-48BF-4F9A-896B-7E06F58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1924050"/>
            <a:ext cx="20116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480D17-7B43-401F-9499-ECA18665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038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80E7F9-965D-4350-B5B7-081C8019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2038350"/>
            <a:ext cx="1487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支持与升级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B9A9CB-FE25-4DC9-BD6E-3A343384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505075"/>
            <a:ext cx="17449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提示、辅助、照护者告警或临床转诊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D6AC09-0FED-4574-8F28-4DF92751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CFC2C4-93D2-4A56-8D5C-B88AD10D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A8248C-A26E-4592-82B9-1244E965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Observe / 观察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858F36-87FA-459D-B19A-252BB5F5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可穿戴、手机、环境传感器与移动机器人持续获取低负担证据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1FC5E1-3D81-4F6B-9F25-CD760E6A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FF7318-96A5-4B40-9042-240F1FE7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F7D62E-3C2B-46D6-9D7A-4AE7972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Confirm / 确认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AD32C4-6334-4B85-87B0-0520A91D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当置信不足时发起步态、语言、呼吸或日常功能任务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A1285D-EB8E-46E9-B963-9726984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3530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0F934E-6A29-44FD-A5B1-3279F9E3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524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A2E075-78FC-4353-8195-82A5AC39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48075"/>
            <a:ext cx="322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Support / 支持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C8AD36-08FB-4DF4-A4DB-C2CF0ADE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24300"/>
            <a:ext cx="322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个体化提醒、运动辅助、康复反馈和分级人工接管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E03614D-CEEC-4B2C-8B21-564621FD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D613677-B1FF-4373-8E85-1B2D2AA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安全边界：不能把“未检测到异常”当作“没有风险”；用户负担、隐私和人工升级必须进入目标函数。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22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b1ddb69ce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3.1 Meaning &amp; Current Situation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1C1CB1-439A-4A6E-B2BF-BBEE8516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被动纵向监测证据增长最快；主动确认、自适应支持与临床升级仍未真正连成闭环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08EE9D-AF9E-42B7-9967-F4AFAE85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Task × embodiment carrier landscape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00EC73-CE75-4059-9CCC-2925920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524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02C3CF-8F29-40A2-9E23-03FB724C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87D7BE-4703-417D-8D95-A63ADFD9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日常任务 / Task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785B31-BF3C-42A2-8B38-E368F89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57350"/>
            <a:ext cx="1057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3F889-F632-4AFB-A57B-A77AB41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62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Wearable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7F9062-1B72-4B4A-9D03-71D6E7B5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57350"/>
            <a:ext cx="1057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9CF0DE-1D31-4647-BCFB-51BFE51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62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Phone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BEF48-EB82-47F5-AC89-8D0F0BE0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657350"/>
            <a:ext cx="1057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CA1B2D-C8F2-49BF-8EA0-4DF0638C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62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Ambient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D0C44A-927C-4E7B-917F-07C5ACF1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1057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185F3-FEE0-4179-AAE7-4F14E9C6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Mobile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Robot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C648E8-3334-4D35-8D4D-A5B2AFC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57350"/>
            <a:ext cx="1057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CEEAAE-FBED-47DA-988D-AA04FEE0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62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Assistive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Device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9FD4FA-D30D-49C3-9692-7BEE7191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7524750" cy="50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F4935D-C64F-408C-A7B0-800E3C96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2066925" cy="370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生命体征与睡眠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4BDCE3-B0A9-41AB-935E-9DC4E9D2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09800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5A6A04-A988-4A4B-9AD3-A5830EF5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28850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C82762-D8CB-4EA1-A7BF-F4B5FAD6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9800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B76108-F506-4CFC-AD5C-6B7D65A0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5FA63A-3745-4E5C-87C1-87BB315D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209800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830A1D-78BC-41D5-825C-EAEC6FEE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28850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3965D2-FA5C-4BA3-B955-E9E7A8D1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94604A-7BB8-471A-AE36-02EE6496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28850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899F58-616A-4124-B79F-768C4AB1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7064"/>
            <a:ext cx="7524750" cy="50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2B041C-F2BA-44DD-93B3-D6686C59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2789"/>
            <a:ext cx="2066925" cy="370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步态、平衡与跌倒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79A70A-B9DE-42E7-B9EE-C6684B61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13264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D5DF29-56F7-4023-AD93-DEE9E64A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32314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B308D8-15EA-4646-9713-9D84F967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13264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E32BB4-CF70-47AC-B459-5651E5D8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2314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AB972A-1BBE-4546-892C-2E38CD12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13264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C9F54F-8A58-4EBD-9FE5-44385DF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32314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3AED24-AC64-49AA-B5BE-C350B723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3264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C1FEA1-DB78-437B-AEBE-BCEE0472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32314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05345A-DDB7-4B99-8D71-CBF515F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13264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BCF44B-3935-436B-AC4F-BDD2BA6F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32314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2A5FE2-7F78-450E-AE55-412F545E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0529"/>
            <a:ext cx="7524750" cy="50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23F5B7-B5D4-4714-A8CA-1D3E187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6254"/>
            <a:ext cx="2066925" cy="370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日常生活活动 / ADL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6D9C320-D3CA-4BC1-B384-381939F0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16729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4DBF2B-ECC4-469A-B8C2-D4B1C57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35779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A9FDE59-DE28-47D4-BE90-7CBE3CC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16729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E4C658F-9FBD-4429-9608-CDEB262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5779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13E488-5191-4DD7-B8DA-8E05811B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16729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A3B396B-6C6E-40E0-BCDB-926018F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35779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84DEBB1-128F-46FD-9A86-AC26C5E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6729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A2BC7D-364B-4817-B7FA-2C6D17B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5779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1C1CAE-8CDF-4C9C-9114-2EB3084F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16729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60B0FDF-B521-4D99-BE1D-9B494A4F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35779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BAEC36-B682-4037-943A-77EF699C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43993"/>
            <a:ext cx="7524750" cy="50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C017E8-DA27-4F20-B760-36624B91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9718"/>
            <a:ext cx="2066925" cy="370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认知、言语与情绪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44546C-890B-46E0-9798-B82C080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20193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6FDE954-9E4E-4550-A0E8-A5DDAD9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39243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32E06E7-2BB8-43D5-85DB-7B5809F3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20193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67226E-AB2B-42C1-AD84-CB74F91B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9243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C91CB3-1B42-4957-B066-B8E060D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20193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70608A5-158D-4EFA-8F8A-51EF448A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739243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8A6ECD-C32E-4D03-81A9-120712FD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20193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11AD22F-BA10-4926-ADA0-87C4260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9243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E614D9-C55D-48E8-8D50-F75E0D7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7457"/>
            <a:ext cx="7524750" cy="50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0CA58B4-1AF6-41D1-8027-DB286DF0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3182"/>
            <a:ext cx="2066925" cy="370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用药与依从性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4D49C9-D167-422B-BF39-0BE4BB4A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23657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33AE66E-F9E4-4B32-8535-4623ABC4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42707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D5F0DA-A01E-4DC9-BD30-0E9CF0F0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23657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0852CE6-85E2-444A-9387-266171E4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2707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FA323F1-2945-47EF-B3B5-3F7165D3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223657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BF0CD8A-6690-4184-AC8A-84B494B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42707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8909F86-71DE-4BCD-B49F-2119D35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3657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CF8B37C-4260-4D7C-AC52-64270454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2707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8F3B83-0EFC-4994-9ECC-AF17AC7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223657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DAF290-AEB2-4F70-B148-260C79FB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42707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9C533C-5440-4BF4-AF9C-BE513C06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0921"/>
            <a:ext cx="7524750" cy="50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C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475E105-6C0D-4EDD-8465-B4E8B3DD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6646"/>
            <a:ext cx="2066925" cy="370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慢病恶化与早期预警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2125AD8-5C2F-4B82-8066-726F1B0C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27121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9178BF-4C1B-49C6-BCE0-02C4C5B6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746171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A92555A-B1E5-4083-92DC-CECE980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27121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2A48180-B9FD-4661-A310-A009068A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6171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9EE2CAA-408A-4FEF-B87A-A4400289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27121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F8ADBD5-D70E-4B12-97A4-D70B5C90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746171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C346BDA-D690-4C5C-9B43-5EE5E70F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27121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E47761F-9BDF-492B-8221-7E25332D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46171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A4B55E3-F7D7-4DC3-9715-24DE5EB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27121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26087B-5C29-48C9-B972-6876DCD4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46171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6E77092-2954-4A50-A345-DA0E3728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54386"/>
            <a:ext cx="7524750" cy="50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AE4E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F822D1D-DD98-44EB-9C29-7FF300F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0111"/>
            <a:ext cx="2066925" cy="370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康复、运动与活动处方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EC814CC-38F8-4FF1-AE31-448BA707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30586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F4F1F5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C7B276-F649-4559-AED7-A8367F3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49636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FFA2100-0E97-4A57-A0E4-5DB5C506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30586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DEF3E26-32D8-4C85-A0D7-A6C5F577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49636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F7D3D8E-A713-47DA-9284-55195C7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30586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365B4D1-ACDB-49BB-9060-587DA6B2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49636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23B41AB-631F-4E1B-929C-7183B58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230586"/>
            <a:ext cx="904875" cy="351064"/>
          </a:xfrm>
          <a:prstGeom xmlns:a="http://schemas.openxmlformats.org/drawingml/2006/main" prst="roundRect">
            <a:avLst>
              <a:gd name="adj" fmla="val 32558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7620">
            <a:solidFill>
              <a:srgbClr val="586FA4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A280641-7068-4393-B9C0-9FFB0F3F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249636"/>
            <a:ext cx="866775" cy="3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2C137BC-150E-475C-BF8E-A2056B7B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752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M 监测   C 主动确认   S 自适应支持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D95AAE1-3217-4137-A92D-2EC7F97F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971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FFBCAC-D3E2-4A45-A96B-E9E193DE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Longitudinal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D8FFEE8-52F7-40E3-8694-F6660CD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家庭传感数据最成熟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E594BC8-5BA3-47C4-861C-1C82D939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526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睡眠、活动、步态与生理可长期采集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EF0499C-6FFF-4078-AD7F-8526A4CE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971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78AFD19-D72D-45BD-ACCC-9B0CB3F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EB1CE24-77E4-4787-AE01-AEDF0E53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机器人引导衰弱评估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D66895F-44D6-4FD4-879E-61B49C21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575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2026 预印本：多数时间/步态参数 ICC &gt; 0.9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D32197B-4E0E-4448-8299-DFDC568F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971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7BDBF71-6568-4261-A7DB-FA47D73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5835871-7BE4-4761-B2D2-661ED70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社交辅助机器人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6811165-AB85-48AC-8C54-57836D1F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62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可改善参与度，但临床终点并非一致显著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2EA01A4-8747-4FEF-A91E-06E865F0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关键缺口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71CB24-F188-4FE6-AA7A-621602BF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个体基线漂移、缺失数据、误报负担、隐私、公平性，以及告警后的真实照护流程。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012C61F-46EB-4EC6-AD29-78C8FC75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 i="0">
                <a:solidFill>
                  <a:srgbClr val="8A838E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8A838E"/>
                </a:solidFill>
                <a:latin typeface="Arial"/>
                <a:ea typeface="Arial"/>
                <a:cs typeface="Arial"/>
              </a:rPr>
              <a:t>Schütz et al. 2022; TIHM dataset 2023; Civit et al. 2026 preprint; Mlakar et al. 2025. Details in notes.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23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197be86d0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418455-755E-4524-95B7-8386E3D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最有研究价值的组合是“被动监测触发主动功能确认”，再接入分级支持与人工照护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17D0C7-FC24-4324-8995-96150276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Promising directions for everyday embodied monitoring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3A682F-D440-4E07-B2F9-FD81105E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096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E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D3FF2-FE60-4916-8D02-5C2639A3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98D948-F4F2-4810-8849-9F976A35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EC"/>
          </a:solidFill>
          <a:ln xmlns:a="http://schemas.openxmlformats.org/drawingml/2006/main" w="0">
            <a:solidFill>
              <a:srgbClr val="EA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255E2C-ED88-4981-BEBE-552EBE6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5149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近期可实现性 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17FE26-3B2B-486C-9F8B-F2C7E1ED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长期健康价值 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77B015-4295-4AB3-8144-E22AE380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A49DA8"/>
                </a:solidFill>
                <a:latin typeface="Noto Sans SC Thin"/>
                <a:ea typeface="Noto Sans SC Thin"/>
                <a:cs typeface="Noto Sans SC Thin"/>
              </a:rPr>
              <a:t>探索型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786C93-2F8B-4633-A2FB-F4F2DB2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优先区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B41154-DE41-472D-82F9-9FC216F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09838"/>
            <a:ext cx="19812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19050">
            <a:solidFill>
              <a:srgbClr val="586FA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D25236-C1CE-475A-9BFD-F5602572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66988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FD670B-49D0-4B1E-95A5-74205BAE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7463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主动多模态家庭健康监测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AF2CE1-F983-4F4E-808D-F0BAA1DF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15615"/>
            <a:ext cx="17716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6FA4"/>
          </a:solidFill>
          <a:ln xmlns:a="http://schemas.openxmlformats.org/drawingml/2006/main" w="19050">
            <a:solidFill>
              <a:srgbClr val="586FA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7DD0D5-D7BA-4BD0-A721-0C6757B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7276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AC7ACA-8A9C-4572-97B1-5E9DAC6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324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 i="0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机器人引导功能检查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ABE8B5-39B1-4B6F-8A39-78C1DD3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77590"/>
            <a:ext cx="18478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BF377A-E1D4-4F62-80E4-898C75E1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3474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E3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2AB1F8-747B-4687-B510-9A49C86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2521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个体化康复与行为支持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8654B3-59EB-48C5-BEF7-51A62ADB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97443"/>
            <a:ext cx="19621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42CE33-4B30-437A-BCBA-BFF6F11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4593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6FA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6FA4"/>
                </a:solidFill>
                <a:latin typeface="Arial"/>
                <a:ea typeface="Arial"/>
                <a:cs typeface="Arial"/>
              </a:rPr>
              <a:t>E4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EC30F1-0C31-4DC0-B094-A6A7756E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45068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安全升级与人机协同照护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1899F0-68DB-4845-B836-F224242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DEEC6C-1A2D-459A-9B4D-210F3DC1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0">
            <a:solidFill>
              <a:srgbClr val="EDF0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58AF5A-1906-41C5-8DD0-3058EC5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621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推荐闭环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578E17-4C83-4870-A4C4-54821CD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22D2F6-D356-4FB1-AE9A-87C6032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低负担基线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976FC4-2082-4604-81AA-BAB009EB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环境与可穿戴持续监测个人变化，而非只看人群阈值。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320AFA-552B-4739-A5B0-E5E9896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0DB02B-9130-490B-BD82-263FB8C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异常后确认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C68522-4230-45F4-8993-CC34641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机器人发起 TUG、步态、言语、呼吸或简单认知任务。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2E2E4E-1263-49A6-B39D-0A373F7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D08916-71A5-45D2-BC1F-BC6C4E3B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分级支持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06CCC5-5F34-47BE-A07C-114F3C79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先提示与辅助，再按风险升级给照护者或临床。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FC320B-7E4F-4C9D-B241-A3E5E4D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D83E8C8-755B-48B5-BC38-ACDBBD90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长期学习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CF4FE6-50C2-4DCE-92A6-C16C2D0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244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用反馈更新个人基线、用户偏好和告警策略。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24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7d2cf0bb346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3.2 Promising Directions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2FD41-1DA9-4F0C-BD1B-11D94033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推荐切入：不确定性感知的家庭监测与机器人引导功能确认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A04B9-FB8F-44A1-BEB4-2FCA5B7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Uncertainty-aware home monitoring and robot-led confirmation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4A5008-61B8-4C96-8A6E-670D335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3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44D05-954C-46E1-9067-C389DD14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DA357E-933E-4B52-9C3C-633860CE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23431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CFCEE6-ECE8-4E0B-91A2-096D886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CC3FAE-6F2F-40EE-B9F2-7A48AC81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E629AA-0BBD-46EF-94B5-7D28CA10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Wearable + Ambient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E6CB58-59B3-4A95-82DC-7263C44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生理、睡眠、行为、环境与设备状态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43C65C-2A44-4B3D-BA5E-310F48B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59022-A62E-439A-B1A1-6DBFFDB3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8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1A0FBA-44F6-45F8-B6D7-FB8F5554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变化检测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54F688-214A-4446-8E18-7E049487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个体基线、数据质量和上下文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2B776F-2462-4345-8521-E5B172E7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8C8537-7BC5-4BA1-BE58-B579D2A1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749239-E18C-4666-8DD5-A48D4596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风险与置信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577C49-92AE-473C-8999-0FD795E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区分真实变化、缺失与传感异常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30C633-7045-4E21-8CA5-1D95FA45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3" y="1752600"/>
            <a:ext cx="172878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0F8"/>
          </a:solidFill>
          <a:ln xmlns:a="http://schemas.openxmlformats.org/drawingml/2006/main" w="12383">
            <a:solidFill>
              <a:srgbClr val="586F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8CA52A-5446-46BF-BB53-C17B8261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1866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7BF5FD-990B-48AA-AEA1-0DC856B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1866900"/>
            <a:ext cx="12049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主动确认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CC9AA8-8C40-464C-B9D8-3705F75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163" y="2333625"/>
            <a:ext cx="14620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提问、TUG、步态、语言、呼吸或新视角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2692CB-EB17-48F2-AFD2-378B469E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0CF4B5-1552-4DA6-9E10-FEBFE2AA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28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更新个人基线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6730DA-6EEF-40A7-93BB-90C92558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0">
            <a:solidFill>
              <a:srgbClr val="586FA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EC18C2-CB5A-45C3-89E1-B39CD762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771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8D0504-3198-4B1E-AB03-8CB74D7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目标人群与确认任务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802151-B2DC-49A1-A21C-650651D6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27F381-5161-48E5-A755-B843E1C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老年衰弱 / 跌倒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836414-DE83-4F23-AD8A-78BA13CC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195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TUG、坐站与步态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146E84-F696-472A-B074-3A7C69B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1593B4-A4AA-4373-A9A2-BEB10B94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95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帕金森病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534E0D-31B8-4753-9A1D-D0907A74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95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步态、语音与运动波动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F6B33C-AD66-40F8-A497-0709044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E60695-C3CB-4DA8-A078-C5D2BE0A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COPD / 心衰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EBBAC0-C06C-4606-A60D-24E45EA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434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呼吸、活动与体征确认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A77115-646B-4142-87EA-20ABDB1F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9B1A37-CA8C-4D93-B7B2-8CAAC1A3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卒中 / 术后康复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5602D1-B0CD-4C81-A0EF-08532EE9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434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功能任务与活动处方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C6A232-76A0-4D76-B349-7FDBECC8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19021C6-2A8D-40A0-949D-85E8A913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认知下降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6BC3EC-EDD4-47F2-A1A4-B7C6C589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672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语言、日常活动与依从性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6B6FF4-CAE8-47DE-BC14-098E1C08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173DD4-00C1-428C-8041-81CE6C97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672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长期用药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984765-3B31-4364-A9CC-C4803A1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672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提醒、核验与异常升级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4AFAA2-5EEF-42B9-BAC0-742364E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62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C04778-A2E4-435E-8F49-9A8F656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8"/>
          </a:solidFill>
          <a:ln xmlns:a="http://schemas.openxmlformats.org/drawingml/2006/main" w="0">
            <a:solidFill>
              <a:srgbClr val="EDF0F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5A1DBC-0A0E-43B5-BB8B-C8B5EAF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573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 i="0">
                <a:solidFill>
                  <a:srgbClr val="586FA4"/>
                </a:solidFill>
                <a:latin typeface="Noto Sans SC Thin"/>
                <a:ea typeface="Noto Sans SC Thin"/>
                <a:cs typeface="Noto Sans SC Thin"/>
              </a:rPr>
              <a:t>必须报告的指标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3540D3-E57D-4915-B555-49DE28B9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26D2784-8CBC-47AC-86A7-3F9393A3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临床风险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19890E-B5F2-4B31-8B90-A4D91D2D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622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漏报、误报、恶化识别提前量与升级及时性。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C38CFB-BA02-4E60-A816-A79BFE9E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7B54B6-9D69-46FC-AD27-1AF3D28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用户负担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2912E4-C7B2-4F6F-97F5-DFF47100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主动确认频率、完成率、打扰与长期依从性。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1A949D-B14E-4315-9B17-41503719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6EA86F7-2C8A-4FB1-B395-2E472EE8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鲁棒与公平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EBDBA01-6473-41B4-8EF6-9CC5267A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005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缺失数据、家庭差异、年龄、语言与数字鸿沟。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0DB21A-C0BA-4B8E-BA14-A6451E1A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FA4"/>
          </a:solidFill>
          <a:ln xmlns:a="http://schemas.openxmlformats.org/drawingml/2006/main" w="9525">
            <a:solidFill>
              <a:srgbClr val="586F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BB018CA-2B90-444C-8CF7-6DD359D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隐私与接管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56DEC79-507C-4B75-A3BF-9436D32C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96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数据最小化、可解释告警和照护者确认闭环。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25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de410da6f49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Application Prioritization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Cross-Domain Synthesis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E1A7F-FE7C-44B1-8984-A871AD0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优先选择“可控环境、真值可获取、闭环收益可定义”的课题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E7767D-230C-454C-8136-64D99988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Cross-domain prioritization</a:t>
            </a:r>
          </a:p>
        </p:txBody>
      </p:sp>
      <p:graphicFrame>
        <p:nvGraphicFramePr>
          <p:cNvPr id="50" name=""/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110490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000125"/>
                <a:gridCol w="1000125"/>
                <a:gridCol w="1000125"/>
                <a:gridCol w="1095375"/>
                <a:gridCol w="5143500"/>
              </a:tblGrid>
              <a:tr h="5143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方向</a:t>
                      </a:r>
                    </a:p>
                  </a:txBody>
                  <a:tcPr marL="76200" marR="76200" marT="57150" marB="57150" anchor="ctr">
                    <a:solidFill>
                      <a:srgbClr val="8039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临床价值</a:t>
                      </a:r>
                    </a:p>
                  </a:txBody>
                  <a:tcPr marL="76200" marR="76200" marT="57150" marB="57150" anchor="ctr">
                    <a:solidFill>
                      <a:srgbClr val="8039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当前证据</a:t>
                      </a:r>
                    </a:p>
                  </a:txBody>
                  <a:tcPr marL="76200" marR="76200" marT="57150" marB="57150" anchor="ctr">
                    <a:solidFill>
                      <a:srgbClr val="8039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数据可得</a:t>
                      </a:r>
                    </a:p>
                  </a:txBody>
                  <a:tcPr marL="76200" marR="76200" marT="57150" marB="57150" anchor="ctr">
                    <a:solidFill>
                      <a:srgbClr val="8039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硬件门槛</a:t>
                      </a:r>
                    </a:p>
                  </a:txBody>
                  <a:tcPr marL="76200" marR="76200" marT="57150" marB="57150" anchor="ctr">
                    <a:solidFill>
                      <a:srgbClr val="8039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推荐首个课题</a:t>
                      </a:r>
                    </a:p>
                  </a:txBody>
                  <a:tcPr marL="76200" marR="76200" marT="57150" marB="57150" anchor="ctr">
                    <a:solidFill>
                      <a:srgbClr val="80398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F8190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主动观察 AOS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高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中高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3640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新鲜标本 / 口腔：主动光学—光谱扫描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1882F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响应交互 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高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较低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3640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多模态机器人触诊与主动力轨迹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B45769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采样交互 SID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很高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中*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较低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高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3640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样本充分性感知活检；采血作临床基准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E866C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实验室 LAB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高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中高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中高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3640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主动读出 + 闭环微流控 / 检测开发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86FA4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日常监测 E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高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中高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高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1A22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中低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3640"/>
                          </a:solidFill>
                          <a:latin typeface="Noto Sans SC Thin"/>
                          <a:ea typeface="Noto Sans SC Thin"/>
                          <a:cs typeface="Noto Sans SC Thin"/>
                        </a:rPr>
                        <a:t>被动监测触发机器人功能确认</a:t>
                      </a:r>
                    </a:p>
                  </a:txBody>
                  <a:tcPr marL="76200" marR="76200" marT="47625" marB="47625" anchor="ctr">
                    <a:solidFill>
                      <a:srgbClr val="FAF7FB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F4BD3F-4E93-4AA4-8256-321BAD2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25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* SID 内部成熟度分化明显：机器人采血已有多中心人体证据；充分性感知活检仍处研究早期。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6D973B-EE64-4B3D-9F98-C4A083CE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C1687F-471D-4980-BE79-94E0241F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近期组合：AOS 或 LAB 建立快速闭环论文；SID 建立战略性高价值主线；RID 与 Everyday 根据临床伙伴和硬件条件并行。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069F4405-91D5-4390-B523-0B6CA883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0624B92-3432-424F-BB5F-FDCE38C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26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883577-427B-4FA5-A935-D10B678A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6dff964364a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FFD434-FFF0-4AA8-B2BD-F06D127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Research Roadmap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143D85F-D5D1-4FD2-B8CD-62E302A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Common Evaluation Framework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3ED70E-7003-4EEC-A167-78B3764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0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第一篇论文要证明“主动闭环比固定流程更高效、更安全、更可信”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D3C2A4-AED5-41FE-87D9-FB9E343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F68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6874"/>
                </a:solidFill>
                <a:latin typeface="Arial"/>
                <a:ea typeface="Arial"/>
                <a:cs typeface="Arial"/>
              </a:rPr>
              <a:t>A 12–24 month research path and a common evaluation framework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EE38EE-EC93-4F29-88B0-1C0A015E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12–24 个月路线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1EE53A-5A45-481E-8EE9-35859713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8D40B8-5380-4FAF-A674-8BA249AF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0–6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040ABF-F17C-4CDB-B49E-2DAF4093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669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定义任务与基准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09C831-2149-4BAD-ADF0-E7E45F33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717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建立真值、成本模型、安全限值；实现固定网格 / 固定协议基线。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BC96E8-EEF2-49D4-9CA9-3F0122E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0">
            <a:solidFill>
              <a:srgbClr val="80398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431C99-6E27-4970-8FD6-155EA866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6–12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F2568B-DDF1-4138-BD05-15A26A3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384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完成可验证闭环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A64040-4302-448C-8651-A4DBD1A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在仿体、离体组织或台架上比较信息增益与诊断不确定性策略。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52B89A-19BE-490A-ADDE-3BA931F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12–24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937416-4FD3-4AA4-B0C9-1D9683C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0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做前瞻可行性验证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A5653F-493F-4E24-99CB-8B581DEF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148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0" i="0">
                <a:solidFill>
                  <a:srgbClr val="393640"/>
                </a:solidFill>
                <a:latin typeface="Noto Sans SC Thin"/>
                <a:ea typeface="Noto Sans SC Thin"/>
                <a:cs typeface="Noto Sans SC Thin"/>
              </a:rPr>
              <a:t>跨患者、设备、日期评估泛化；预注册停止、失败与转人工规则。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55DF8A-8015-4A60-B380-A576C191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38300"/>
            <a:ext cx="55054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70397B-8475-4B68-B9F6-251C0BB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192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统一评价：准确率之外还要报告什么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D77F67-057D-44EB-B9A6-4893A6E1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76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49D2FD-F0AD-4DB9-A10A-1C18A85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诊断—动作曲线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D9765A-6BDA-4E72-942F-2540D8B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性能随测点数、刺激次数、样本数变化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FC12D0-92F6-4B1C-AC35-87793A54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ADC9A9-AD56-4421-A2BA-477BF4F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336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诊断—时间曲线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E16CDC-67BA-4249-825B-818F4659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336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性能随采集 / 实验 / 确认时间变化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4EB263-6638-41AE-A315-BCA38CC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9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9CCBC8-EA14-4AF6-862D-9555676F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00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覆盖与漏检风险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41FE5A-2384-4DF1-983D-ABD94821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高风险区域覆盖、漏检与低质量证据比例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F82D88-1E7B-49D5-B6E3-0A9F30DE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76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FC5864-69E2-469B-BDA6-07F63E1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67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停止策略校准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A07687-4A6D-44B8-AE25-2DC043D7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何时证据充分；错误停止与过度测量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CE9F42-1B3B-4FF1-B2C4-93954EB9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43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B80399-9187-4765-BECA-0647812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338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安全与人工接管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E9A131-0878-48A0-8134-5C1E9C7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33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超限、失败恢复、接管及时性与审计轨迹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A1E7A7-67C4-4A44-B272-C644207C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398B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E29072-D21F-43CB-BCCE-B9E774A7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00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1B1A22"/>
                </a:solidFill>
                <a:latin typeface="Noto Sans SC Thin"/>
                <a:ea typeface="Noto Sans SC Thin"/>
                <a:cs typeface="Noto Sans SC Thin"/>
              </a:rPr>
              <a:t>泛化与可复现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6C9C1E-DE0E-4A52-BE1E-781635D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005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0" i="0">
                <a:solidFill>
                  <a:srgbClr val="6F6874"/>
                </a:solidFill>
                <a:latin typeface="Noto Sans SC Thin"/>
                <a:ea typeface="Noto Sans SC Thin"/>
                <a:cs typeface="Noto Sans SC Thin"/>
              </a:rPr>
              <a:t>跨患者、设备、日期、操作者与中心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94D6FC-E8E0-45D4-89B9-20841698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076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9525">
            <a:solidFill>
              <a:srgbClr val="80398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B1E9C9-1F84-4E96-AD19-1A3EBD8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45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 i="0">
                <a:solidFill>
                  <a:srgbClr val="80398B"/>
                </a:solidFill>
                <a:latin typeface="Noto Sans SC Thin"/>
                <a:ea typeface="Noto Sans SC Thin"/>
                <a:cs typeface="Noto Sans SC Thin"/>
              </a:rPr>
              <a:t>最小实验设计：固定流程 vs 质量/几何自适应 vs 诊断价值自适应；三者使用相同安全约束与总成本预算。</a:t>
            </a:r>
          </a:p>
        </p:txBody>
      </p:sp>
    </p:spTree>
    <p:extLst>
      <p:ext uri="{BB962C8B-B14F-4D97-AF65-F5344CB8AC3E}">
        <p14:creationId xmlns:p14="http://schemas.microsoft.com/office/powerpoint/2010/main" val="14780059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148d8100c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594"/>
            <a:ext cx="12193057" cy="6858594"/>
          </a:xfrm>
          <a:prstGeom xmlns:a="http://schemas.openxmlformats.org/drawingml/2006/main" prst="rect">
            <a:avLst/>
          </a:prstGeom>
        </p:spPr>
      </p:pic>
      <p:pic>
        <p:nvPicPr>
          <p:cNvPr id="25" name="图片 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bd3cd237484102"/>
          <a:srcRect xmlns:a="http://schemas.openxmlformats.org/drawingml/2006/main" l="0" t="20586" r="0" b="27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2354" y="266980"/>
            <a:ext cx="1840032" cy="711763"/>
          </a:xfrm>
          <a:prstGeom xmlns:a="http://schemas.openxmlformats.org/drawingml/2006/main" prst="rect">
            <a:avLst/>
          </a:prstGeom>
        </p:spPr>
      </p:pic>
      <p:pic>
        <p:nvPicPr>
          <p:cNvPr id="26" name="图片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bd3cd237484102"/>
          <a:srcRect xmlns:a="http://schemas.openxmlformats.org/drawingml/2006/main" l="0" t="20586" r="0" b="27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2354" y="266980"/>
            <a:ext cx="1840032" cy="711763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ECDE15E-4B92-4924-935B-E8BD7E48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495" y="2389957"/>
            <a:ext cx="6132202" cy="20774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 sz="33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300" b="1" i="0" u="none" cap="none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 Thin"/>
                <a:ea typeface="Noto Sans SC Thin"/>
                <a:cs typeface="Noto Sans SC Thin"/>
              </a:rPr>
              <a:t>谢谢！</a:t>
            </a:r>
            <a:endParaRPr sz="4800" b="1" i="0" u="none" kern="1200" cap="none" spc="0" baseline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 sz="33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3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Thank you</a:t>
            </a:r>
            <a:endParaRPr sz="4800" b="1" i="0" u="none" kern="1200" cap="none" spc="0" baseline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8DB7FE2D-98FA-4F80-B207-9F982B2E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333293" y="3957075"/>
            <a:ext cx="386860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alpha val="79000"/>
              </a:schemeClr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E3A7BC6-1369-4DD4-9607-F6D47227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495" y="4357370"/>
            <a:ext cx="6243378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866775">
              <a:buNone/>
            </a:pPr>
            <a:r>
              <a:rPr sz="2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Presenter: Wanran Sun    Date: August 11, 2026</a:t>
            </a:r>
            <a:endParaRPr sz="200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1269313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2026-08-11T12:39:11.1150000Z</dcterms:created>
  <dcterms:modified xsi:type="dcterms:W3CDTF">2026-08-11T12:39:11.1150000Z</dcterms:modified>
</coreProperties>
</file>