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31e6cee804648e9" /><Relationship Type="http://schemas.openxmlformats.org/officeDocument/2006/relationships/extended-properties" Target="/docProps/app.xml" Id="R95df247ba71a4938" /><Relationship Type="http://schemas.openxmlformats.org/officeDocument/2006/relationships/officeDocument" Target="/ppt/presentation.xml" Id="R2fb0ea2c72fb431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3622481a69f4bdc"/>
  </p:sldMasterIdLst>
  <p:notesMasterIdLst>
    <p:notesMasterId xmlns:r="http://schemas.openxmlformats.org/officeDocument/2006/relationships" r:id="R63dc9e2e6aae459a"/>
  </p:notesMasterIdLst>
  <p:sldIdLst>
    <p:sldId xmlns:r="http://schemas.openxmlformats.org/officeDocument/2006/relationships" id="256" r:id="Ra58ad681c4df4db1"/>
    <p:sldId xmlns:r="http://schemas.openxmlformats.org/officeDocument/2006/relationships" id="257" r:id="R89ae1255d03c43b4"/>
    <p:sldId xmlns:r="http://schemas.openxmlformats.org/officeDocument/2006/relationships" id="258" r:id="Rf6a385605e014bb5"/>
    <p:sldId xmlns:r="http://schemas.openxmlformats.org/officeDocument/2006/relationships" id="259" r:id="R2dbf5fc913c442eb"/>
    <p:sldId xmlns:r="http://schemas.openxmlformats.org/officeDocument/2006/relationships" id="260" r:id="Rbe495b3a07ea4285"/>
    <p:sldId xmlns:r="http://schemas.openxmlformats.org/officeDocument/2006/relationships" id="261" r:id="R9f4a0dbd8bc643b4"/>
    <p:sldId xmlns:r="http://schemas.openxmlformats.org/officeDocument/2006/relationships" id="262" r:id="Rbea5eaf0fa9e4747"/>
    <p:sldId xmlns:r="http://schemas.openxmlformats.org/officeDocument/2006/relationships" id="263" r:id="Re51b7f814b924c61"/>
    <p:sldId xmlns:r="http://schemas.openxmlformats.org/officeDocument/2006/relationships" id="264" r:id="R2fca1ac7defc42dd"/>
    <p:sldId xmlns:r="http://schemas.openxmlformats.org/officeDocument/2006/relationships" id="265" r:id="Radb6736921cc462d"/>
    <p:sldId xmlns:r="http://schemas.openxmlformats.org/officeDocument/2006/relationships" id="266" r:id="R7b8b5076ef114de7"/>
    <p:sldId xmlns:r="http://schemas.openxmlformats.org/officeDocument/2006/relationships" id="267" r:id="R9b870a66a31b4005"/>
    <p:sldId xmlns:r="http://schemas.openxmlformats.org/officeDocument/2006/relationships" id="268" r:id="Rdb2ded2650624eea"/>
    <p:sldId xmlns:r="http://schemas.openxmlformats.org/officeDocument/2006/relationships" id="269" r:id="R382b51edc2f34f5c"/>
    <p:sldId xmlns:r="http://schemas.openxmlformats.org/officeDocument/2006/relationships" id="270" r:id="R0882b485b61a47b7"/>
    <p:sldId xmlns:r="http://schemas.openxmlformats.org/officeDocument/2006/relationships" id="271" r:id="R41dba957de6c44fb"/>
    <p:sldId xmlns:r="http://schemas.openxmlformats.org/officeDocument/2006/relationships" id="272" r:id="Rf304b1cd0930448d"/>
    <p:sldId xmlns:r="http://schemas.openxmlformats.org/officeDocument/2006/relationships" id="273" r:id="Ra13fb57627eb490f"/>
    <p:sldId xmlns:r="http://schemas.openxmlformats.org/officeDocument/2006/relationships" id="274" r:id="Ra284f0dda2724778"/>
    <p:sldId xmlns:r="http://schemas.openxmlformats.org/officeDocument/2006/relationships" id="275" r:id="R656d77df42a64863"/>
    <p:sldId xmlns:r="http://schemas.openxmlformats.org/officeDocument/2006/relationships" id="276" r:id="R4d956c0a74df4010"/>
    <p:sldId xmlns:r="http://schemas.openxmlformats.org/officeDocument/2006/relationships" id="277" r:id="Re933e96c87ab4efb"/>
    <p:sldId xmlns:r="http://schemas.openxmlformats.org/officeDocument/2006/relationships" id="278" r:id="Rb4db4512084a452b"/>
    <p:sldId xmlns:r="http://schemas.openxmlformats.org/officeDocument/2006/relationships" id="279" r:id="R70abfc2118b1433b"/>
    <p:sldId xmlns:r="http://schemas.openxmlformats.org/officeDocument/2006/relationships" id="280" r:id="R0db0bc3b1fdd43f1"/>
    <p:sldId xmlns:r="http://schemas.openxmlformats.org/officeDocument/2006/relationships" id="281" r:id="R5eecdc115ecd47be"/>
    <p:sldId xmlns:r="http://schemas.openxmlformats.org/officeDocument/2006/relationships" id="282" r:id="R90058990181245f8"/>
    <p:sldId xmlns:r="http://schemas.openxmlformats.org/officeDocument/2006/relationships" id="283" r:id="Rcad6852a1e434918"/>
    <p:sldId xmlns:r="http://schemas.openxmlformats.org/officeDocument/2006/relationships" id="284" r:id="R4d926950325d46e6"/>
    <p:sldId xmlns:r="http://schemas.openxmlformats.org/officeDocument/2006/relationships" id="285" r:id="Rbf7cfe37a69545e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中度样式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2ce4134e6ef469c" /><Relationship Type="http://schemas.openxmlformats.org/officeDocument/2006/relationships/slideMaster" Target="/ppt/slideMasters/slideMaster1.xml" Id="R43622481a69f4bdc" /><Relationship Type="http://schemas.openxmlformats.org/officeDocument/2006/relationships/notesMaster" Target="/ppt/notesMasters/notesMaster1.xml" Id="R63dc9e2e6aae459a" /><Relationship Type="http://schemas.openxmlformats.org/officeDocument/2006/relationships/presProps" Target="/ppt/presProps.xml" Id="R108dcac7bc28484c" /><Relationship Type="http://schemas.openxmlformats.org/officeDocument/2006/relationships/viewProps" Target="/ppt/viewProps.xml" Id="R7b63ab0cabd249a4" /><Relationship Type="http://schemas.openxmlformats.org/officeDocument/2006/relationships/tableStyles" Target="/ppt/tableStyles.xml" Id="Rc760100dc01d482d" /><Relationship Type="http://schemas.openxmlformats.org/officeDocument/2006/relationships/slide" Target="/ppt/slides/slide1.xml" Id="Ra58ad681c4df4db1" /><Relationship Type="http://schemas.openxmlformats.org/officeDocument/2006/relationships/slide" Target="/ppt/slides/slide2.xml" Id="R89ae1255d03c43b4" /><Relationship Type="http://schemas.openxmlformats.org/officeDocument/2006/relationships/slide" Target="/ppt/slides/slide3.xml" Id="Rf6a385605e014bb5" /><Relationship Type="http://schemas.openxmlformats.org/officeDocument/2006/relationships/slide" Target="/ppt/slides/slide4.xml" Id="R2dbf5fc913c442eb" /><Relationship Type="http://schemas.openxmlformats.org/officeDocument/2006/relationships/slide" Target="/ppt/slides/slide5.xml" Id="Rbe495b3a07ea4285" /><Relationship Type="http://schemas.openxmlformats.org/officeDocument/2006/relationships/slide" Target="/ppt/slides/slide6.xml" Id="R9f4a0dbd8bc643b4" /><Relationship Type="http://schemas.openxmlformats.org/officeDocument/2006/relationships/slide" Target="/ppt/slides/slide7.xml" Id="Rbea5eaf0fa9e4747" /><Relationship Type="http://schemas.openxmlformats.org/officeDocument/2006/relationships/slide" Target="/ppt/slides/slide8.xml" Id="Re51b7f814b924c61" /><Relationship Type="http://schemas.openxmlformats.org/officeDocument/2006/relationships/slide" Target="/ppt/slides/slide9.xml" Id="R2fca1ac7defc42dd" /><Relationship Type="http://schemas.openxmlformats.org/officeDocument/2006/relationships/slide" Target="/ppt/slides/slide10.xml" Id="Radb6736921cc462d" /><Relationship Type="http://schemas.openxmlformats.org/officeDocument/2006/relationships/slide" Target="/ppt/slides/slide11.xml" Id="R7b8b5076ef114de7" /><Relationship Type="http://schemas.openxmlformats.org/officeDocument/2006/relationships/slide" Target="/ppt/slides/slide12.xml" Id="R9b870a66a31b4005" /><Relationship Type="http://schemas.openxmlformats.org/officeDocument/2006/relationships/slide" Target="/ppt/slides/slide13.xml" Id="Rdb2ded2650624eea" /><Relationship Type="http://schemas.openxmlformats.org/officeDocument/2006/relationships/slide" Target="/ppt/slides/slide14.xml" Id="R382b51edc2f34f5c" /><Relationship Type="http://schemas.openxmlformats.org/officeDocument/2006/relationships/slide" Target="/ppt/slides/slide15.xml" Id="R0882b485b61a47b7" /><Relationship Type="http://schemas.openxmlformats.org/officeDocument/2006/relationships/slide" Target="/ppt/slides/slide16.xml" Id="R41dba957de6c44fb" /><Relationship Type="http://schemas.openxmlformats.org/officeDocument/2006/relationships/slide" Target="/ppt/slides/slide17.xml" Id="Rf304b1cd0930448d" /><Relationship Type="http://schemas.openxmlformats.org/officeDocument/2006/relationships/slide" Target="/ppt/slides/slide18.xml" Id="Ra13fb57627eb490f" /><Relationship Type="http://schemas.openxmlformats.org/officeDocument/2006/relationships/slide" Target="/ppt/slides/slide19.xml" Id="Ra284f0dda2724778" /><Relationship Type="http://schemas.openxmlformats.org/officeDocument/2006/relationships/slide" Target="/ppt/slides/slide20.xml" Id="R656d77df42a64863" /><Relationship Type="http://schemas.openxmlformats.org/officeDocument/2006/relationships/slide" Target="/ppt/slides/slide21.xml" Id="R4d956c0a74df4010" /><Relationship Type="http://schemas.openxmlformats.org/officeDocument/2006/relationships/slide" Target="/ppt/slides/slide22.xml" Id="Re933e96c87ab4efb" /><Relationship Type="http://schemas.openxmlformats.org/officeDocument/2006/relationships/slide" Target="/ppt/slides/slide23.xml" Id="Rb4db4512084a452b" /><Relationship Type="http://schemas.openxmlformats.org/officeDocument/2006/relationships/slide" Target="/ppt/slides/slide24.xml" Id="R70abfc2118b1433b" /><Relationship Type="http://schemas.openxmlformats.org/officeDocument/2006/relationships/slide" Target="/ppt/slides/slide25.xml" Id="R0db0bc3b1fdd43f1" /><Relationship Type="http://schemas.openxmlformats.org/officeDocument/2006/relationships/slide" Target="/ppt/slides/slide26.xml" Id="R5eecdc115ecd47be" /><Relationship Type="http://schemas.openxmlformats.org/officeDocument/2006/relationships/slide" Target="/ppt/slides/slide27.xml" Id="R90058990181245f8" /><Relationship Type="http://schemas.openxmlformats.org/officeDocument/2006/relationships/slide" Target="/ppt/slides/slide28.xml" Id="Rcad6852a1e434918" /><Relationship Type="http://schemas.openxmlformats.org/officeDocument/2006/relationships/slide" Target="/ppt/slides/slide29.xml" Id="R4d926950325d46e6" /><Relationship Type="http://schemas.openxmlformats.org/officeDocument/2006/relationships/slide" Target="/ppt/slides/slide30.xml" Id="Rbf7cfe37a69545e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2556887c439405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主题​​">
  <a:themeElements>
    <a:clrScheme name="自定义 958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409C"/>
      </a:accent1>
      <a:accent2>
        <a:srgbClr val="00409E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自定义 958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1795a53cc3d4afe" /><Relationship Type="http://schemas.openxmlformats.org/officeDocument/2006/relationships/notesMaster" Target="/ppt/notesMasters/notesMaster1.xml" Id="R0e59aab07cc6440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6c0e3b87c3b4c41" /><Relationship Type="http://schemas.openxmlformats.org/officeDocument/2006/relationships/notesMaster" Target="/ppt/notesMasters/notesMaster1.xml" Id="Rdead3cb050fc464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8a55368df8f476e" /><Relationship Type="http://schemas.openxmlformats.org/officeDocument/2006/relationships/notesMaster" Target="/ppt/notesMasters/notesMaster1.xml" Id="Rdc23bfee499c4e0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422e15b52af4ac4" /><Relationship Type="http://schemas.openxmlformats.org/officeDocument/2006/relationships/notesMaster" Target="/ppt/notesMasters/notesMaster1.xml" Id="Rf213728e03894e5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d7fb155f96b44b4" /><Relationship Type="http://schemas.openxmlformats.org/officeDocument/2006/relationships/notesMaster" Target="/ppt/notesMasters/notesMaster1.xml" Id="Rb56f31f988c7452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38081288cf5401f" /><Relationship Type="http://schemas.openxmlformats.org/officeDocument/2006/relationships/notesMaster" Target="/ppt/notesMasters/notesMaster1.xml" Id="R1fc2aa2e773e455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59e006b5ce0405d" /><Relationship Type="http://schemas.openxmlformats.org/officeDocument/2006/relationships/notesMaster" Target="/ppt/notesMasters/notesMaster1.xml" Id="R60aba31d2acb44d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e92cdc9ae634a14" /><Relationship Type="http://schemas.openxmlformats.org/officeDocument/2006/relationships/notesMaster" Target="/ppt/notesMasters/notesMaster1.xml" Id="R7790dd3970824fe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153b2f25ab647f6" /><Relationship Type="http://schemas.openxmlformats.org/officeDocument/2006/relationships/notesMaster" Target="/ppt/notesMasters/notesMaster1.xml" Id="R6297e1589e4943e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c65d65b1220483b" /><Relationship Type="http://schemas.openxmlformats.org/officeDocument/2006/relationships/notesMaster" Target="/ppt/notesMasters/notesMaster1.xml" Id="R08d76f4dcac546f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f8bd18c4ab54854" /><Relationship Type="http://schemas.openxmlformats.org/officeDocument/2006/relationships/notesMaster" Target="/ppt/notesMasters/notesMaster1.xml" Id="Ra357ac8a42a1472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633da05e5554146" /><Relationship Type="http://schemas.openxmlformats.org/officeDocument/2006/relationships/notesMaster" Target="/ppt/notesMasters/notesMaster1.xml" Id="R33d5db614d0b498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35cc367d2ba4120" /><Relationship Type="http://schemas.openxmlformats.org/officeDocument/2006/relationships/notesMaster" Target="/ppt/notesMasters/notesMaster1.xml" Id="Rd71bfad57fdd43b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1fb952f45144fb2" /><Relationship Type="http://schemas.openxmlformats.org/officeDocument/2006/relationships/notesMaster" Target="/ppt/notesMasters/notesMaster1.xml" Id="Rf3c9c48b8d28452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6eab8d8b9f94091" /><Relationship Type="http://schemas.openxmlformats.org/officeDocument/2006/relationships/notesMaster" Target="/ppt/notesMasters/notesMaster1.xml" Id="R94a22d88196048e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a37e0e7606c4077" /><Relationship Type="http://schemas.openxmlformats.org/officeDocument/2006/relationships/notesMaster" Target="/ppt/notesMasters/notesMaster1.xml" Id="R1e37c916b13b421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dfd7824d98945c7" /><Relationship Type="http://schemas.openxmlformats.org/officeDocument/2006/relationships/notesMaster" Target="/ppt/notesMasters/notesMaster1.xml" Id="R108ad92346044ee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9cbf79e2b034cef" /><Relationship Type="http://schemas.openxmlformats.org/officeDocument/2006/relationships/notesMaster" Target="/ppt/notesMasters/notesMaster1.xml" Id="Rf979459cef654d4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8d1946dbc9f4885" /><Relationship Type="http://schemas.openxmlformats.org/officeDocument/2006/relationships/notesMaster" Target="/ppt/notesMasters/notesMaster1.xml" Id="R1c16c88fb6d5455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9b78ee70a944757" /><Relationship Type="http://schemas.openxmlformats.org/officeDocument/2006/relationships/notesMaster" Target="/ppt/notesMasters/notesMaster1.xml" Id="Ra7e7ecb32d674f71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84db5bcffb940f0" /><Relationship Type="http://schemas.openxmlformats.org/officeDocument/2006/relationships/notesMaster" Target="/ppt/notesMasters/notesMaster1.xml" Id="R3dc503c120304fe0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706e2cab71d547a8" /><Relationship Type="http://schemas.openxmlformats.org/officeDocument/2006/relationships/notesMaster" Target="/ppt/notesMasters/notesMaster1.xml" Id="R7bb8effbeb27470f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19d1d16eb8ab4d02" /><Relationship Type="http://schemas.openxmlformats.org/officeDocument/2006/relationships/notesMaster" Target="/ppt/notesMasters/notesMaster1.xml" Id="R297f0985aaa54b2e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10a95998103a42b9" /><Relationship Type="http://schemas.openxmlformats.org/officeDocument/2006/relationships/notesMaster" Target="/ppt/notesMasters/notesMaster1.xml" Id="Rfd8440fb4d364a03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de5d1859ecd144a7" /><Relationship Type="http://schemas.openxmlformats.org/officeDocument/2006/relationships/notesMaster" Target="/ppt/notesMasters/notesMaster1.xml" Id="Rc3b2021eca124347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d432a3ac2c064bc5" /><Relationship Type="http://schemas.openxmlformats.org/officeDocument/2006/relationships/notesMaster" Target="/ppt/notesMasters/notesMaster1.xml" Id="R14b51d028bc04d5f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a2731efd199e48df" /><Relationship Type="http://schemas.openxmlformats.org/officeDocument/2006/relationships/notesMaster" Target="/ppt/notesMasters/notesMaster1.xml" Id="Rbbe03c113f324fae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26ae4a61182e4939" /><Relationship Type="http://schemas.openxmlformats.org/officeDocument/2006/relationships/notesMaster" Target="/ppt/notesMasters/notesMaster1.xml" Id="R3a027c252db248d3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50c5da2140904bef" /><Relationship Type="http://schemas.openxmlformats.org/officeDocument/2006/relationships/notesMaster" Target="/ppt/notesMasters/notesMaster1.xml" Id="R4d3b4996ada44968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0bcd3d0647ba402f" /><Relationship Type="http://schemas.openxmlformats.org/officeDocument/2006/relationships/notesMaster" Target="/ppt/notesMasters/notesMaster1.xml" Id="R541cad795a6a475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孔阵列如图所示，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孔阵列如图所示，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clinical detection and intervention</a:t>
            </a:r>
            <a:r>
              <a:t>中</a:t>
            </a:r>
            <a:r>
              <a:t>active obsercational sensing</a:t>
            </a:r>
            <a:r>
              <a:t>的</a:t>
            </a:r>
            <a:r>
              <a:t>meaning</a:t>
            </a:r>
            <a:r>
              <a:t>以及闭环流程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[Sources]</a:t>
            </a:r>
            <a:endParaRPr/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repo:data/literature_task_assignments_all_snapshots.csv</a:t>
            </a:r>
            <a:endParaRPr/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[Sources]</a:t>
            </a:r>
            <a:endParaRPr/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https://doi.org/10.1038/s41467-024-48421-y</a:t>
            </a:r>
            <a:endParaRPr/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https://doi.org/10.1038/s41467-025-62865-w</a:t>
            </a:r>
            <a:endParaRPr/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[Sources]</a:t>
            </a:r>
            <a:endParaRPr/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repo:data/bibliometrics</a:t>
            </a:r>
            <a:endParaRPr/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[Sources]</a:t>
            </a:r>
            <a:endParaRPr/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/>
            </a:r>
            <a:endParaRPr/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[Sources]</a:t>
            </a:r>
            <a:endParaRPr/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repo:data/literature_task_assignments_all_snapshots.csv</a:t>
            </a:r>
            <a:endParaRPr/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[Sources]</a:t>
            </a:r>
            <a:endParaRPr/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https://doi.org/10.34133/cbsystems.0348</a:t>
            </a:r>
            <a:endParaRPr/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[Sources]</a:t>
            </a:r>
            <a:endParaRPr/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https://doi.org/10.1016/j.neuroimage.2015.09.013</a:t>
            </a:r>
            <a:endParaRPr/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https://doi.org/10.1109/TNSRE.2021.3105696</a:t>
            </a:r>
            <a:endParaRPr/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[Sources]</a:t>
            </a:r>
            <a:endParaRPr/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/>
            </a:r>
            <a:endParaRPr/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[Sources]</a:t>
            </a:r>
            <a:endParaRPr/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repo:data/literature_task_assignments_all_snapshots.csv</a:t>
            </a:r>
            <a:endParaRPr/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[Sources]</a:t>
            </a:r>
            <a:endParaRPr/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https://doi.org/10.1016/j.chest.2025.04.022</a:t>
            </a:r>
            <a:endParaRPr/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[Sources]</a:t>
            </a:r>
            <a:endParaRPr/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https://doi.org/10.1093/clinchem/hvag029</a:t>
            </a:r>
            <a:endParaRPr/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https://pubmed.ncbi.nlm.nih.gov/38167977/</a:t>
            </a:r>
            <a:endParaRPr/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[Sources]</a:t>
            </a:r>
            <a:endParaRPr/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/>
            </a:r>
            <a:endParaRPr/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[Sources]</a:t>
            </a:r>
            <a:endParaRPr/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https://pubmed.ncbi.nlm.nih.gov/37812770/</a:t>
            </a:r>
            <a:endParaRPr/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[Sources]</a:t>
            </a:r>
            <a:endParaRPr/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https://doi.org/10.1038/s41586-022-05408-3</a:t>
            </a:r>
            <a:endParaRPr/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https://pubmed.ncbi.nlm.nih.gov/37476053/</a:t>
            </a:r>
            <a:endParaRPr/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[Sources]</a:t>
            </a:r>
            <a:endParaRPr/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https://doi.org/10.1038/s44286-023-00002-4</a:t>
            </a:r>
            <a:endParaRPr/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[Sources]</a:t>
            </a:r>
            <a:endParaRPr/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/>
            </a:r>
            <a:endParaRPr/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[Sources]</a:t>
            </a:r>
            <a:endParaRPr/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/>
            </a:r>
            <a:endParaRPr/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[Sources]</a:t>
            </a:r>
            <a:endParaRPr/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https://doi.org/10.1056/NEJMoa1901183</a:t>
            </a:r>
            <a:endParaRPr/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https://doi.org/10.1038/s41591-022-01932-x</a:t>
            </a:r>
            <a:endParaRPr/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https://doi.org/10.1038/s41551-020-00640-6</a:t>
            </a:r>
            <a:endParaRPr/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[Sources]</a:t>
            </a:r>
            <a:endParaRPr/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https://doi.org/10.1038/s41551-020-00640-6</a:t>
            </a:r>
            <a:endParaRPr/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https://doi.org/10.1038/s41591-022-01932-x</a:t>
            </a:r>
            <a:endParaRPr/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[Sources]</a:t>
            </a:r>
            <a:endParaRPr/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https://doi.org/10.1056/NEJMoa1901183</a:t>
            </a:r>
            <a:endParaRPr/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[Sources]</a:t>
            </a:r>
            <a:endParaRPr/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/>
            </a:r>
            <a:endParaRPr/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[Sources]</a:t>
            </a:r>
            <a:endParaRPr/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/>
            </a:r>
            <a:endParaRPr/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[Sources]</a:t>
            </a:r>
            <a:endParaRPr/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/>
            </a:r>
            <a:endParaRPr/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[Sources]</a:t>
            </a:r>
            <a:endParaRPr/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/>
            </a:r>
            <a:endParaRPr/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[Sources]</a:t>
            </a:r>
            <a:endParaRPr/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/>
            </a:r>
            <a:endParaRPr/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0587f5caad447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9bd15038cd4df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c4e5f79fb4434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c0c3cfadff4af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8a7ddf09b0445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d13c83453a411b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adf4c08d524afb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abeea776794ba7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b4ece24e6e4f25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5e187e7f5b42cc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3c5d9d64cf4671" /></Relationships>
</file>

<file path=ppt/slideLayouts/slideLayout1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C400E4F-3A3D-49A6-A073-9371D15B4965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5BE7E4B3-8D28-4BBB-89BE-A2001B08E5B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D59AA2CD-23FA-4139-B989-E7508B91CC6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3CD8F52C-4103-472A-B720-26705805A57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27BA14E4-72BE-41D3-837A-08450112CE8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BF23E36A-42DC-43A0-967C-A96A675A08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EAAD1F69-F3C6-4422-96A2-E0BA7595D0D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6DFD34C7-E5DE-485D-AFF4-3CA041D4A5B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4B51EE09-D443-407C-8A0B-F2B22A9A3EA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1B957D25-2067-4542-A213-F17C53752AF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B34BE99-92C6-4731-B409-AC521AAD38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51B9FA76-7791-41AC-8163-555204F5215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9314875D-3D93-46CF-884C-04CA94E19F9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7CAD8E13-F24E-42CE-A027-4F0F59D4634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211FA543-E362-473A-9DAB-EC550373671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AAB54A1-0087-4743-8267-460F21DDADF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43C5E0F7-68FC-4A6A-B670-FF5EB1C4288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19ED7C8D-9F37-41D1-8315-ADF933B24DDA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6B5FAB9D-F1CA-4793-B908-8D2ED69C9B0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F4CF719F-5970-4867-AD14-499528F50AD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3A9ECAEE-A76C-42CD-BA2C-2472715ADF6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739CC06-142B-453A-A8E1-7547579627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FA724153-DBF9-41AE-B6C7-6E5CE7002D9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BD37EAA8-1674-4948-A5D7-BB17C31E546B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C7D53AEF-3AB1-4D6F-84F7-6E3031831DD9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ECED3BC5-88DC-4454-A4F7-FCB8154B1FFE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2DFDE18E-0A8D-4E71-A5B1-C77ED5225F8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2334C840-1AA9-4D72-A324-093B4900B5C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BEF1CFB1-051B-47F5-BB98-0161AE5A945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8CC1B82E-39BB-4875-991E-F923A605486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BDA36CC9-00BB-480C-84F4-EA6AE83B28E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E61AC417-E3B7-4115-9383-D2515BEF096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F4A583F6-B074-4354-928D-DCD977C047A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BD7D9DE6-58D7-4032-92A4-9B0BE195880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F04842E2-97F1-4CAC-BB87-92A7DE8C7F4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FE50F8CD-DF0C-4E90-AFAE-F26F307B137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94DAEFE-F85A-4A9D-B983-4DDE8FE5F85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3DC795A7-0DED-480E-9D0A-13725A2CA6B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44F814F8-30A6-4FB0-990A-053B0E7240F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66CBE9FB-CC91-4874-B777-70764AB80DD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EAC86E08-1BF8-4500-840E-DFB1DED488D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395CB20F-EFE3-492C-B947-080EF02F93A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5BAC642E-B527-41A8-A2FB-9B172A55DAF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BC662777-974A-4F53-9043-41591EFBDD81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D2B568D0-70E0-42E9-845D-296323DC8DB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3BA0E7EB-9251-4AD1-8E7F-EF8036B3E79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4258D707-CE28-4E4A-9527-6374A7F02F9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3B7CE188-47FB-4B39-B06E-E2CFE260073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11B7D34E-285F-48B9-A1F3-5928459D50B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58C35596-1724-4353-B0EF-DD3468ABD19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8834B6E9-8DA8-4EE9-8C7C-247CF4F7D74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66BFCAE1-6955-4857-AC9F-5F2724B4902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141352D2-0C95-4C48-92C3-38A9DAB733C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BFB807DB-29FA-43A0-8EF7-54F7137556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00DB7A46-A5CD-473C-BE48-7E3BDA8D6B0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46FCED6C-659B-4521-9624-17468215530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77635B7F-E74F-497C-9A19-3A14C70DDEC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065A83E1-7067-4389-8A28-77166F2AB18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3b5947d65ca43a8" /><Relationship Type="http://schemas.openxmlformats.org/officeDocument/2006/relationships/slideLayout" Target="/ppt/slideLayouts/slideLayout1.xml" Id="R32ea4eed99ad4640" /><Relationship Type="http://schemas.openxmlformats.org/officeDocument/2006/relationships/slideLayout" Target="/ppt/slideLayouts/slideLayout2.xml" Id="R6b55505b9bba42a6" /><Relationship Type="http://schemas.openxmlformats.org/officeDocument/2006/relationships/slideLayout" Target="/ppt/slideLayouts/slideLayout3.xml" Id="Ra91ca665222d479c" /><Relationship Type="http://schemas.openxmlformats.org/officeDocument/2006/relationships/slideLayout" Target="/ppt/slideLayouts/slideLayout4.xml" Id="R3520cd38c6f54a48" /><Relationship Type="http://schemas.openxmlformats.org/officeDocument/2006/relationships/slideLayout" Target="/ppt/slideLayouts/slideLayout5.xml" Id="R23d0eb097f5c4633" /><Relationship Type="http://schemas.openxmlformats.org/officeDocument/2006/relationships/slideLayout" Target="/ppt/slideLayouts/slideLayout6.xml" Id="R4fa4870c6fee4e90" /><Relationship Type="http://schemas.openxmlformats.org/officeDocument/2006/relationships/slideLayout" Target="/ppt/slideLayouts/slideLayout7.xml" Id="R75364e016c2d4ab9" /><Relationship Type="http://schemas.openxmlformats.org/officeDocument/2006/relationships/slideLayout" Target="/ppt/slideLayouts/slideLayout8.xml" Id="R345948b89d8445dd" /><Relationship Type="http://schemas.openxmlformats.org/officeDocument/2006/relationships/slideLayout" Target="/ppt/slideLayouts/slideLayout9.xml" Id="Reab693ab53af4ee4" /><Relationship Type="http://schemas.openxmlformats.org/officeDocument/2006/relationships/slideLayout" Target="/ppt/slideLayouts/slideLayout10.xml" Id="R813852588f834bd7" /><Relationship Type="http://schemas.openxmlformats.org/officeDocument/2006/relationships/slideLayout" Target="/ppt/slideLayouts/slideLayout11.xml" Id="R204fc8ae61654887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C3B9CD8F-85B0-46B0-868E-C250C06C377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7DE87435-9438-43A5-BE15-3CE431DC2F0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6C990294-3884-4565-A8F5-ECA990714229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8D40FD1-78FA-4E7D-B56F-9E81AA764D3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B5C3FE6-061C-460D-A488-3B8ABE2D6AA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2ea4eed99ad4640"/>
    <p:sldLayoutId xmlns:r="http://schemas.openxmlformats.org/officeDocument/2006/relationships" id="2147483650" r:id="R6b55505b9bba42a6"/>
    <p:sldLayoutId xmlns:r="http://schemas.openxmlformats.org/officeDocument/2006/relationships" id="2147483651" r:id="Ra91ca665222d479c"/>
    <p:sldLayoutId xmlns:r="http://schemas.openxmlformats.org/officeDocument/2006/relationships" id="2147483652" r:id="R3520cd38c6f54a48"/>
    <p:sldLayoutId xmlns:r="http://schemas.openxmlformats.org/officeDocument/2006/relationships" id="2147483653" r:id="R23d0eb097f5c4633"/>
    <p:sldLayoutId xmlns:r="http://schemas.openxmlformats.org/officeDocument/2006/relationships" id="2147483654" r:id="R4fa4870c6fee4e90"/>
    <p:sldLayoutId xmlns:r="http://schemas.openxmlformats.org/officeDocument/2006/relationships" id="2147483655" r:id="R75364e016c2d4ab9"/>
    <p:sldLayoutId xmlns:r="http://schemas.openxmlformats.org/officeDocument/2006/relationships" id="2147483656" r:id="R345948b89d8445dd"/>
    <p:sldLayoutId xmlns:r="http://schemas.openxmlformats.org/officeDocument/2006/relationships" id="2147483657" r:id="Reab693ab53af4ee4"/>
    <p:sldLayoutId xmlns:r="http://schemas.openxmlformats.org/officeDocument/2006/relationships" id="2147483658" r:id="R813852588f834bd7"/>
    <p:sldLayoutId xmlns:r="http://schemas.openxmlformats.org/officeDocument/2006/relationships" id="2147483659" r:id="R204fc8ae61654887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自定义 958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409C"/>
      </a:accent1>
      <a:accent2>
        <a:srgbClr val="00409E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自定义 958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d4f2316c3a4fd5" /><Relationship Type="http://schemas.openxmlformats.org/officeDocument/2006/relationships/image" Target="/ppt/media/image.png" Id="R0be3b5e9cf16413f" /><Relationship Type="http://schemas.openxmlformats.org/officeDocument/2006/relationships/image" Target="/ppt/media/image.jpeg" Id="R7c269c290ed84083" /><Relationship Type="http://schemas.openxmlformats.org/officeDocument/2006/relationships/image" Target="/ppt/media/image2.jpeg" Id="Rf408a6edae43424c" /><Relationship Type="http://schemas.openxmlformats.org/officeDocument/2006/relationships/notesSlide" Target="/ppt/notesSlides/notesSlide1.xml" Id="Ref1d8dc22bc944c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5ca8b9cbd75424f" /><Relationship Type="http://schemas.openxmlformats.org/officeDocument/2006/relationships/image" Target="/ppt/media/image.jpeg" Id="Rff504162fc0247fd" /><Relationship Type="http://schemas.openxmlformats.org/officeDocument/2006/relationships/image" Target="/ppt/media/image2.png" Id="R7112497600624ea7" /><Relationship Type="http://schemas.openxmlformats.org/officeDocument/2006/relationships/image" Target="/ppt/media/image3.png" Id="R83e51e5bd5e84ab1" /><Relationship Type="http://schemas.openxmlformats.org/officeDocument/2006/relationships/image" Target="/ppt/media/image4.png" Id="R91507e823b5d467d" /><Relationship Type="http://schemas.openxmlformats.org/officeDocument/2006/relationships/image" Target="/ppt/media/image5.png" Id="R973d2b17a4f642c6" /><Relationship Type="http://schemas.openxmlformats.org/officeDocument/2006/relationships/notesSlide" Target="/ppt/notesSlides/notesSlide2.xml" Id="R4a09e4e4cbc3475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a882d1c9cb14cd5" /><Relationship Type="http://schemas.openxmlformats.org/officeDocument/2006/relationships/image" Target="/ppt/media/image.jpeg" Id="Rea90064592e6405b" /><Relationship Type="http://schemas.openxmlformats.org/officeDocument/2006/relationships/image" Target="/ppt/media/image6.png" Id="R58debb6e71c143f5" /><Relationship Type="http://schemas.openxmlformats.org/officeDocument/2006/relationships/image" Target="/ppt/media/image7.png" Id="Rcfdd9540a3d64e67" /><Relationship Type="http://schemas.openxmlformats.org/officeDocument/2006/relationships/image" Target="/ppt/media/image8.png" Id="Rf602727a88604cda" /><Relationship Type="http://schemas.openxmlformats.org/officeDocument/2006/relationships/image" Target="/ppt/media/image9.png" Id="R0134d84942a34c0b" /><Relationship Type="http://schemas.openxmlformats.org/officeDocument/2006/relationships/image" Target="/ppt/media/image10.png" Id="R0c02648ff9544bb3" /><Relationship Type="http://schemas.openxmlformats.org/officeDocument/2006/relationships/image" Target="/ppt/media/image11.png" Id="Rad24fcdf00d9421d" /><Relationship Type="http://schemas.openxmlformats.org/officeDocument/2006/relationships/image" Target="/ppt/media/image12.png" Id="R900ede2ed6e34791" /><Relationship Type="http://schemas.openxmlformats.org/officeDocument/2006/relationships/image" Target="/ppt/media/image13.png" Id="R6a3f3c0715f44965" /><Relationship Type="http://schemas.openxmlformats.org/officeDocument/2006/relationships/image" Target="/ppt/media/image14.png" Id="Rfb1c48495b0e4d5e" /><Relationship Type="http://schemas.openxmlformats.org/officeDocument/2006/relationships/image" Target="/ppt/media/image15.png" Id="R55201a467a294a14" /><Relationship Type="http://schemas.openxmlformats.org/officeDocument/2006/relationships/image" Target="/ppt/media/image16.png" Id="R83de2bea5c4f4263" /><Relationship Type="http://schemas.openxmlformats.org/officeDocument/2006/relationships/image" Target="/ppt/media/image17.png" Id="R6406518900b64b08" /><Relationship Type="http://schemas.openxmlformats.org/officeDocument/2006/relationships/image" Target="/ppt/media/image18.png" Id="R48e6c164a0e749ed" /><Relationship Type="http://schemas.openxmlformats.org/officeDocument/2006/relationships/notesSlide" Target="/ppt/notesSlides/notesSlide3.xml" Id="R722da38c4a694e1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afa20af66224dc4" /><Relationship Type="http://schemas.openxmlformats.org/officeDocument/2006/relationships/image" Target="/ppt/media/image.jpeg" Id="Rcedd207281364c9e" /><Relationship Type="http://schemas.openxmlformats.org/officeDocument/2006/relationships/image" Target="/ppt/media/image19.png" Id="R178290cf5a844e88" /><Relationship Type="http://schemas.openxmlformats.org/officeDocument/2006/relationships/notesSlide" Target="/ppt/notesSlides/notesSlide4.xml" Id="R57a8cc44fe6641e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f283899d23d4959" /><Relationship Type="http://schemas.openxmlformats.org/officeDocument/2006/relationships/image" Target="/ppt/media/image.jpeg" Id="Ra7a6b76b6490453e" /><Relationship Type="http://schemas.openxmlformats.org/officeDocument/2006/relationships/notesSlide" Target="/ppt/notesSlides/notesSlide5.xml" Id="R44b4c224accb4f1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98a2c1d21834b57" /><Relationship Type="http://schemas.openxmlformats.org/officeDocument/2006/relationships/image" Target="/ppt/media/image.jpeg" Id="Re07a9df1243347d0" /><Relationship Type="http://schemas.openxmlformats.org/officeDocument/2006/relationships/notesSlide" Target="/ppt/notesSlides/notesSlide6.xml" Id="Rc8cf4d60411c47b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495af42fefd45bd" /><Relationship Type="http://schemas.openxmlformats.org/officeDocument/2006/relationships/image" Target="/ppt/media/image.jpeg" Id="R0454af3bebf34f70" /><Relationship Type="http://schemas.openxmlformats.org/officeDocument/2006/relationships/notesSlide" Target="/ppt/notesSlides/notesSlide7.xml" Id="R3f6911ed3be2448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72a54a2696f423b" /><Relationship Type="http://schemas.openxmlformats.org/officeDocument/2006/relationships/image" Target="/ppt/media/image.jpeg" Id="R483dbaf540f04e19" /><Relationship Type="http://schemas.openxmlformats.org/officeDocument/2006/relationships/notesSlide" Target="/ppt/notesSlides/notesSlide8.xml" Id="Rf76586e4bad84ef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402405fce2843e6" /><Relationship Type="http://schemas.openxmlformats.org/officeDocument/2006/relationships/image" Target="/ppt/media/image.jpeg" Id="Re587e95f2c7c4970" /><Relationship Type="http://schemas.openxmlformats.org/officeDocument/2006/relationships/notesSlide" Target="/ppt/notesSlides/notesSlide9.xml" Id="R4504c23034e44da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e2b05fe63974579" /><Relationship Type="http://schemas.openxmlformats.org/officeDocument/2006/relationships/image" Target="/ppt/media/image.jpeg" Id="R86d0f99b6b1e4e5c" /><Relationship Type="http://schemas.openxmlformats.org/officeDocument/2006/relationships/notesSlide" Target="/ppt/notesSlides/notesSlide10.xml" Id="Rf93753dc60584d0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2d33ef834624260" /><Relationship Type="http://schemas.openxmlformats.org/officeDocument/2006/relationships/image" Target="/ppt/media/image.jpeg" Id="Rb949f44647394aa7" /><Relationship Type="http://schemas.openxmlformats.org/officeDocument/2006/relationships/notesSlide" Target="/ppt/notesSlides/notesSlide11.xml" Id="R526f3736486a430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e74c77a89534212" /><Relationship Type="http://schemas.openxmlformats.org/officeDocument/2006/relationships/image" Target="/ppt/media/image.jpeg" Id="Rdf7aa353f2244822" /><Relationship Type="http://schemas.openxmlformats.org/officeDocument/2006/relationships/notesSlide" Target="/ppt/notesSlides/notesSlide12.xml" Id="R66982dc235694de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652a3039e824df4" /><Relationship Type="http://schemas.openxmlformats.org/officeDocument/2006/relationships/image" Target="/ppt/media/image.jpeg" Id="R4d997ea8236f4a61" /><Relationship Type="http://schemas.openxmlformats.org/officeDocument/2006/relationships/notesSlide" Target="/ppt/notesSlides/notesSlide13.xml" Id="R4b49adaecf3f492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ba0259462b14335" /><Relationship Type="http://schemas.openxmlformats.org/officeDocument/2006/relationships/image" Target="/ppt/media/image.jpeg" Id="R5345657153274247" /><Relationship Type="http://schemas.openxmlformats.org/officeDocument/2006/relationships/notesSlide" Target="/ppt/notesSlides/notesSlide14.xml" Id="Rbdf3e37f29704d1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c0b02f57e344594" /><Relationship Type="http://schemas.openxmlformats.org/officeDocument/2006/relationships/image" Target="/ppt/media/image.jpeg" Id="R7808bed27baf4944" /><Relationship Type="http://schemas.openxmlformats.org/officeDocument/2006/relationships/notesSlide" Target="/ppt/notesSlides/notesSlide15.xml" Id="Rc6a4c19ef51a4e6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d8c27a8c8c04f8d" /><Relationship Type="http://schemas.openxmlformats.org/officeDocument/2006/relationships/image" Target="/ppt/media/image.jpeg" Id="R3cd5e8a26d82467d" /><Relationship Type="http://schemas.openxmlformats.org/officeDocument/2006/relationships/notesSlide" Target="/ppt/notesSlides/notesSlide16.xml" Id="R11c952bb0bf1425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93520ef1ddb4c04" /><Relationship Type="http://schemas.openxmlformats.org/officeDocument/2006/relationships/image" Target="/ppt/media/image.jpeg" Id="Re820731ac2ce4530" /><Relationship Type="http://schemas.openxmlformats.org/officeDocument/2006/relationships/notesSlide" Target="/ppt/notesSlides/notesSlide17.xml" Id="Rd45b58c85afe4b7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e8435f61a7245e7" /><Relationship Type="http://schemas.openxmlformats.org/officeDocument/2006/relationships/image" Target="/ppt/media/image.jpeg" Id="R6291413dc4214add" /><Relationship Type="http://schemas.openxmlformats.org/officeDocument/2006/relationships/notesSlide" Target="/ppt/notesSlides/notesSlide18.xml" Id="R3cf5e72beca84f3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89868ab9386480a" /><Relationship Type="http://schemas.openxmlformats.org/officeDocument/2006/relationships/image" Target="/ppt/media/image.jpeg" Id="R9b3b24ac12844215" /><Relationship Type="http://schemas.openxmlformats.org/officeDocument/2006/relationships/notesSlide" Target="/ppt/notesSlides/notesSlide19.xml" Id="R5d13658926514e9b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f3aac7250eb4f16" /><Relationship Type="http://schemas.openxmlformats.org/officeDocument/2006/relationships/image" Target="/ppt/media/image.jpeg" Id="R02345afb2613489f" /><Relationship Type="http://schemas.openxmlformats.org/officeDocument/2006/relationships/notesSlide" Target="/ppt/notesSlides/notesSlide20.xml" Id="Rb1ad9c534cfb495a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75391dd0a854d6a" /><Relationship Type="http://schemas.openxmlformats.org/officeDocument/2006/relationships/image" Target="/ppt/media/image.jpeg" Id="Rc0ee7076660d41d9" /><Relationship Type="http://schemas.openxmlformats.org/officeDocument/2006/relationships/notesSlide" Target="/ppt/notesSlides/notesSlide21.xml" Id="Rb251c0d72c764e42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4b2534612f84629" /><Relationship Type="http://schemas.openxmlformats.org/officeDocument/2006/relationships/image" Target="/ppt/media/image.jpeg" Id="R51cceae1114c414b" /><Relationship Type="http://schemas.openxmlformats.org/officeDocument/2006/relationships/notesSlide" Target="/ppt/notesSlides/notesSlide22.xml" Id="Rfb2a8a88e8b54a2d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db404a92dfb4e10" /><Relationship Type="http://schemas.openxmlformats.org/officeDocument/2006/relationships/image" Target="/ppt/media/image.jpeg" Id="R97d7e88605c14d0b" /><Relationship Type="http://schemas.openxmlformats.org/officeDocument/2006/relationships/notesSlide" Target="/ppt/notesSlides/notesSlide23.xml" Id="R433200d3de1540e2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2b08e63c33e4685" /><Relationship Type="http://schemas.openxmlformats.org/officeDocument/2006/relationships/image" Target="/ppt/media/image.jpeg" Id="R6b3ba336e6d24270" /><Relationship Type="http://schemas.openxmlformats.org/officeDocument/2006/relationships/notesSlide" Target="/ppt/notesSlides/notesSlide24.xml" Id="Rc46ecbc6979045b1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a72699395b24f45" /><Relationship Type="http://schemas.openxmlformats.org/officeDocument/2006/relationships/image" Target="/ppt/media/image.jpeg" Id="R626f8f10b6d44254" /><Relationship Type="http://schemas.openxmlformats.org/officeDocument/2006/relationships/notesSlide" Target="/ppt/notesSlides/notesSlide25.xml" Id="R9d5f67be48994c97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bf6d31a82fe48ca" /><Relationship Type="http://schemas.openxmlformats.org/officeDocument/2006/relationships/image" Target="/ppt/media/image.jpeg" Id="Rfafc626ff4644662" /><Relationship Type="http://schemas.openxmlformats.org/officeDocument/2006/relationships/notesSlide" Target="/ppt/notesSlides/notesSlide26.xml" Id="Re3851650c83248f9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65d9bdbb64b4c21" /><Relationship Type="http://schemas.openxmlformats.org/officeDocument/2006/relationships/image" Target="/ppt/media/image.jpeg" Id="Rdd1100ed816746ab" /><Relationship Type="http://schemas.openxmlformats.org/officeDocument/2006/relationships/notesSlide" Target="/ppt/notesSlides/notesSlide27.xml" Id="R1dcdba289a654c8d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49d66ad835a4f54" /><Relationship Type="http://schemas.openxmlformats.org/officeDocument/2006/relationships/image" Target="/ppt/media/image.jpeg" Id="R4907dc5ee1bf4156" /><Relationship Type="http://schemas.openxmlformats.org/officeDocument/2006/relationships/notesSlide" Target="/ppt/notesSlides/notesSlide28.xml" Id="R9cf0708b29c348d3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a082d0821a8478b" /><Relationship Type="http://schemas.openxmlformats.org/officeDocument/2006/relationships/image" Target="/ppt/media/image.jpeg" Id="Rcc6fbcdc516e42c2" /><Relationship Type="http://schemas.openxmlformats.org/officeDocument/2006/relationships/notesSlide" Target="/ppt/notesSlides/notesSlide29.xml" Id="Rd05a858c2024498d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d3160e4f7a644ed" /><Relationship Type="http://schemas.openxmlformats.org/officeDocument/2006/relationships/image" Target="/ppt/media/image20.png" Id="R7222efbf3df3473e" /><Relationship Type="http://schemas.openxmlformats.org/officeDocument/2006/relationships/image" Target="/ppt/media/image21.png" Id="R9600202a66484fba" /><Relationship Type="http://schemas.openxmlformats.org/officeDocument/2006/relationships/notesSlide" Target="/ppt/notesSlides/notesSlide30.xml" Id="Rdf56cb49be3c4f7b" /></Relationships>
</file>

<file path=ppt/slides/slide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0be3b5e9cf16413f">
            <a:alphaModFix amt="15000"/>
            <a:lum/>
          </a:blip>
          <a:srcRect l="0" t="0" r="0" b="0"/>
          <a:stretch>
            <a:fillRect l="0" t="-7000" r="0" b="-700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1E9C85FE-B243-480F-BCD9-D84D092F8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" y="1962384"/>
            <a:ext cx="12192002" cy="2687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378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072E29C5-00BF-40E9-9FC8-16D5B1846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724" y="2890798"/>
            <a:ext cx="7984546" cy="8299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4800" b="1">
                <a:solidFill>
                  <a:schemeClr val="bg1"/>
                </a:solidFill>
                <a:latin typeface="Microsoft YaHei"/>
                <a:ea typeface="Microsoft YaHei"/>
                <a:cs typeface="Microsoft YaHei"/>
              </a:rPr>
              <a:t>医学检测具身智能应用</a:t>
            </a:r>
            <a:endParaRPr sz="4800" b="1" spc="300">
              <a:solidFill>
                <a:schemeClr val="bg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7" name="文本框 16">
            <a:extLst xmlns:a="http://schemas.openxmlformats.org/drawingml/2006/main">
              <a:ext uri="{FF2B5EF4-FFF2-40B4-BE49-F238E27FC236}">
                <a16:creationId xmlns:a16="http://schemas.microsoft.com/office/drawing/2014/main" id="{084D303D-26F8-486B-A482-DE543C685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5207000"/>
            <a:ext cx="205232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latin typeface="Microsoft YaHei"/>
                <a:ea typeface="Microsoft YaHei"/>
                <a:cs typeface="Microsoft YaHei"/>
              </a:rPr>
              <a:t>汇报人：孙婉然</a:t>
            </a:r>
            <a:endParaRPr b="1" spc="300">
              <a:latin typeface="KaiTi"/>
              <a:ea typeface="KaiTi"/>
              <a:cs typeface="KaiTi"/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E917ADB3-98B9-4113-8E49-9E556F960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9721" y="0"/>
            <a:ext cx="7672552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4" name="图片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269c290ed8408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33376" y="374851"/>
            <a:ext cx="2525247" cy="988061"/>
          </a:xfrm>
          <a:prstGeom xmlns:a="http://schemas.openxmlformats.org/drawingml/2006/main" prst="rect">
            <a:avLst/>
          </a:prstGeom>
        </p:spPr>
      </p:pic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06B6EFD7-F426-414A-BBDD-6277928AB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8640" y="5625869"/>
            <a:ext cx="231471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latin typeface="Microsoft YaHei"/>
                <a:ea typeface="Microsoft YaHei"/>
                <a:cs typeface="Microsoft YaHei"/>
              </a:rPr>
              <a:t>2026</a:t>
            </a:r>
            <a:r>
              <a:rPr b="1">
                <a:latin typeface="Microsoft YaHei"/>
                <a:ea typeface="Microsoft YaHei"/>
                <a:cs typeface="Microsoft YaHei"/>
              </a:rPr>
              <a:t>年</a:t>
            </a:r>
            <a:r>
              <a:rPr b="1">
                <a:latin typeface="Microsoft YaHei"/>
                <a:ea typeface="Microsoft YaHei"/>
                <a:cs typeface="Microsoft YaHei"/>
              </a:rPr>
              <a:t>8</a:t>
            </a:r>
            <a:r>
              <a:rPr b="1">
                <a:latin typeface="Microsoft YaHei"/>
                <a:ea typeface="Microsoft YaHei"/>
                <a:cs typeface="Microsoft YaHei"/>
              </a:rPr>
              <a:t>月</a:t>
            </a:r>
            <a:r>
              <a:rPr b="1">
                <a:latin typeface="Microsoft YaHei"/>
                <a:ea typeface="Microsoft YaHei"/>
                <a:cs typeface="Microsoft YaHei"/>
              </a:rPr>
              <a:t>5</a:t>
            </a:r>
            <a:r>
              <a:rPr b="1">
                <a:latin typeface="Microsoft YaHei"/>
                <a:ea typeface="Microsoft YaHei"/>
                <a:cs typeface="Microsoft YaHei"/>
              </a:rPr>
              <a:t>日</a:t>
            </a:r>
            <a:endParaRPr b="1" spc="300">
              <a:solidFill>
                <a:srgbClr val="813789"/>
              </a:solidFill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6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08a6edae43424c"/>
          <a:srcRect xmlns:a="http://schemas.openxmlformats.org/drawingml/2006/main" l="0" t="4430" r="0" b="843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3" y="13497"/>
            <a:ext cx="12192001" cy="193533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180198697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菱形 6">
            <a:extLst xmlns:a="http://schemas.openxmlformats.org/drawingml/2006/main">
              <a:ext uri="{FF2B5EF4-FFF2-40B4-BE49-F238E27FC236}">
                <a16:creationId xmlns:a16="http://schemas.microsoft.com/office/drawing/2014/main" id="{4E9594A9-6BEB-44FD-9D82-E59D8CC50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646273" y="6312273"/>
            <a:ext cx="545727" cy="545727"/>
          </a:xfrm>
          <a:prstGeom xmlns:a="http://schemas.openxmlformats.org/drawingml/2006/main" prst="diamond">
            <a:avLst/>
          </a:prstGeom>
          <a:gradFill xmlns:a="http://schemas.openxmlformats.org/drawingml/2006/main">
            <a:gsLst>
              <a:gs pos="100000">
                <a:srgbClr val="C8282A"/>
              </a:gs>
              <a:gs pos="0">
                <a:srgbClr val="194779"/>
              </a:gs>
            </a:gsLst>
            <a:lin ang="18900000" scaled="0"/>
          </a:gradFill>
          <a:ln xmlns:a="http://schemas.openxmlformats.org/drawingml/2006/main">
            <a:noFill/>
          </a:ln>
          <a:effectLst xmlns:a="http://schemas.openxmlformats.org/drawingml/2006/main">
            <a:outerShdw blurRad="127000" dist="38100" dir="2700000" algn="ctr">
              <a:srgbClr val="000000">
                <a:alpha val="45000"/>
              </a:srgb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DengXian"/>
              <a:ea typeface="DengXian"/>
              <a:cs typeface="DengXian"/>
            </a:endParaR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39A2ADC4-D3B2-40EE-B9DE-803ACAF5C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79448" y="6438719"/>
            <a:ext cx="318135" cy="337185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glow rad="63500">
              <a:schemeClr val="accent3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600" b="0" i="0" u="none" cap="none">
                <a:ln>
                  <a:noFill/>
                </a:ln>
                <a:solidFill>
                  <a:prstClr val="white"/>
                </a:solidFill>
                <a:latin typeface="Arial Black"/>
                <a:ea typeface="Arial Black"/>
                <a:cs typeface="Arial Black"/>
              </a:rPr>
              <a:t>1</a:t>
            </a:r>
            <a:endParaRPr sz="1600" b="0" i="0" u="none" kern="1200" cap="none" spc="0" baseline="0">
              <a:ln>
                <a:noFill/>
              </a:ln>
              <a:solidFill>
                <a:prstClr val="white"/>
              </a:solidFill>
              <a:latin typeface="Arial Black"/>
              <a:ea typeface="Arial Black"/>
              <a:cs typeface="Arial Black"/>
            </a:endParaRP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C639B8F2-C8EB-47BD-96E7-F18737D53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7771"/>
            <a:ext cx="12192000" cy="58404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00000">
                <a:schemeClr val="bg1"/>
              </a:gs>
              <a:gs pos="18000">
                <a:srgbClr val="813789"/>
              </a:gs>
              <a:gs pos="0">
                <a:srgbClr val="813789"/>
              </a:gs>
            </a:gsLst>
            <a:lin ang="270000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43" name="图片 3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504162fc0247f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73387" y="11991"/>
            <a:ext cx="1676015" cy="655780"/>
          </a:xfrm>
          <a:prstGeom xmlns:a="http://schemas.openxmlformats.org/drawingml/2006/main" prst="rect">
            <a:avLst/>
          </a:prstGeom>
        </p:spPr>
      </p:pic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8176F67C-3D49-41D2-B2C6-2671BC2B7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860" y="200660"/>
            <a:ext cx="10027920" cy="460375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25400" dist="25400" dir="2700000" algn="tl" rotWithShape="0">
              <a:prstClr val="black">
                <a:alpha val="46000"/>
              </a:prstClr>
            </a:outerShdw>
          </a:effectLst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>
                <a:solidFill>
                  <a:srgbClr val="813789"/>
                </a:solidFill>
                <a:latin typeface="Arial"/>
                <a:ea typeface="Arial"/>
                <a:cs typeface="Arial"/>
              </a:rPr>
              <a:t>Definition of Embodied Intelligence</a:t>
            </a:r>
            <a:endParaRPr sz="2400" b="1" i="0" u="none" kern="1200" cap="none" spc="0" baseline="0">
              <a:ln>
                <a:noFill/>
              </a:ln>
              <a:solidFill>
                <a:srgbClr val="81378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26D787E1-7275-4917-B1B1-A613F67E7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" y="838200"/>
            <a:ext cx="11210925" cy="13220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latin typeface="Microsoft YaHei"/>
                <a:ea typeface="Microsoft YaHei"/>
                <a:cs typeface="Microsoft YaHei"/>
              </a:rPr>
              <a:t>具身智能定义</a:t>
            </a:r>
            <a:r>
              <a:rPr sz="2000">
                <a:latin typeface="Microsoft YaHei"/>
                <a:ea typeface="Microsoft YaHei"/>
                <a:cs typeface="Microsoft YaHei"/>
              </a:rPr>
              <a:t>：具身智能是指</a:t>
            </a:r>
            <a:r>
              <a:rPr sz="2000">
                <a:latin typeface="Microsoft YaHei"/>
                <a:ea typeface="Microsoft YaHei"/>
                <a:cs typeface="Microsoft YaHei"/>
              </a:rPr>
              <a:t>AI</a:t>
            </a:r>
            <a:r>
              <a:rPr sz="2000">
                <a:latin typeface="Microsoft YaHei"/>
                <a:ea typeface="Microsoft YaHei"/>
                <a:cs typeface="Microsoft YaHei"/>
              </a:rPr>
              <a:t>依托机器人或其他</a:t>
            </a:r>
            <a:r>
              <a:rPr sz="2000" b="1">
                <a:latin typeface="Microsoft YaHei"/>
                <a:ea typeface="Microsoft YaHei"/>
                <a:cs typeface="Microsoft YaHei"/>
              </a:rPr>
              <a:t>物理载体</a:t>
            </a:r>
            <a:r>
              <a:rPr sz="2000" b="1">
                <a:highlight>
                  <a:srgbClr val="FFFF00"/>
                </a:highlight>
                <a:latin typeface="Microsoft YaHei"/>
                <a:ea typeface="Microsoft YaHei"/>
                <a:cs typeface="Microsoft YaHei"/>
              </a:rPr>
              <a:t>感知</a:t>
            </a:r>
            <a:r>
              <a:rPr sz="2000">
                <a:latin typeface="Microsoft YaHei"/>
                <a:ea typeface="Microsoft YaHei"/>
                <a:cs typeface="Microsoft YaHei"/>
              </a:rPr>
              <a:t>真实环境，结合</a:t>
            </a:r>
            <a:r>
              <a:rPr sz="2000" b="1">
                <a:latin typeface="Microsoft YaHei"/>
                <a:ea typeface="Microsoft YaHei"/>
                <a:cs typeface="Microsoft YaHei"/>
              </a:rPr>
              <a:t>任务目标</a:t>
            </a:r>
            <a:r>
              <a:rPr sz="2000">
                <a:latin typeface="Microsoft YaHei"/>
                <a:ea typeface="Microsoft YaHei"/>
                <a:cs typeface="Microsoft YaHei"/>
              </a:rPr>
              <a:t>和</a:t>
            </a:r>
            <a:r>
              <a:rPr sz="2000" b="1">
                <a:highlight>
                  <a:srgbClr val="FFFF00"/>
                </a:highlight>
                <a:latin typeface="Microsoft YaHei"/>
                <a:ea typeface="Microsoft YaHei"/>
                <a:cs typeface="Microsoft YaHei"/>
              </a:rPr>
              <a:t>已有记忆</a:t>
            </a:r>
            <a:r>
              <a:rPr sz="2000">
                <a:latin typeface="Microsoft YaHei"/>
                <a:ea typeface="Microsoft YaHei"/>
                <a:cs typeface="Microsoft YaHei"/>
              </a:rPr>
              <a:t>作出</a:t>
            </a:r>
            <a:r>
              <a:rPr sz="2000" b="1">
                <a:highlight>
                  <a:srgbClr val="FFFF00"/>
                </a:highlight>
                <a:latin typeface="Microsoft YaHei"/>
                <a:ea typeface="Microsoft YaHei"/>
                <a:cs typeface="Microsoft YaHei"/>
              </a:rPr>
              <a:t>决策</a:t>
            </a:r>
            <a:r>
              <a:rPr sz="2000">
                <a:latin typeface="Microsoft YaHei"/>
                <a:ea typeface="Microsoft YaHei"/>
                <a:cs typeface="Microsoft YaHei"/>
              </a:rPr>
              <a:t>并采取</a:t>
            </a:r>
            <a:r>
              <a:rPr sz="2000" b="1">
                <a:highlight>
                  <a:srgbClr val="FFFF00"/>
                </a:highlight>
                <a:latin typeface="Microsoft YaHei"/>
                <a:ea typeface="Microsoft YaHei"/>
                <a:cs typeface="Microsoft YaHei"/>
              </a:rPr>
              <a:t>行动</a:t>
            </a:r>
            <a:r>
              <a:rPr sz="2000">
                <a:latin typeface="Microsoft YaHei"/>
                <a:ea typeface="Microsoft YaHei"/>
                <a:cs typeface="Microsoft YaHei"/>
              </a:rPr>
              <a:t>，再根据行动</a:t>
            </a:r>
            <a:r>
              <a:rPr sz="2000" b="1">
                <a:highlight>
                  <a:srgbClr val="FFFF00"/>
                </a:highlight>
                <a:latin typeface="Microsoft YaHei"/>
                <a:ea typeface="Microsoft YaHei"/>
                <a:cs typeface="Microsoft YaHei"/>
              </a:rPr>
              <a:t>反馈</a:t>
            </a:r>
            <a:r>
              <a:rPr sz="2000">
                <a:latin typeface="Microsoft YaHei"/>
                <a:ea typeface="Microsoft YaHei"/>
                <a:cs typeface="Microsoft YaHei"/>
              </a:rPr>
              <a:t>调整后续决策与行为，并在需要时更新记忆，从而在持续交互中完成任务并适应环境变化。</a:t>
            </a:r>
            <a:r>
              <a:rPr sz="200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可以理解为：</a:t>
            </a:r>
            <a:r>
              <a:rPr sz="20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感知→结合记忆进行决策→行动→反馈→调整下一步行为或更新记忆</a:t>
            </a:r>
            <a:r>
              <a:rPr sz="200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的</a:t>
            </a:r>
            <a:r>
              <a:rPr sz="2000" b="1">
                <a:solidFill>
                  <a:srgbClr val="C00000"/>
                </a:solidFill>
                <a:highlight>
                  <a:srgbClr val="FFFF00"/>
                </a:highlight>
                <a:latin typeface="Microsoft YaHei"/>
                <a:ea typeface="Microsoft YaHei"/>
                <a:cs typeface="Microsoft YaHei"/>
              </a:rPr>
              <a:t>闭环</a:t>
            </a:r>
            <a:r>
              <a:rPr sz="200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2000">
              <a:solidFill>
                <a:srgbClr val="C00000"/>
              </a:solidFill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46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12497600624ea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" y="2304415"/>
            <a:ext cx="5291455" cy="435483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7030A0"/>
            </a:solidFill>
          </a:ln>
        </p:spPr>
      </p:pic>
      <p:pic>
        <p:nvPicPr>
          <p:cNvPr id="47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e51e5bd5e84ab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15100" y="3569970"/>
            <a:ext cx="4429125" cy="213106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00409C"/>
            </a:solidFill>
            <a:prstDash val="dash"/>
          </a:ln>
        </p:spPr>
      </p:pic>
      <p:pic>
        <p:nvPicPr>
          <p:cNvPr id="48" name="图片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507e823b5d467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15100" y="5767070"/>
            <a:ext cx="4389120" cy="981075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00409C"/>
            </a:solidFill>
            <a:prstDash val="dash"/>
          </a:ln>
        </p:spPr>
      </p:pic>
      <p:pic>
        <p:nvPicPr>
          <p:cNvPr id="49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3d2b17a4f642c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64935" y="1934210"/>
            <a:ext cx="4474210" cy="155575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7030A0"/>
            </a:solidFill>
          </a:ln>
        </p:spPr>
      </p:pic>
    </p:spTree>
    <p:extLst>
      <p:ext uri="{BB962C8B-B14F-4D97-AF65-F5344CB8AC3E}">
        <p14:creationId xmlns:p14="http://schemas.microsoft.com/office/powerpoint/2010/main" val="51684441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菱形 6">
            <a:extLst xmlns:a="http://schemas.openxmlformats.org/drawingml/2006/main">
              <a:ext uri="{FF2B5EF4-FFF2-40B4-BE49-F238E27FC236}">
                <a16:creationId xmlns:a16="http://schemas.microsoft.com/office/drawing/2014/main" id="{7B9F63F7-865C-4C7F-B501-125BB3A73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646273" y="6312273"/>
            <a:ext cx="545727" cy="545727"/>
          </a:xfrm>
          <a:prstGeom xmlns:a="http://schemas.openxmlformats.org/drawingml/2006/main" prst="diamond">
            <a:avLst/>
          </a:prstGeom>
          <a:gradFill xmlns:a="http://schemas.openxmlformats.org/drawingml/2006/main">
            <a:gsLst>
              <a:gs pos="100000">
                <a:srgbClr val="C8282A"/>
              </a:gs>
              <a:gs pos="0">
                <a:srgbClr val="194779"/>
              </a:gs>
            </a:gsLst>
            <a:lin ang="18900000" scaled="0"/>
          </a:gradFill>
          <a:ln xmlns:a="http://schemas.openxmlformats.org/drawingml/2006/main">
            <a:noFill/>
          </a:ln>
          <a:effectLst xmlns:a="http://schemas.openxmlformats.org/drawingml/2006/main">
            <a:outerShdw blurRad="127000" dist="38100" dir="2700000" algn="ctr">
              <a:srgbClr val="000000">
                <a:alpha val="45000"/>
              </a:srgb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DengXian"/>
              <a:ea typeface="DengXian"/>
              <a:cs typeface="DengXian"/>
            </a:endParaR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FE75CF01-F1C5-4FD2-B00C-A66EDFC3E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79448" y="6438719"/>
            <a:ext cx="318135" cy="337185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glow rad="63500">
              <a:schemeClr val="accent3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600" b="0" i="0" u="none" cap="none">
                <a:ln>
                  <a:noFill/>
                </a:ln>
                <a:solidFill>
                  <a:prstClr val="white"/>
                </a:solidFill>
                <a:latin typeface="Arial Black"/>
                <a:ea typeface="Arial Black"/>
                <a:cs typeface="Arial Black"/>
              </a:rPr>
              <a:t>1</a:t>
            </a:r>
            <a:endParaRPr sz="1600" b="0" i="0" u="none" kern="1200" cap="none" spc="0" baseline="0">
              <a:ln>
                <a:noFill/>
              </a:ln>
              <a:solidFill>
                <a:prstClr val="white"/>
              </a:solidFill>
              <a:latin typeface="Arial Black"/>
              <a:ea typeface="Arial Black"/>
              <a:cs typeface="Arial Black"/>
            </a:endParaRP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CFCD0ED8-2395-4325-BDA7-BE111375E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7771"/>
            <a:ext cx="12192000" cy="58404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00000">
                <a:schemeClr val="bg1"/>
              </a:gs>
              <a:gs pos="18000">
                <a:srgbClr val="813789"/>
              </a:gs>
              <a:gs pos="0">
                <a:srgbClr val="813789"/>
              </a:gs>
            </a:gsLst>
            <a:lin ang="270000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52" name="图片 3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90064592e6405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73387" y="11991"/>
            <a:ext cx="1676015" cy="655780"/>
          </a:xfrm>
          <a:prstGeom xmlns:a="http://schemas.openxmlformats.org/drawingml/2006/main" prst="rect">
            <a:avLst/>
          </a:prstGeom>
        </p:spPr>
      </p:pic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8E5A21A0-CB1A-4828-904B-0C2151F40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860" y="200660"/>
            <a:ext cx="10027920" cy="460375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25400" dist="25400" dir="2700000" algn="tl" rotWithShape="0">
              <a:prstClr val="black">
                <a:alpha val="46000"/>
              </a:prstClr>
            </a:outerShdw>
          </a:effectLst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>
                <a:solidFill>
                  <a:srgbClr val="813789"/>
                </a:solidFill>
                <a:latin typeface="Arial"/>
                <a:ea typeface="Arial"/>
                <a:cs typeface="Arial"/>
              </a:rPr>
              <a:t>Definition of Embodied Medical Detection Intelligence</a:t>
            </a:r>
            <a:endParaRPr sz="2400" b="1" i="0" u="none" kern="1200" cap="none" spc="0" baseline="0">
              <a:ln>
                <a:noFill/>
              </a:ln>
              <a:solidFill>
                <a:srgbClr val="81378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AF6A6450-5FE4-4BB9-A684-87D2EC81A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" y="833120"/>
            <a:ext cx="11210925" cy="16300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latin typeface="Microsoft YaHei"/>
                <a:ea typeface="Microsoft YaHei"/>
                <a:cs typeface="Microsoft YaHei"/>
              </a:rPr>
              <a:t>医学检测具身智能定义</a:t>
            </a:r>
            <a:r>
              <a:rPr sz="2000">
                <a:latin typeface="Microsoft YaHei"/>
                <a:ea typeface="Microsoft YaHei"/>
                <a:cs typeface="Microsoft YaHei"/>
              </a:rPr>
              <a:t>：</a:t>
            </a:r>
            <a:r>
              <a:rPr sz="2000">
                <a:latin typeface="Microsoft YaHei"/>
                <a:ea typeface="Microsoft YaHei"/>
                <a:cs typeface="Microsoft YaHei"/>
              </a:rPr>
              <a:t>医学检测具身智能是指</a:t>
            </a:r>
            <a:r>
              <a:rPr sz="2000">
                <a:latin typeface="Microsoft YaHei"/>
                <a:ea typeface="Microsoft YaHei"/>
                <a:cs typeface="Microsoft YaHei"/>
              </a:rPr>
              <a:t>AI</a:t>
            </a:r>
            <a:r>
              <a:rPr sz="2000">
                <a:latin typeface="Microsoft YaHei"/>
                <a:ea typeface="Microsoft YaHei"/>
                <a:cs typeface="Microsoft YaHei"/>
              </a:rPr>
              <a:t>依托机器人、智能传感器或其他</a:t>
            </a:r>
            <a:r>
              <a:rPr sz="2000" b="1">
                <a:latin typeface="Microsoft YaHei"/>
                <a:ea typeface="Microsoft YaHei"/>
                <a:cs typeface="Microsoft YaHei"/>
              </a:rPr>
              <a:t>物理载体</a:t>
            </a:r>
            <a:r>
              <a:rPr sz="2000">
                <a:latin typeface="Microsoft YaHei"/>
                <a:ea typeface="Microsoft YaHei"/>
                <a:cs typeface="Microsoft YaHei"/>
              </a:rPr>
              <a:t>，与患者、人体组织、生物样本、医疗仪器或诊疗环境等进行</a:t>
            </a:r>
            <a:r>
              <a:rPr sz="2000" b="1">
                <a:latin typeface="Microsoft YaHei"/>
                <a:ea typeface="Microsoft YaHei"/>
                <a:cs typeface="Microsoft YaHei"/>
              </a:rPr>
              <a:t>交互</a:t>
            </a:r>
            <a:r>
              <a:rPr sz="2000">
                <a:latin typeface="Microsoft YaHei"/>
                <a:ea typeface="Microsoft YaHei"/>
                <a:cs typeface="Microsoft YaHei"/>
              </a:rPr>
              <a:t>，结合</a:t>
            </a:r>
            <a:r>
              <a:rPr sz="2000" b="1">
                <a:latin typeface="Microsoft YaHei"/>
                <a:ea typeface="Microsoft YaHei"/>
                <a:cs typeface="Microsoft YaHei"/>
              </a:rPr>
              <a:t>检测目标、患者信息和既往检测记录</a:t>
            </a:r>
            <a:r>
              <a:rPr sz="2000">
                <a:latin typeface="Microsoft YaHei"/>
                <a:ea typeface="Microsoft YaHei"/>
                <a:cs typeface="Microsoft YaHei"/>
              </a:rPr>
              <a:t>，选择并</a:t>
            </a:r>
            <a:r>
              <a:rPr sz="2000" b="1">
                <a:latin typeface="Microsoft YaHei"/>
                <a:ea typeface="Microsoft YaHei"/>
                <a:cs typeface="Microsoft YaHei"/>
              </a:rPr>
              <a:t>执行</a:t>
            </a:r>
            <a:r>
              <a:rPr sz="2000">
                <a:latin typeface="Microsoft YaHei"/>
                <a:ea typeface="Microsoft YaHei"/>
                <a:cs typeface="Microsoft YaHei"/>
              </a:rPr>
              <a:t>观察、测量或采样等操作；再依据新获得的信号、组织响应或样本结果调整后续检测行为，并在需要时更新相关</a:t>
            </a:r>
            <a:r>
              <a:rPr sz="2000" b="1">
                <a:latin typeface="Microsoft YaHei"/>
                <a:ea typeface="Microsoft YaHei"/>
                <a:cs typeface="Microsoft YaHei"/>
              </a:rPr>
              <a:t>记忆</a:t>
            </a:r>
            <a:r>
              <a:rPr sz="2000">
                <a:latin typeface="Microsoft YaHei"/>
                <a:ea typeface="Microsoft YaHei"/>
                <a:cs typeface="Microsoft YaHei"/>
              </a:rPr>
              <a:t>，</a:t>
            </a:r>
            <a:r>
              <a:rPr sz="200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从而形成</a:t>
            </a:r>
            <a:r>
              <a:rPr sz="20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持续的感知—结合记忆决策—行动—反馈闭环</a:t>
            </a:r>
            <a:r>
              <a:rPr sz="200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，获得充分、可靠且安全的诊断证据，为临床决策提供支持。</a:t>
            </a:r>
            <a:endParaRPr sz="2000">
              <a:solidFill>
                <a:srgbClr val="C00000"/>
              </a:solidFill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55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debb6e71c143f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1985" y="2471420"/>
            <a:ext cx="6281420" cy="4188460"/>
          </a:xfrm>
          <a:prstGeom xmlns:a="http://schemas.openxmlformats.org/drawingml/2006/main" prst="rect">
            <a:avLst/>
          </a:prstGeom>
        </p:spPr>
      </p:pic>
      <p:sp>
        <p:nvSpPr>
          <p:cNvPr id="9" name="直接连接符 8">
            <a:extLst xmlns:a="http://schemas.openxmlformats.org/drawingml/2006/main">
              <a:ext uri="{FF2B5EF4-FFF2-40B4-BE49-F238E27FC236}">
                <a16:creationId xmlns:a16="http://schemas.microsoft.com/office/drawing/2014/main" id="{5BF39C3B-A7BE-446E-ACFA-1CB6B59B5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6940" y="2370455"/>
            <a:ext cx="12700" cy="4295140"/>
          </a:xfrm>
          <a:prstGeom xmlns:a="http://schemas.openxmlformats.org/drawingml/2006/main" prst="line">
            <a:avLst/>
          </a:prstGeom>
          <a:ln xmlns:a="http://schemas.openxmlformats.org/drawingml/2006/main" w="6350">
            <a:solidFill>
              <a:srgbClr val="85388B"/>
            </a:solidFill>
            <a:prstDash val="dash"/>
          </a:ln>
        </p:spPr>
        <p:style>
          <a:lnRef xmlns:a="http://schemas.openxmlformats.org/drawingml/2006/main" idx="0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sp>
      <p:sp>
        <p:nvSpPr>
          <p:cNvPr id="14" name="左大括号 13">
            <a:extLst xmlns:a="http://schemas.openxmlformats.org/drawingml/2006/main">
              <a:ext uri="{FF2B5EF4-FFF2-40B4-BE49-F238E27FC236}">
                <a16:creationId xmlns:a16="http://schemas.microsoft.com/office/drawing/2014/main" id="{7EE087BC-8587-4D46-B957-1AA53F962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4610" y="2749550"/>
            <a:ext cx="99695" cy="3744595"/>
          </a:xfrm>
          <a:prstGeom xmlns:a="http://schemas.openxmlformats.org/drawingml/2006/main" prst="leftBrace">
            <a:avLst>
              <a:gd name="adj1" fmla="val 0"/>
              <a:gd name="adj2" fmla="val 50000"/>
            </a:avLst>
          </a:prstGeom>
          <a:ln xmlns:a="http://schemas.openxmlformats.org/drawingml/2006/main">
            <a:solidFill>
              <a:srgbClr val="7030A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61D17FD2-9176-44B6-9BF4-851D31689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6365" y="2268855"/>
            <a:ext cx="1764030" cy="398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latin typeface="Times New Roman"/>
                <a:ea typeface="Times New Roman"/>
                <a:cs typeface="Times New Roman"/>
              </a:rPr>
              <a:t>Application</a:t>
            </a:r>
            <a:endParaRPr sz="2000" b="1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EFA7E08F-9179-4CBB-BCF9-80ABC8238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3385" y="2587625"/>
            <a:ext cx="4064000" cy="398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000">
                <a:latin typeface="Times New Roman"/>
                <a:ea typeface="Times New Roman"/>
                <a:cs typeface="Times New Roman"/>
              </a:rPr>
              <a:t>Clinical Detection and Intervention</a:t>
            </a:r>
            <a:endParaRPr sz="200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67C22622-E593-41C3-8683-F356BA3D6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3385" y="3679190"/>
            <a:ext cx="4064000" cy="7067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000">
                <a:latin typeface="Times New Roman"/>
                <a:ea typeface="Times New Roman"/>
                <a:cs typeface="Times New Roman"/>
              </a:rPr>
              <a:t>Laboratory diagnostics and assay development</a:t>
            </a:r>
            <a:endParaRPr sz="200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237CEA88-702D-4E23-A507-5E384BF29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3385" y="5045075"/>
            <a:ext cx="4064000" cy="7067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000">
                <a:latin typeface="Times New Roman"/>
                <a:ea typeface="Times New Roman"/>
                <a:cs typeface="Times New Roman"/>
              </a:rPr>
              <a:t>Everyday embodied monitoring and adaptive support</a:t>
            </a:r>
            <a:endParaRPr sz="2000"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62" name="图片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dd9540a3d64e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84185" y="2903855"/>
            <a:ext cx="848360" cy="848360"/>
          </a:xfrm>
          <a:prstGeom xmlns:a="http://schemas.openxmlformats.org/drawingml/2006/main" prst="rect">
            <a:avLst/>
          </a:prstGeom>
        </p:spPr>
      </p:pic>
      <p:pic>
        <p:nvPicPr>
          <p:cNvPr id="63" name="图片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02727a88604cd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25050" y="2950845"/>
            <a:ext cx="781685" cy="781685"/>
          </a:xfrm>
          <a:prstGeom xmlns:a="http://schemas.openxmlformats.org/drawingml/2006/main" prst="rect">
            <a:avLst/>
          </a:prstGeom>
        </p:spPr>
      </p:pic>
      <p:pic>
        <p:nvPicPr>
          <p:cNvPr id="64" name="图片 2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34d84942a34c0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29620" y="2928620"/>
            <a:ext cx="803910" cy="803910"/>
          </a:xfrm>
          <a:prstGeom xmlns:a="http://schemas.openxmlformats.org/drawingml/2006/main" prst="rect">
            <a:avLst/>
          </a:prstGeom>
        </p:spPr>
      </p:pic>
      <p:pic>
        <p:nvPicPr>
          <p:cNvPr id="6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02648ff9544bb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45450" y="4328160"/>
            <a:ext cx="793750" cy="793750"/>
          </a:xfrm>
          <a:prstGeom xmlns:a="http://schemas.openxmlformats.org/drawingml/2006/main" prst="rect">
            <a:avLst/>
          </a:prstGeom>
        </p:spPr>
      </p:pic>
      <p:pic>
        <p:nvPicPr>
          <p:cNvPr id="66" name="图片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24fcdf00d9421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89695" y="4328160"/>
            <a:ext cx="744855" cy="744855"/>
          </a:xfrm>
          <a:prstGeom xmlns:a="http://schemas.openxmlformats.org/drawingml/2006/main" prst="rect">
            <a:avLst/>
          </a:prstGeom>
        </p:spPr>
      </p:pic>
      <p:pic>
        <p:nvPicPr>
          <p:cNvPr id="67" name="图片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0ede2ed6e3479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02190" y="4240530"/>
            <a:ext cx="813435" cy="813435"/>
          </a:xfrm>
          <a:prstGeom xmlns:a="http://schemas.openxmlformats.org/drawingml/2006/main" prst="rect">
            <a:avLst/>
          </a:prstGeom>
        </p:spPr>
      </p:pic>
      <p:pic>
        <p:nvPicPr>
          <p:cNvPr id="68" name="图片 2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3f3c0715f4496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45800" y="4192905"/>
            <a:ext cx="882650" cy="882650"/>
          </a:xfrm>
          <a:prstGeom xmlns:a="http://schemas.openxmlformats.org/drawingml/2006/main" prst="rect">
            <a:avLst/>
          </a:prstGeom>
        </p:spPr>
      </p:pic>
      <p:pic>
        <p:nvPicPr>
          <p:cNvPr id="69" name="图片 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1c48495b0e4d5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14030" y="5741035"/>
            <a:ext cx="813435" cy="813435"/>
          </a:xfrm>
          <a:prstGeom xmlns:a="http://schemas.openxmlformats.org/drawingml/2006/main" prst="rect">
            <a:avLst/>
          </a:prstGeom>
        </p:spPr>
      </p:pic>
      <p:pic>
        <p:nvPicPr>
          <p:cNvPr id="70" name="图片 3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201a467a294a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87790" y="2903855"/>
            <a:ext cx="882015" cy="882015"/>
          </a:xfrm>
          <a:prstGeom xmlns:a="http://schemas.openxmlformats.org/drawingml/2006/main" prst="rect">
            <a:avLst/>
          </a:prstGeom>
        </p:spPr>
      </p:pic>
      <p:pic>
        <p:nvPicPr>
          <p:cNvPr id="71" name="图片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de2bea5c4f426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96680" y="5728335"/>
            <a:ext cx="817880" cy="817880"/>
          </a:xfrm>
          <a:prstGeom xmlns:a="http://schemas.openxmlformats.org/drawingml/2006/main" prst="rect">
            <a:avLst/>
          </a:prstGeom>
        </p:spPr>
      </p:pic>
      <p:pic>
        <p:nvPicPr>
          <p:cNvPr id="72" name="图片 3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06518900b64b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00920" y="5664200"/>
            <a:ext cx="944880" cy="944880"/>
          </a:xfrm>
          <a:prstGeom xmlns:a="http://schemas.openxmlformats.org/drawingml/2006/main" prst="rect">
            <a:avLst/>
          </a:prstGeom>
        </p:spPr>
      </p:pic>
      <p:pic>
        <p:nvPicPr>
          <p:cNvPr id="73" name="图片 3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e6c164a0e749e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56925" y="5650230"/>
            <a:ext cx="829945" cy="82994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89344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B1C46F63-6D9F-49A9-9732-DCCE7EB04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7771"/>
            <a:ext cx="12192000" cy="58404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00000">
                <a:schemeClr val="bg1"/>
              </a:gs>
              <a:gs pos="18000">
                <a:srgbClr val="813789"/>
              </a:gs>
              <a:gs pos="0">
                <a:srgbClr val="813789"/>
              </a:gs>
            </a:gsLst>
            <a:lin ang="270000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38" name="图片 3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dd207281364c9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73387" y="11991"/>
            <a:ext cx="1676015" cy="655780"/>
          </a:xfrm>
          <a:prstGeom xmlns:a="http://schemas.openxmlformats.org/drawingml/2006/main" prst="rect">
            <a:avLst/>
          </a:prstGeom>
        </p:spPr>
      </p:pic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C3FBB920-8A68-4C06-ABD6-4F5C1859A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860" y="200660"/>
            <a:ext cx="5683885" cy="460375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25400" dist="25400" dir="2700000" algn="tl" rotWithShape="0">
              <a:prstClr val="black">
                <a:alpha val="46000"/>
              </a:prstClr>
            </a:outerShdw>
          </a:effectLst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>
                <a:solidFill>
                  <a:srgbClr val="813789"/>
                </a:solidFill>
                <a:latin typeface="Arial"/>
                <a:ea typeface="Arial"/>
                <a:cs typeface="Arial"/>
              </a:rPr>
              <a:t>Clinical Detection and Intervention</a:t>
            </a:r>
            <a:endParaRPr sz="2400" b="1" i="0" u="none" kern="1200" cap="none" spc="0" baseline="0">
              <a:ln>
                <a:noFill/>
              </a:ln>
              <a:solidFill>
                <a:srgbClr val="81378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0E849B5B-7653-4392-9E14-44FD5D61F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76225"/>
            <a:ext cx="4455795" cy="398780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25400" dist="25400" dir="2700000" algn="tl" rotWithShape="0">
              <a:prstClr val="black">
                <a:alpha val="46000"/>
              </a:prstClr>
            </a:outerShdw>
          </a:effectLst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000" b="1" i="0" u="none" cap="none">
                <a:ln>
                  <a:noFill/>
                </a:ln>
                <a:solidFill>
                  <a:srgbClr val="813789"/>
                </a:solidFill>
                <a:latin typeface="Arial"/>
                <a:ea typeface="Arial"/>
                <a:cs typeface="Arial"/>
              </a:rPr>
              <a:t>1.1 Active observational sensing</a:t>
            </a:r>
            <a:endParaRPr sz="2000" b="1" i="0" u="none" kern="1200" cap="none" spc="0" baseline="0">
              <a:ln>
                <a:noFill/>
              </a:ln>
              <a:solidFill>
                <a:srgbClr val="81378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941D63C7-9F9B-470F-AAEC-1AC30FAC7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" y="932180"/>
            <a:ext cx="3053080" cy="56311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b="1">
                <a:latin typeface="Microsoft YaHei"/>
                <a:ea typeface="Microsoft YaHei"/>
                <a:cs typeface="Microsoft YaHei"/>
              </a:rPr>
              <a:t>主动观察式检测</a:t>
            </a:r>
            <a:r>
              <a:rPr sz="2000">
                <a:latin typeface="Microsoft YaHei"/>
                <a:ea typeface="Microsoft YaHei"/>
                <a:cs typeface="Microsoft YaHei"/>
              </a:rPr>
              <a:t>：</a:t>
            </a:r>
            <a:endParaRPr sz="2000"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endParaRPr sz="2000"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marL="342900" indent="-342900">
              <a:buFont typeface="Arial"/>
              <a:buChar char="•"/>
            </a:pPr>
            <a:r>
              <a:rPr sz="2000">
                <a:latin typeface="Microsoft YaHei"/>
                <a:ea typeface="Microsoft YaHei"/>
                <a:cs typeface="Microsoft YaHei"/>
              </a:rPr>
              <a:t>智能体</a:t>
            </a:r>
            <a:endParaRPr sz="2000"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marL="342900" indent="-342900">
              <a:buFont typeface="Arial"/>
              <a:buChar char="•"/>
            </a:pPr>
            <a:endParaRPr sz="2000"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marL="342900" indent="-342900">
              <a:buFont typeface="Arial"/>
              <a:buChar char="•"/>
            </a:pPr>
            <a:r>
              <a:rPr sz="2000" b="1" i="1">
                <a:latin typeface="Microsoft YaHei"/>
                <a:ea typeface="Microsoft YaHei"/>
                <a:cs typeface="Microsoft YaHei"/>
              </a:rPr>
              <a:t>perception and memory:</a:t>
            </a:r>
            <a:r>
              <a:rPr sz="2000" i="1">
                <a:latin typeface="Microsoft YaHei"/>
                <a:ea typeface="Microsoft YaHei"/>
                <a:cs typeface="Microsoft YaHei"/>
              </a:rPr>
              <a:t> </a:t>
            </a:r>
            <a:r>
              <a:rPr sz="2000">
                <a:latin typeface="Microsoft YaHei"/>
                <a:ea typeface="Microsoft YaHei"/>
                <a:cs typeface="Microsoft YaHei"/>
              </a:rPr>
              <a:t>根据当前观察结果以及医学知识</a:t>
            </a:r>
            <a:endParaRPr sz="2000"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marL="342900" indent="-342900">
              <a:buFont typeface="Arial"/>
              <a:buChar char="•"/>
            </a:pPr>
            <a:endParaRPr sz="2000"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marL="342900" indent="-342900">
              <a:buFont typeface="Arial"/>
              <a:buChar char="•"/>
            </a:pPr>
            <a:r>
              <a:rPr sz="2000" b="1" i="1">
                <a:latin typeface="Microsoft YaHei"/>
                <a:ea typeface="Microsoft YaHei"/>
                <a:cs typeface="Microsoft YaHei"/>
              </a:rPr>
              <a:t>decision and action</a:t>
            </a:r>
            <a:r>
              <a:rPr sz="2000" i="1">
                <a:latin typeface="Microsoft YaHei"/>
                <a:ea typeface="Microsoft YaHei"/>
                <a:cs typeface="Microsoft YaHei"/>
              </a:rPr>
              <a:t>:</a:t>
            </a:r>
            <a:r>
              <a:rPr sz="2000">
                <a:latin typeface="Microsoft YaHei"/>
                <a:ea typeface="Microsoft YaHei"/>
                <a:cs typeface="Microsoft YaHei"/>
              </a:rPr>
              <a:t> </a:t>
            </a:r>
            <a:r>
              <a:rPr sz="2000">
                <a:latin typeface="Microsoft YaHei"/>
                <a:ea typeface="Microsoft YaHei"/>
                <a:cs typeface="Microsoft YaHei"/>
              </a:rPr>
              <a:t>主动改变传感器的视点、位置、方向、接触状态或扫描路径</a:t>
            </a:r>
            <a:endParaRPr sz="2000"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marL="342900" indent="-342900">
              <a:buFont typeface="Arial"/>
              <a:buChar char="•"/>
            </a:pPr>
            <a:endParaRPr sz="2000"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marL="342900" indent="-342900">
              <a:buFont typeface="Arial"/>
              <a:buChar char="•"/>
            </a:pPr>
            <a:r>
              <a:rPr sz="2000" b="1" i="1">
                <a:latin typeface="Microsoft YaHei"/>
                <a:ea typeface="Microsoft YaHei"/>
                <a:cs typeface="Microsoft YaHei"/>
              </a:rPr>
              <a:t>feedback and closed loop</a:t>
            </a:r>
            <a:r>
              <a:rPr sz="2000" i="1">
                <a:latin typeface="Microsoft YaHei"/>
                <a:ea typeface="Microsoft YaHei"/>
                <a:cs typeface="Microsoft YaHei"/>
              </a:rPr>
              <a:t>:</a:t>
            </a:r>
            <a:r>
              <a:rPr sz="2000">
                <a:latin typeface="Microsoft YaHei"/>
                <a:ea typeface="Microsoft YaHei"/>
                <a:cs typeface="Microsoft YaHei"/>
              </a:rPr>
              <a:t> </a:t>
            </a:r>
            <a:r>
              <a:rPr sz="2000">
                <a:latin typeface="Microsoft YaHei"/>
                <a:ea typeface="Microsoft YaHei"/>
                <a:cs typeface="Microsoft YaHei"/>
              </a:rPr>
              <a:t>以获得质量更高、覆盖更完整或诊断价值更大的下一次观察。</a:t>
            </a:r>
            <a:endParaRPr sz="200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42" name="图片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8290cf5a844e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065145" y="839470"/>
            <a:ext cx="8780145" cy="5853430"/>
          </a:xfrm>
          <a:prstGeom xmlns:a="http://schemas.openxmlformats.org/drawingml/2006/main" prst="rect">
            <a:avLst/>
          </a:prstGeom>
        </p:spPr>
      </p:pic>
      <p:sp>
        <p:nvSpPr>
          <p:cNvPr id="7" name="菱形 6">
            <a:extLst xmlns:a="http://schemas.openxmlformats.org/drawingml/2006/main">
              <a:ext uri="{FF2B5EF4-FFF2-40B4-BE49-F238E27FC236}">
                <a16:creationId xmlns:a16="http://schemas.microsoft.com/office/drawing/2014/main" id="{AC153749-9756-4A3F-AA04-862145208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646273" y="6312273"/>
            <a:ext cx="545727" cy="545727"/>
          </a:xfrm>
          <a:prstGeom xmlns:a="http://schemas.openxmlformats.org/drawingml/2006/main" prst="diamond">
            <a:avLst/>
          </a:prstGeom>
          <a:gradFill xmlns:a="http://schemas.openxmlformats.org/drawingml/2006/main">
            <a:gsLst>
              <a:gs pos="100000">
                <a:srgbClr val="C8282A"/>
              </a:gs>
              <a:gs pos="0">
                <a:srgbClr val="194779"/>
              </a:gs>
            </a:gsLst>
            <a:lin ang="18900000" scaled="0"/>
          </a:gradFill>
          <a:ln xmlns:a="http://schemas.openxmlformats.org/drawingml/2006/main">
            <a:noFill/>
          </a:ln>
          <a:effectLst xmlns:a="http://schemas.openxmlformats.org/drawingml/2006/main">
            <a:outerShdw blurRad="127000" dist="38100" dir="2700000" algn="ctr">
              <a:srgbClr val="000000">
                <a:alpha val="45000"/>
              </a:srgb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DengXian"/>
              <a:ea typeface="DengXian"/>
              <a:cs typeface="DengXian"/>
            </a:endParaR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5567C6C5-6DA3-4C53-B600-6B0BD897A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79448" y="6438719"/>
            <a:ext cx="320922" cy="338554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glow rad="63500">
              <a:schemeClr val="accent3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600">
                <a:solidFill>
                  <a:prstClr val="white"/>
                </a:solidFill>
                <a:latin typeface="Arial Black"/>
                <a:ea typeface="Arial Black"/>
                <a:cs typeface="Arial Black"/>
              </a:rPr>
              <a:t>2</a:t>
            </a:r>
            <a:endParaRPr sz="1600" b="0" i="0" u="none" kern="1200" cap="none" spc="0" baseline="0">
              <a:ln>
                <a:noFill/>
              </a:ln>
              <a:solidFill>
                <a:prstClr val="white"/>
              </a:solidFill>
              <a:latin typeface="Arial Black"/>
              <a:ea typeface="Arial Black"/>
              <a:cs typeface="Arial Black"/>
            </a:endParaRPr>
          </a:p>
        </p:txBody>
      </p:sp>
    </p:spTree>
    <p:extLst>
      <p:ext uri="{BB962C8B-B14F-4D97-AF65-F5344CB8AC3E}">
        <p14:creationId xmlns:p14="http://schemas.microsoft.com/office/powerpoint/2010/main" val="173710933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菱形 6">
            <a:extLst xmlns:a="http://schemas.openxmlformats.org/drawingml/2006/main">
              <a:ext uri="{FF2B5EF4-FFF2-40B4-BE49-F238E27FC236}">
                <a16:creationId xmlns:a16="http://schemas.microsoft.com/office/drawing/2014/main" id="{8825E84B-323B-49D9-8108-437BE039C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646273" y="6312273"/>
            <a:ext cx="545727" cy="545727"/>
          </a:xfrm>
          <a:prstGeom xmlns:a="http://schemas.openxmlformats.org/drawingml/2006/main" prst="diamond">
            <a:avLst/>
          </a:prstGeom>
          <a:gradFill xmlns:a="http://schemas.openxmlformats.org/drawingml/2006/main">
            <a:gsLst>
              <a:gs pos="100000">
                <a:srgbClr val="C8282A"/>
              </a:gs>
              <a:gs pos="0">
                <a:srgbClr val="194779"/>
              </a:gs>
            </a:gsLst>
            <a:lin ang="18900000" scaled="0"/>
          </a:gradFill>
          <a:ln xmlns:a="http://schemas.openxmlformats.org/drawingml/2006/main">
            <a:noFill/>
          </a:ln>
          <a:effectLst xmlns:a="http://schemas.openxmlformats.org/drawingml/2006/main">
            <a:outerShdw blurRad="127000" dist="38100" dir="2700000" algn="ctr">
              <a:srgbClr val="000000">
                <a:alpha val="45000"/>
              </a:srgb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DengXian"/>
              <a:ea typeface="DengXian"/>
              <a:cs typeface="DengXian"/>
            </a:endParaR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C092C980-ED75-4D29-A46B-D4C2D5D83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79448" y="6438719"/>
            <a:ext cx="320922" cy="338554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glow rad="63500">
              <a:schemeClr val="accent3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600">
                <a:solidFill>
                  <a:prstClr val="white"/>
                </a:solidFill>
                <a:latin typeface="Arial Black"/>
                <a:ea typeface="Arial Black"/>
                <a:cs typeface="Arial Black"/>
              </a:rPr>
              <a:t>5</a:t>
            </a:r>
            <a:endParaRPr sz="1600" b="0" i="0" u="none" kern="1200" cap="none" spc="0" baseline="0">
              <a:ln>
                <a:noFill/>
              </a:ln>
              <a:solidFill>
                <a:prstClr val="white"/>
              </a:solidFill>
              <a:latin typeface="Arial Black"/>
              <a:ea typeface="Arial Black"/>
              <a:cs typeface="Arial Black"/>
            </a:endParaRP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5E3D2DBA-49E9-4CCC-954E-E5F077021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7771"/>
            <a:ext cx="12192000" cy="58404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00000">
                <a:schemeClr val="bg1"/>
              </a:gs>
              <a:gs pos="18000">
                <a:srgbClr val="813789"/>
              </a:gs>
              <a:gs pos="0">
                <a:srgbClr val="813789"/>
              </a:gs>
            </a:gsLst>
            <a:lin ang="270000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66" name="图片 3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a6b76b6490453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73387" y="11991"/>
            <a:ext cx="1676015" cy="655780"/>
          </a:xfrm>
          <a:prstGeom xmlns:a="http://schemas.openxmlformats.org/drawingml/2006/main" prst="rect">
            <a:avLst/>
          </a:prstGeom>
        </p:spPr>
      </p:pic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CA205373-4581-4B3B-B4F7-9D33498BF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860" y="200660"/>
            <a:ext cx="5683885" cy="460375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25400" dist="25400" dir="2700000" algn="tl" rotWithShape="0">
              <a:prstClr val="black">
                <a:alpha val="46000"/>
              </a:prstClr>
            </a:outerShdw>
          </a:effectLst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>
                <a:solidFill>
                  <a:srgbClr val="813789"/>
                </a:solidFill>
                <a:latin typeface="Arial"/>
                <a:ea typeface="Arial"/>
                <a:cs typeface="Arial"/>
              </a:rPr>
              <a:t>Clinical Detection and Intervention</a:t>
            </a:r>
            <a:endParaRPr sz="2400" b="1" i="0" u="none" kern="1200" cap="none" spc="0" baseline="0">
              <a:ln>
                <a:noFill/>
              </a:ln>
              <a:solidFill>
                <a:srgbClr val="81378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77E6F11E-B04D-4DB9-982C-23761098E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76225"/>
            <a:ext cx="5599430" cy="398780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25400" dist="25400" dir="2700000" algn="tl" rotWithShape="0">
              <a:prstClr val="black">
                <a:alpha val="46000"/>
              </a:prstClr>
            </a:outerShdw>
          </a:effectLst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000" b="1">
                <a:ln>
                  <a:noFill/>
                </a:ln>
                <a:solidFill>
                  <a:srgbClr val="813789"/>
                </a:solidFill>
                <a:latin typeface="Arial"/>
                <a:ea typeface="Arial"/>
                <a:cs typeface="Arial"/>
              </a:rPr>
              <a:t>1.1 Active observational sensing</a:t>
            </a:r>
            <a:endParaRPr sz="2000" b="1" i="0" u="none" kern="1200" cap="none" spc="0" baseline="0">
              <a:ln>
                <a:noFill/>
              </a:ln>
              <a:solidFill>
                <a:srgbClr val="81378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ACF8394-FEDE-436C-B6AE-F9C249220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742950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5212A"/>
                </a:solidFill>
                <a:latin typeface="等线"/>
                <a:ea typeface="等线"/>
                <a:cs typeface="等线"/>
              </a:defRPr>
            </a:pPr>
            <a:r>
              <a:rPr sz="2100" b="1">
                <a:solidFill>
                  <a:srgbClr val="25212A"/>
                </a:solidFill>
                <a:latin typeface="等线"/>
                <a:ea typeface="等线"/>
                <a:cs typeface="等线"/>
              </a:rPr>
              <a:t>主动观察式检测：研究集群与证据边界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869F56B-2B38-487C-B270-9148DFF94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162050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B1A6E"/>
                </a:solidFill>
                <a:latin typeface="等线"/>
                <a:ea typeface="等线"/>
                <a:cs typeface="等线"/>
              </a:defRPr>
            </a:pPr>
            <a:r>
              <a:rPr sz="1500" b="1">
                <a:solidFill>
                  <a:srgbClr val="5B1A6E"/>
                </a:solidFill>
                <a:latin typeface="等线"/>
                <a:ea typeface="等线"/>
                <a:cs typeface="等线"/>
              </a:rPr>
              <a:t>研究量 ≠ 临床成熟度：机器人超声形成最大集群，闭环证据仍集中在少数人体可行性研究。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C7D45BD-7F93-4976-9D60-D4AD792AF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676400"/>
            <a:ext cx="2238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212A"/>
                </a:solidFill>
                <a:latin typeface="等线"/>
                <a:ea typeface="等线"/>
                <a:cs typeface="等线"/>
              </a:defRPr>
            </a:pPr>
            <a:r>
              <a:rPr sz="1350" b="1">
                <a:solidFill>
                  <a:srgbClr val="25212A"/>
                </a:solidFill>
                <a:latin typeface="等线"/>
                <a:ea typeface="等线"/>
                <a:cs typeface="等线"/>
              </a:rPr>
              <a:t>机器人超声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129D670-07C5-44EE-864C-E7C524F3B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714500"/>
            <a:ext cx="6191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E9F0"/>
          </a:solidFill>
          <a:ln xmlns:a="http://schemas.openxmlformats.org/drawingml/2006/main" w="9525">
            <a:solidFill>
              <a:srgbClr val="EEE9F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CDB6416-5C35-47D3-8B50-A5513E4A8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714500"/>
            <a:ext cx="6191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B1A6E"/>
          </a:solidFill>
          <a:ln xmlns:a="http://schemas.openxmlformats.org/drawingml/2006/main" w="9525">
            <a:solidFill>
              <a:srgbClr val="5B1A6E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4A5FF72-9D78-4595-945A-0A232D930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676400"/>
            <a:ext cx="809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5B1A6E"/>
                </a:solidFill>
                <a:latin typeface="等线"/>
                <a:ea typeface="等线"/>
                <a:cs typeface="等线"/>
              </a:defRPr>
            </a:pPr>
            <a:r>
              <a:rPr sz="1500" b="1">
                <a:solidFill>
                  <a:srgbClr val="5B1A6E"/>
                </a:solidFill>
                <a:latin typeface="等线"/>
                <a:ea typeface="等线"/>
                <a:cs typeface="等线"/>
              </a:rPr>
              <a:t>529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55CAD69-F73D-4F7E-AC74-1468CAA9D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1676400"/>
            <a:ext cx="1285875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D65"/>
          </a:solidFill>
          <a:ln xmlns:a="http://schemas.openxmlformats.org/drawingml/2006/main" w="9525">
            <a:solidFill>
              <a:srgbClr val="2E7D6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0158AC3-963F-426B-BF57-E7C748F36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1676400"/>
            <a:ext cx="1285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等线"/>
                <a:ea typeface="等线"/>
                <a:cs typeface="等线"/>
              </a:defRPr>
            </a:pPr>
            <a:r>
              <a:rPr sz="1050" b="1">
                <a:solidFill>
                  <a:srgbClr val="FFFFFF"/>
                </a:solidFill>
                <a:latin typeface="等线"/>
                <a:ea typeface="等线"/>
                <a:cs typeface="等线"/>
              </a:rPr>
              <a:t>人体可行性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383BB0A-178D-445F-A356-C4DD0AD51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543175"/>
            <a:ext cx="2238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212A"/>
                </a:solidFill>
                <a:latin typeface="等线"/>
                <a:ea typeface="等线"/>
                <a:cs typeface="等线"/>
              </a:defRPr>
            </a:pPr>
            <a:r>
              <a:rPr sz="1350" b="1">
                <a:solidFill>
                  <a:srgbClr val="25212A"/>
                </a:solidFill>
                <a:latin typeface="等线"/>
                <a:ea typeface="等线"/>
                <a:cs typeface="等线"/>
              </a:rPr>
              <a:t>内镜搜索/巡检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35E29CD-C417-47EA-B179-324B22FE1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581275"/>
            <a:ext cx="6191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E9F0"/>
          </a:solidFill>
          <a:ln xmlns:a="http://schemas.openxmlformats.org/drawingml/2006/main" w="9525">
            <a:solidFill>
              <a:srgbClr val="EEE9F0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16A656F-FBCA-47F8-895D-36470A6AA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581275"/>
            <a:ext cx="3054662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A3E8E"/>
          </a:solidFill>
          <a:ln xmlns:a="http://schemas.openxmlformats.org/drawingml/2006/main" w="9525">
            <a:solidFill>
              <a:srgbClr val="7A3E8E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519A85B-EC38-42B6-8A29-62BEB56C0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43175"/>
            <a:ext cx="809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5B1A6E"/>
                </a:solidFill>
                <a:latin typeface="等线"/>
                <a:ea typeface="等线"/>
                <a:cs typeface="等线"/>
              </a:defRPr>
            </a:pPr>
            <a:r>
              <a:rPr sz="1500" b="1">
                <a:solidFill>
                  <a:srgbClr val="5B1A6E"/>
                </a:solidFill>
                <a:latin typeface="等线"/>
                <a:ea typeface="等线"/>
                <a:cs typeface="等线"/>
              </a:rPr>
              <a:t>261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E24890A-43A4-4D87-8FA5-491F92D4C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543175"/>
            <a:ext cx="1285875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A3E8E"/>
          </a:solidFill>
          <a:ln xmlns:a="http://schemas.openxmlformats.org/drawingml/2006/main" w="9525">
            <a:solidFill>
              <a:srgbClr val="7A3E8E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46F28D9-5626-4461-99D7-17DCEFB34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543175"/>
            <a:ext cx="1285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等线"/>
                <a:ea typeface="等线"/>
                <a:cs typeface="等线"/>
              </a:defRPr>
            </a:pPr>
            <a:r>
              <a:rPr sz="1050" b="1">
                <a:solidFill>
                  <a:srgbClr val="FFFFFF"/>
                </a:solidFill>
                <a:latin typeface="等线"/>
                <a:ea typeface="等线"/>
                <a:cs typeface="等线"/>
              </a:rPr>
              <a:t>多为导航/覆盖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29E2E3C-1431-443C-8360-9C1F51077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409950"/>
            <a:ext cx="2238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212A"/>
                </a:solidFill>
                <a:latin typeface="等线"/>
                <a:ea typeface="等线"/>
                <a:cs typeface="等线"/>
              </a:defRPr>
            </a:pPr>
            <a:r>
              <a:rPr sz="1350" b="1">
                <a:solidFill>
                  <a:srgbClr val="25212A"/>
                </a:solidFill>
                <a:latin typeface="等线"/>
                <a:ea typeface="等线"/>
                <a:cs typeface="等线"/>
              </a:rPr>
              <a:t>机器人 OCT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2DDBC84-0885-4296-8D31-3E2D031EA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448050"/>
            <a:ext cx="6191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E9F0"/>
          </a:solidFill>
          <a:ln xmlns:a="http://schemas.openxmlformats.org/drawingml/2006/main" w="9525">
            <a:solidFill>
              <a:srgbClr val="EEE9F0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D2D62AA-5E3F-4191-9CB4-B0AEE5774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448050"/>
            <a:ext cx="585184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A3E8E"/>
          </a:solidFill>
          <a:ln xmlns:a="http://schemas.openxmlformats.org/drawingml/2006/main" w="9525">
            <a:solidFill>
              <a:srgbClr val="7A3E8E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9A4575B-7DCD-42E2-82EE-B29792883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3409950"/>
            <a:ext cx="809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5B1A6E"/>
                </a:solidFill>
                <a:latin typeface="等线"/>
                <a:ea typeface="等线"/>
                <a:cs typeface="等线"/>
              </a:defRPr>
            </a:pPr>
            <a:r>
              <a:rPr sz="1500" b="1">
                <a:solidFill>
                  <a:srgbClr val="5B1A6E"/>
                </a:solidFill>
                <a:latin typeface="等线"/>
                <a:ea typeface="等线"/>
                <a:cs typeface="等线"/>
              </a:rPr>
              <a:t>50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6798DD8-17B5-4410-A9D6-3A940811A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409950"/>
            <a:ext cx="1285875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A3E8E"/>
          </a:solidFill>
          <a:ln xmlns:a="http://schemas.openxmlformats.org/drawingml/2006/main" w="9525">
            <a:solidFill>
              <a:srgbClr val="7A3E8E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F43D775-D3E6-4F0E-9293-A85800C3E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409950"/>
            <a:ext cx="1285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等线"/>
                <a:ea typeface="等线"/>
                <a:cs typeface="等线"/>
              </a:defRPr>
            </a:pPr>
            <a:r>
              <a:rPr sz="1050" b="1">
                <a:solidFill>
                  <a:srgbClr val="FFFFFF"/>
                </a:solidFill>
                <a:latin typeface="等线"/>
                <a:ea typeface="等线"/>
                <a:cs typeface="等线"/>
              </a:rPr>
              <a:t>多为体外/原型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8D18B1C-614E-4A35-A0A5-D934BE8D1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276725"/>
            <a:ext cx="2238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212A"/>
                </a:solidFill>
                <a:latin typeface="等线"/>
                <a:ea typeface="等线"/>
                <a:cs typeface="等线"/>
              </a:defRPr>
            </a:pPr>
            <a:r>
              <a:rPr sz="1350" b="1">
                <a:solidFill>
                  <a:srgbClr val="25212A"/>
                </a:solidFill>
                <a:latin typeface="等线"/>
                <a:ea typeface="等线"/>
                <a:cs typeface="等线"/>
              </a:rPr>
              <a:t>听诊与表面扫描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FA007E8-9378-4071-A345-72454F16A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314825"/>
            <a:ext cx="6191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E9F0"/>
          </a:solidFill>
          <a:ln xmlns:a="http://schemas.openxmlformats.org/drawingml/2006/main" w="9525">
            <a:solidFill>
              <a:srgbClr val="EEE9F0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F9675A4-1AE0-4FBA-9831-B57D17BF3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314825"/>
            <a:ext cx="4191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A3E8E"/>
          </a:solidFill>
          <a:ln xmlns:a="http://schemas.openxmlformats.org/drawingml/2006/main" w="9525">
            <a:solidFill>
              <a:srgbClr val="7A3E8E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EDB429D-4019-47C3-85E6-E1A6E86B4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4276725"/>
            <a:ext cx="809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5B1A6E"/>
                </a:solidFill>
                <a:latin typeface="等线"/>
                <a:ea typeface="等线"/>
                <a:cs typeface="等线"/>
              </a:defRPr>
            </a:pPr>
            <a:r>
              <a:rPr sz="1500" b="1">
                <a:solidFill>
                  <a:srgbClr val="5B1A6E"/>
                </a:solidFill>
                <a:latin typeface="等线"/>
                <a:ea typeface="等线"/>
                <a:cs typeface="等线"/>
              </a:rPr>
              <a:t>&lt;30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8019F95-3243-4145-A6C6-0B95B25C4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4276725"/>
            <a:ext cx="1285875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A3E8E"/>
          </a:solidFill>
          <a:ln xmlns:a="http://schemas.openxmlformats.org/drawingml/2006/main" w="9525">
            <a:solidFill>
              <a:srgbClr val="7A3E8E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106A44F-6E4B-4160-9BAC-9D05F934F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4276725"/>
            <a:ext cx="1285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等线"/>
                <a:ea typeface="等线"/>
                <a:cs typeface="等线"/>
              </a:defRPr>
            </a:pPr>
            <a:r>
              <a:rPr sz="1050" b="1">
                <a:solidFill>
                  <a:srgbClr val="FFFFFF"/>
                </a:solidFill>
                <a:latin typeface="等线"/>
                <a:ea typeface="等线"/>
                <a:cs typeface="等线"/>
              </a:rPr>
              <a:t>稀疏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CD3B880-84F9-4D00-9BFB-C5E1C80E1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53100"/>
            <a:ext cx="10810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D6672"/>
                </a:solidFill>
                <a:latin typeface="等线"/>
                <a:ea typeface="等线"/>
                <a:cs typeface="等线"/>
              </a:defRPr>
            </a:pPr>
            <a:r>
              <a:rPr sz="1200" b="0">
                <a:solidFill>
                  <a:srgbClr val="6D6672"/>
                </a:solidFill>
                <a:latin typeface="等线"/>
                <a:ea typeface="等线"/>
                <a:cs typeface="等线"/>
              </a:rPr>
              <a:t>计量口径：题名/摘要闭环候选快照；跨数据库去重与全文筛选仍在持续。</a:t>
            </a:r>
          </a:p>
        </p:txBody>
      </p:sp>
    </p:spTree>
    <p:extLst>
      <p:ext uri="{BB962C8B-B14F-4D97-AF65-F5344CB8AC3E}">
        <p14:creationId xmlns:p14="http://schemas.microsoft.com/office/powerpoint/2010/main" val="202512137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菱形 6">
            <a:extLst xmlns:a="http://schemas.openxmlformats.org/drawingml/2006/main">
              <a:ext uri="{FF2B5EF4-FFF2-40B4-BE49-F238E27FC236}">
                <a16:creationId xmlns:a16="http://schemas.microsoft.com/office/drawing/2014/main" id="{8825E84B-323B-49D9-8108-437BE039C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646273" y="6312273"/>
            <a:ext cx="545727" cy="545727"/>
          </a:xfrm>
          <a:prstGeom xmlns:a="http://schemas.openxmlformats.org/drawingml/2006/main" prst="diamond">
            <a:avLst/>
          </a:prstGeom>
          <a:gradFill xmlns:a="http://schemas.openxmlformats.org/drawingml/2006/main">
            <a:gsLst>
              <a:gs pos="100000">
                <a:srgbClr val="C8282A"/>
              </a:gs>
              <a:gs pos="0">
                <a:srgbClr val="194779"/>
              </a:gs>
            </a:gsLst>
            <a:lin ang="18900000" scaled="0"/>
          </a:gradFill>
          <a:ln xmlns:a="http://schemas.openxmlformats.org/drawingml/2006/main">
            <a:noFill/>
          </a:ln>
          <a:effectLst xmlns:a="http://schemas.openxmlformats.org/drawingml/2006/main">
            <a:outerShdw blurRad="127000" dist="38100" dir="2700000" algn="ctr">
              <a:srgbClr val="000000">
                <a:alpha val="45000"/>
              </a:srgb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DengXian"/>
              <a:ea typeface="DengXian"/>
              <a:cs typeface="DengXian"/>
            </a:endParaR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C092C980-ED75-4D29-A46B-D4C2D5D83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79448" y="6438719"/>
            <a:ext cx="320922" cy="338554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glow rad="63500">
              <a:schemeClr val="accent3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600">
                <a:solidFill>
                  <a:prstClr val="white"/>
                </a:solidFill>
                <a:latin typeface="Arial Black"/>
                <a:ea typeface="Arial Black"/>
                <a:cs typeface="Arial Black"/>
              </a:rPr>
              <a:t>6</a:t>
            </a:r>
            <a:endParaRPr sz="1600" b="0" i="0" u="none" kern="1200" cap="none" spc="0" baseline="0">
              <a:ln>
                <a:noFill/>
              </a:ln>
              <a:solidFill>
                <a:prstClr val="white"/>
              </a:solidFill>
              <a:latin typeface="Arial Black"/>
              <a:ea typeface="Arial Black"/>
              <a:cs typeface="Arial Black"/>
            </a:endParaRP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5E3D2DBA-49E9-4CCC-954E-E5F077021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7771"/>
            <a:ext cx="12192000" cy="58404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00000">
                <a:schemeClr val="bg1"/>
              </a:gs>
              <a:gs pos="18000">
                <a:srgbClr val="813789"/>
              </a:gs>
              <a:gs pos="0">
                <a:srgbClr val="813789"/>
              </a:gs>
            </a:gsLst>
            <a:lin ang="270000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65" name="图片 3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7a9df1243347d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73387" y="11991"/>
            <a:ext cx="1676015" cy="655780"/>
          </a:xfrm>
          <a:prstGeom xmlns:a="http://schemas.openxmlformats.org/drawingml/2006/main" prst="rect">
            <a:avLst/>
          </a:prstGeom>
        </p:spPr>
      </p:pic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CA205373-4581-4B3B-B4F7-9D33498BF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860" y="200660"/>
            <a:ext cx="5683885" cy="460375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25400" dist="25400" dir="2700000" algn="tl" rotWithShape="0">
              <a:prstClr val="black">
                <a:alpha val="46000"/>
              </a:prstClr>
            </a:outerShdw>
          </a:effectLst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>
                <a:solidFill>
                  <a:srgbClr val="813789"/>
                </a:solidFill>
                <a:latin typeface="Arial"/>
                <a:ea typeface="Arial"/>
                <a:cs typeface="Arial"/>
              </a:rPr>
              <a:t>Clinical Detection and Intervention</a:t>
            </a:r>
            <a:endParaRPr sz="2400" b="1" i="0" u="none" kern="1200" cap="none" spc="0" baseline="0">
              <a:ln>
                <a:noFill/>
              </a:ln>
              <a:solidFill>
                <a:srgbClr val="81378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77E6F11E-B04D-4DB9-982C-23761098E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76225"/>
            <a:ext cx="5599430" cy="398780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25400" dist="25400" dir="2700000" algn="tl" rotWithShape="0">
              <a:prstClr val="black">
                <a:alpha val="46000"/>
              </a:prstClr>
            </a:outerShdw>
          </a:effectLst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000" b="1">
                <a:ln>
                  <a:noFill/>
                </a:ln>
                <a:solidFill>
                  <a:srgbClr val="813789"/>
                </a:solidFill>
                <a:latin typeface="Arial"/>
                <a:ea typeface="Arial"/>
                <a:cs typeface="Arial"/>
              </a:rPr>
              <a:t>1.1 Active observational sensing</a:t>
            </a:r>
            <a:endParaRPr sz="2000" b="1" i="0" u="none" kern="1200" cap="none" spc="0" baseline="0">
              <a:ln>
                <a:noFill/>
              </a:ln>
              <a:solidFill>
                <a:srgbClr val="81378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3CE7D13-750E-4D18-B59F-AEA330B75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742950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5212A"/>
                </a:solidFill>
                <a:latin typeface="等线"/>
                <a:ea typeface="等线"/>
                <a:cs typeface="等线"/>
              </a:defRPr>
            </a:pPr>
            <a:r>
              <a:rPr sz="2100" b="1">
                <a:solidFill>
                  <a:srgbClr val="25212A"/>
                </a:solidFill>
                <a:latin typeface="等线"/>
                <a:ea typeface="等线"/>
                <a:cs typeface="等线"/>
              </a:rPr>
              <a:t>方向一：不确定性驱动的机器人超声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AC01D61-A8D9-4298-9D08-224BB893E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162050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B1A6E"/>
                </a:solidFill>
                <a:latin typeface="等线"/>
                <a:ea typeface="等线"/>
                <a:cs typeface="等线"/>
              </a:defRPr>
            </a:pPr>
            <a:r>
              <a:rPr sz="1500" b="1">
                <a:solidFill>
                  <a:srgbClr val="5B1A6E"/>
                </a:solidFill>
                <a:latin typeface="等线"/>
                <a:ea typeface="等线"/>
                <a:cs typeface="等线"/>
              </a:rPr>
              <a:t>让图像质量、解剖置信度与接触状态共同决定下一次探头动作。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FD1026B-786B-4643-9063-5E671E9E9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71625"/>
            <a:ext cx="23622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DC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CB42C7D-964E-43A9-8203-7092B3C3A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571625"/>
            <a:ext cx="23622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DE3F1"/>
          </a:solidFill>
          <a:ln xmlns:a="http://schemas.openxmlformats.org/drawingml/2006/main" w="9525">
            <a:solidFill>
              <a:srgbClr val="7A3E8E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29F9B76-D698-41DC-8D73-FED9FF173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571625"/>
            <a:ext cx="23622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DC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DF88987-8556-4731-A15B-2A35C878B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571625"/>
            <a:ext cx="23622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DC"/>
            </a:solidFill>
            <a:prstDash val="solid"/>
          </a:ln>
        </p:spPr>
      </p:sp>
      <p:cxnSp>
        <p:nvCxnSpPr>
          <p:cNvPr id="74" name=""/>
          <p:cNvCxnSpPr>
            <a:stCxn xmlns:a="http://schemas.openxmlformats.org/drawingml/2006/main" id="38" idx="3"/>
            <a:endCxn xmlns:a="http://schemas.openxmlformats.org/drawingml/2006/main" id="39" idx="1"/>
          </p:cNvCxnSpPr>
          <p:nvPr/>
        </p:nvCxnSpPr>
        <p:spPr>
          <a:xfrm xmlns:a="http://schemas.openxmlformats.org/drawingml/2006/main">
            <a:off x="2914650" y="2009775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A3E8E"/>
            </a:solidFill>
            <a:prstDash val="solid"/>
            <a:headEnd type="triangle" w="sm" len="sm"/>
          </a:ln>
        </p:spPr>
      </p:cxnSp>
      <p:cxnSp>
        <p:nvCxnSpPr>
          <p:cNvPr id="75" name=""/>
          <p:cNvCxnSpPr>
            <a:stCxn xmlns:a="http://schemas.openxmlformats.org/drawingml/2006/main" id="39" idx="3"/>
            <a:endCxn xmlns:a="http://schemas.openxmlformats.org/drawingml/2006/main" id="40" idx="1"/>
          </p:cNvCxnSpPr>
          <p:nvPr/>
        </p:nvCxnSpPr>
        <p:spPr>
          <a:xfrm xmlns:a="http://schemas.openxmlformats.org/drawingml/2006/main">
            <a:off x="5638800" y="2009775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A3E8E"/>
            </a:solidFill>
            <a:prstDash val="solid"/>
            <a:headEnd type="triangle" w="sm" len="sm"/>
          </a:ln>
        </p:spPr>
      </p:cxnSp>
      <p:cxnSp>
        <p:nvCxnSpPr>
          <p:cNvPr id="76" name=""/>
          <p:cNvCxnSpPr>
            <a:stCxn xmlns:a="http://schemas.openxmlformats.org/drawingml/2006/main" id="40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>
            <a:off x="8362950" y="2009775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A3E8E"/>
            </a:solidFill>
            <a:prstDash val="solid"/>
            <a:headEnd type="triangle" w="sm" len="sm"/>
          </a:ln>
        </p:spPr>
      </p:cxn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DAA90BE-B126-4AB7-9D4A-D96E122FF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57350"/>
            <a:ext cx="2171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5212A"/>
                </a:solidFill>
                <a:latin typeface="等线"/>
                <a:ea typeface="等线"/>
                <a:cs typeface="等线"/>
              </a:defRPr>
            </a:pPr>
            <a:r>
              <a:rPr sz="1500" b="1">
                <a:solidFill>
                  <a:srgbClr val="25212A"/>
                </a:solidFill>
                <a:latin typeface="等线"/>
                <a:ea typeface="等线"/>
                <a:cs typeface="等线"/>
              </a:rPr>
              <a:t>1</a:t>
            </a:r>
          </a:p>
          <a:p xmlns:a="http://schemas.openxmlformats.org/drawingml/2006/main">
            <a:pPr algn="ctr">
              <a:defRPr sz="1500" b="1">
                <a:solidFill>
                  <a:srgbClr val="25212A"/>
                </a:solidFill>
                <a:latin typeface="等线"/>
                <a:ea typeface="等线"/>
                <a:cs typeface="等线"/>
              </a:defRPr>
            </a:pPr>
            <a:r>
              <a:rPr sz="1500" b="1">
                <a:solidFill>
                  <a:srgbClr val="25212A"/>
                </a:solidFill>
                <a:latin typeface="等线"/>
                <a:ea typeface="等线"/>
                <a:cs typeface="等线"/>
              </a:rPr>
              <a:t>实时超声 + 力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59C7033-93AF-4B23-A0D7-893859C35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657350"/>
            <a:ext cx="2171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B1A6E"/>
                </a:solidFill>
                <a:latin typeface="等线"/>
                <a:ea typeface="等线"/>
                <a:cs typeface="等线"/>
              </a:defRPr>
            </a:pPr>
            <a:r>
              <a:rPr sz="1500" b="1">
                <a:solidFill>
                  <a:srgbClr val="5B1A6E"/>
                </a:solidFill>
                <a:latin typeface="等线"/>
                <a:ea typeface="等线"/>
                <a:cs typeface="等线"/>
              </a:rPr>
              <a:t>2</a:t>
            </a:r>
          </a:p>
          <a:p xmlns:a="http://schemas.openxmlformats.org/drawingml/2006/main">
            <a:pPr algn="ctr">
              <a:defRPr sz="1500" b="1">
                <a:solidFill>
                  <a:srgbClr val="5B1A6E"/>
                </a:solidFill>
                <a:latin typeface="等线"/>
                <a:ea typeface="等线"/>
                <a:cs typeface="等线"/>
              </a:defRPr>
            </a:pPr>
            <a:r>
              <a:rPr sz="1500" b="1">
                <a:solidFill>
                  <a:srgbClr val="5B1A6E"/>
                </a:solidFill>
                <a:latin typeface="等线"/>
                <a:ea typeface="等线"/>
                <a:cs typeface="等线"/>
              </a:rPr>
              <a:t>切面/病灶状态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CF00CC9-3525-49F8-BBF9-AFD05BFEB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57350"/>
            <a:ext cx="2171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5212A"/>
                </a:solidFill>
                <a:latin typeface="等线"/>
                <a:ea typeface="等线"/>
                <a:cs typeface="等线"/>
              </a:defRPr>
            </a:pPr>
            <a:r>
              <a:rPr sz="1500" b="1">
                <a:solidFill>
                  <a:srgbClr val="25212A"/>
                </a:solidFill>
                <a:latin typeface="等线"/>
                <a:ea typeface="等线"/>
                <a:cs typeface="等线"/>
              </a:rPr>
              <a:t>3</a:t>
            </a:r>
          </a:p>
          <a:p xmlns:a="http://schemas.openxmlformats.org/drawingml/2006/main">
            <a:pPr algn="ctr">
              <a:defRPr sz="1500" b="1">
                <a:solidFill>
                  <a:srgbClr val="25212A"/>
                </a:solidFill>
                <a:latin typeface="等线"/>
                <a:ea typeface="等线"/>
                <a:cs typeface="等线"/>
              </a:defRPr>
            </a:pPr>
            <a:r>
              <a:rPr sz="1500" b="1">
                <a:solidFill>
                  <a:srgbClr val="25212A"/>
                </a:solidFill>
                <a:latin typeface="等线"/>
                <a:ea typeface="等线"/>
                <a:cs typeface="等线"/>
              </a:rPr>
              <a:t>下一位姿/压力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14382A7-EAD1-4071-AA41-7760CEF47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657350"/>
            <a:ext cx="2171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5212A"/>
                </a:solidFill>
                <a:latin typeface="等线"/>
                <a:ea typeface="等线"/>
                <a:cs typeface="等线"/>
              </a:defRPr>
            </a:pPr>
            <a:r>
              <a:rPr sz="1500" b="1">
                <a:solidFill>
                  <a:srgbClr val="25212A"/>
                </a:solidFill>
                <a:latin typeface="等线"/>
                <a:ea typeface="等线"/>
                <a:cs typeface="等线"/>
              </a:rPr>
              <a:t>4</a:t>
            </a:r>
          </a:p>
          <a:p xmlns:a="http://schemas.openxmlformats.org/drawingml/2006/main">
            <a:pPr algn="ctr">
              <a:defRPr sz="1500" b="1">
                <a:solidFill>
                  <a:srgbClr val="25212A"/>
                </a:solidFill>
                <a:latin typeface="等线"/>
                <a:ea typeface="等线"/>
                <a:cs typeface="等线"/>
              </a:defRPr>
            </a:pPr>
            <a:r>
              <a:rPr sz="1500" b="1">
                <a:solidFill>
                  <a:srgbClr val="25212A"/>
                </a:solidFill>
                <a:latin typeface="等线"/>
                <a:ea typeface="等线"/>
                <a:cs typeface="等线"/>
              </a:rPr>
              <a:t>复扫或停止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717831C-8095-43AF-8233-B4B7C4FA0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638425"/>
            <a:ext cx="8172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A3E8E"/>
            </a:solidFill>
            <a:prstDash val="dash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18B0566-3D95-4EA4-A184-F5D63C9ED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95600"/>
            <a:ext cx="108966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DC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E3270F4-265B-492B-A508-F4D0636F3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33700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B1A6E"/>
                </a:solidFill>
                <a:latin typeface="等线"/>
                <a:ea typeface="等线"/>
                <a:cs typeface="等线"/>
              </a:defRPr>
            </a:pPr>
            <a:r>
              <a:rPr sz="1350" b="1">
                <a:solidFill>
                  <a:srgbClr val="5B1A6E"/>
                </a:solidFill>
                <a:latin typeface="等线"/>
                <a:ea typeface="等线"/>
                <a:cs typeface="等线"/>
              </a:rPr>
              <a:t>甲状腺 2024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4A84A8A-99EB-4424-B55B-974BF53AE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933700"/>
            <a:ext cx="485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12A"/>
                </a:solidFill>
                <a:latin typeface="等线"/>
                <a:ea typeface="等线"/>
                <a:cs typeface="等线"/>
              </a:defRPr>
            </a:pPr>
            <a:r>
              <a:rPr sz="1350" b="0">
                <a:solidFill>
                  <a:srgbClr val="25212A"/>
                </a:solidFill>
                <a:latin typeface="等线"/>
                <a:ea typeface="等线"/>
                <a:cs typeface="等线"/>
              </a:rPr>
              <a:t>70 人问卷；13 人配对扫描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1D5CF26-AACE-41E8-99E3-19B4F6DCA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3370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E7D65"/>
                </a:solidFill>
                <a:latin typeface="等线"/>
                <a:ea typeface="等线"/>
                <a:cs typeface="等线"/>
              </a:defRPr>
            </a:pPr>
            <a:r>
              <a:rPr sz="1350" b="1">
                <a:solidFill>
                  <a:srgbClr val="2E7D65"/>
                </a:solidFill>
                <a:latin typeface="等线"/>
                <a:ea typeface="等线"/>
                <a:cs typeface="等线"/>
              </a:rPr>
              <a:t>213±85 s/叶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8C8C250-7E2E-487E-AE5F-1550BB154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81400"/>
            <a:ext cx="108966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4EDF7"/>
          </a:solidFill>
          <a:ln xmlns:a="http://schemas.openxmlformats.org/drawingml/2006/main" w="9525">
            <a:solidFill>
              <a:srgbClr val="EDE3F1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3A1F01A-4FBB-4822-9D0B-44DF54352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0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B1A6E"/>
                </a:solidFill>
                <a:latin typeface="等线"/>
                <a:ea typeface="等线"/>
                <a:cs typeface="等线"/>
              </a:defRPr>
            </a:pPr>
            <a:r>
              <a:rPr sz="1350" b="1">
                <a:solidFill>
                  <a:srgbClr val="5B1A6E"/>
                </a:solidFill>
                <a:latin typeface="等线"/>
                <a:ea typeface="等线"/>
                <a:cs typeface="等线"/>
              </a:rPr>
              <a:t>颈动脉 2025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62843E4-D50A-4293-BBB1-83CA18827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619500"/>
            <a:ext cx="485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12A"/>
                </a:solidFill>
                <a:latin typeface="等线"/>
                <a:ea typeface="等线"/>
                <a:cs typeface="等线"/>
              </a:defRPr>
            </a:pPr>
            <a:r>
              <a:rPr sz="1350" b="0">
                <a:solidFill>
                  <a:srgbClr val="25212A"/>
                </a:solidFill>
                <a:latin typeface="等线"/>
                <a:ea typeface="等线"/>
                <a:cs typeface="等线"/>
              </a:rPr>
              <a:t>247k 专家示教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D256094-0964-41F5-A7DD-B808490DE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1950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7A3E8E"/>
                </a:solidFill>
                <a:latin typeface="等线"/>
                <a:ea typeface="等线"/>
                <a:cs typeface="等线"/>
              </a:defRPr>
            </a:pPr>
            <a:r>
              <a:rPr sz="1350" b="1">
                <a:solidFill>
                  <a:srgbClr val="7A3E8E"/>
                </a:solidFill>
                <a:latin typeface="等线"/>
                <a:ea typeface="等线"/>
                <a:cs typeface="等线"/>
              </a:rPr>
              <a:t>&gt;90% 成功；最高 5.5×复现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69EC311-2DAD-4779-AB2E-07B0E13D9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95875"/>
            <a:ext cx="1428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B1A6E"/>
          </a:solidFill>
          <a:ln xmlns:a="http://schemas.openxmlformats.org/drawingml/2006/main" w="9525">
            <a:solidFill>
              <a:srgbClr val="5B1A6E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712A215-D6E4-495A-A50A-72433F223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958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等线"/>
                <a:ea typeface="等线"/>
                <a:cs typeface="等线"/>
              </a:defRPr>
            </a:pPr>
            <a:r>
              <a:rPr sz="1050" b="1">
                <a:solidFill>
                  <a:srgbClr val="FFFFFF"/>
                </a:solidFill>
                <a:latin typeface="等线"/>
                <a:ea typeface="等线"/>
                <a:cs typeface="等线"/>
              </a:rPr>
              <a:t>硬件 / 数据条件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DE314E9-1C32-41C1-8DB1-304D7290D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048250"/>
            <a:ext cx="9315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5212A"/>
                </a:solidFill>
                <a:latin typeface="等线"/>
                <a:ea typeface="等线"/>
                <a:cs typeface="等线"/>
              </a:defRPr>
            </a:pPr>
            <a:r>
              <a:rPr sz="1275" b="0">
                <a:solidFill>
                  <a:srgbClr val="25212A"/>
                </a:solidFill>
                <a:latin typeface="等线"/>
                <a:ea typeface="等线"/>
                <a:cs typeface="等线"/>
              </a:rPr>
              <a:t>7-DOF/协作臂 · 临床超声 · 六维力传感 · RGB-D/外部相机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84BCF90-42D0-4E8D-9EEA-2DAFE56C4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53100"/>
            <a:ext cx="10810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D6672"/>
                </a:solidFill>
                <a:latin typeface="等线"/>
                <a:ea typeface="等线"/>
                <a:cs typeface="等线"/>
              </a:defRPr>
            </a:pPr>
            <a:r>
              <a:rPr sz="1200" b="0">
                <a:solidFill>
                  <a:srgbClr val="6D6672"/>
                </a:solidFill>
                <a:latin typeface="等线"/>
                <a:ea typeface="等线"/>
                <a:cs typeface="等线"/>
              </a:rPr>
              <a:t>下一步：跨体型与病变分布泛化；以“充分决策时间、漏扫、患者不适”而非单一切面成功率评价。</a:t>
            </a:r>
          </a:p>
        </p:txBody>
      </p:sp>
    </p:spTree>
    <p:extLst>
      <p:ext uri="{BB962C8B-B14F-4D97-AF65-F5344CB8AC3E}">
        <p14:creationId xmlns:p14="http://schemas.microsoft.com/office/powerpoint/2010/main" val="202512137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菱形 6">
            <a:extLst xmlns:a="http://schemas.openxmlformats.org/drawingml/2006/main">
              <a:ext uri="{FF2B5EF4-FFF2-40B4-BE49-F238E27FC236}">
                <a16:creationId xmlns:a16="http://schemas.microsoft.com/office/drawing/2014/main" id="{8825E84B-323B-49D9-8108-437BE039C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646273" y="6312273"/>
            <a:ext cx="545727" cy="545727"/>
          </a:xfrm>
          <a:prstGeom xmlns:a="http://schemas.openxmlformats.org/drawingml/2006/main" prst="diamond">
            <a:avLst/>
          </a:prstGeom>
          <a:gradFill xmlns:a="http://schemas.openxmlformats.org/drawingml/2006/main">
            <a:gsLst>
              <a:gs pos="100000">
                <a:srgbClr val="C8282A"/>
              </a:gs>
              <a:gs pos="0">
                <a:srgbClr val="194779"/>
              </a:gs>
            </a:gsLst>
            <a:lin ang="18900000" scaled="0"/>
          </a:gradFill>
          <a:ln xmlns:a="http://schemas.openxmlformats.org/drawingml/2006/main">
            <a:noFill/>
          </a:ln>
          <a:effectLst xmlns:a="http://schemas.openxmlformats.org/drawingml/2006/main">
            <a:outerShdw blurRad="127000" dist="38100" dir="2700000" algn="ctr">
              <a:srgbClr val="000000">
                <a:alpha val="45000"/>
              </a:srgb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DengXian"/>
              <a:ea typeface="DengXian"/>
              <a:cs typeface="DengXian"/>
            </a:endParaR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C092C980-ED75-4D29-A46B-D4C2D5D83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79448" y="6438719"/>
            <a:ext cx="320922" cy="338554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glow rad="63500">
              <a:schemeClr val="accent3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600">
                <a:solidFill>
                  <a:prstClr val="white"/>
                </a:solidFill>
                <a:latin typeface="Arial Black"/>
                <a:ea typeface="Arial Black"/>
                <a:cs typeface="Arial Black"/>
              </a:rPr>
              <a:t>7</a:t>
            </a:r>
            <a:endParaRPr sz="1600" b="0" i="0" u="none" kern="1200" cap="none" spc="0" baseline="0">
              <a:ln>
                <a:noFill/>
              </a:ln>
              <a:solidFill>
                <a:prstClr val="white"/>
              </a:solidFill>
              <a:latin typeface="Arial Black"/>
              <a:ea typeface="Arial Black"/>
              <a:cs typeface="Arial Black"/>
            </a:endParaRP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5E3D2DBA-49E9-4CCC-954E-E5F077021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7771"/>
            <a:ext cx="12192000" cy="58404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00000">
                <a:schemeClr val="bg1"/>
              </a:gs>
              <a:gs pos="18000">
                <a:srgbClr val="813789"/>
              </a:gs>
              <a:gs pos="0">
                <a:srgbClr val="813789"/>
              </a:gs>
            </a:gsLst>
            <a:lin ang="270000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65" name="图片 3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54af3bebf34f7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73387" y="11991"/>
            <a:ext cx="1676015" cy="655780"/>
          </a:xfrm>
          <a:prstGeom xmlns:a="http://schemas.openxmlformats.org/drawingml/2006/main" prst="rect">
            <a:avLst/>
          </a:prstGeom>
        </p:spPr>
      </p:pic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CA205373-4581-4B3B-B4F7-9D33498BF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860" y="200660"/>
            <a:ext cx="5683885" cy="460375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25400" dist="25400" dir="2700000" algn="tl" rotWithShape="0">
              <a:prstClr val="black">
                <a:alpha val="46000"/>
              </a:prstClr>
            </a:outerShdw>
          </a:effectLst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>
                <a:solidFill>
                  <a:srgbClr val="813789"/>
                </a:solidFill>
                <a:latin typeface="Arial"/>
                <a:ea typeface="Arial"/>
                <a:cs typeface="Arial"/>
              </a:rPr>
              <a:t>Clinical Detection and Intervention</a:t>
            </a:r>
            <a:endParaRPr sz="2400" b="1" i="0" u="none" kern="1200" cap="none" spc="0" baseline="0">
              <a:ln>
                <a:noFill/>
              </a:ln>
              <a:solidFill>
                <a:srgbClr val="81378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77E6F11E-B04D-4DB9-982C-23761098E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76225"/>
            <a:ext cx="5599430" cy="398780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25400" dist="25400" dir="2700000" algn="tl" rotWithShape="0">
              <a:prstClr val="black">
                <a:alpha val="46000"/>
              </a:prstClr>
            </a:outerShdw>
          </a:effectLst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000" b="1">
                <a:ln>
                  <a:noFill/>
                </a:ln>
                <a:solidFill>
                  <a:srgbClr val="813789"/>
                </a:solidFill>
                <a:latin typeface="Arial"/>
                <a:ea typeface="Arial"/>
                <a:cs typeface="Arial"/>
              </a:rPr>
              <a:t>1.1 Active observational sensing</a:t>
            </a:r>
            <a:endParaRPr sz="2000" b="1" i="0" u="none" kern="1200" cap="none" spc="0" baseline="0">
              <a:ln>
                <a:noFill/>
              </a:ln>
              <a:solidFill>
                <a:srgbClr val="81378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D5A7E96-A5C9-46CB-B5BA-568E02320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742950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5212A"/>
                </a:solidFill>
                <a:latin typeface="等线"/>
                <a:ea typeface="等线"/>
                <a:cs typeface="等线"/>
              </a:defRPr>
            </a:pPr>
            <a:r>
              <a:rPr sz="2100" b="1">
                <a:solidFill>
                  <a:srgbClr val="25212A"/>
                </a:solidFill>
                <a:latin typeface="等线"/>
                <a:ea typeface="等线"/>
                <a:cs typeface="等线"/>
              </a:rPr>
              <a:t>方向二：主动光学与内镜扫描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B33C267-373B-4C44-9687-D7A18FBFB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162050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B1A6E"/>
                </a:solidFill>
                <a:latin typeface="等线"/>
                <a:ea typeface="等线"/>
                <a:cs typeface="等线"/>
              </a:defRPr>
            </a:pPr>
            <a:r>
              <a:rPr sz="1500" b="1">
                <a:solidFill>
                  <a:srgbClr val="5B1A6E"/>
                </a:solidFill>
                <a:latin typeface="等线"/>
                <a:ea typeface="等线"/>
                <a:cs typeface="等线"/>
              </a:rPr>
              <a:t>价值不在固定轨迹自动化，而在诊断不确定性驱动的 next-best-view、复扫与停止。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6EC4879-E455-48C0-8610-B324CE96F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3333750" cy="1476375"/>
          </a:xfrm>
          <a:prstGeom xmlns:a="http://schemas.openxmlformats.org/drawingml/2006/main" prst="roundRect">
            <a:avLst>
              <a:gd name="adj" fmla="val 116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DC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D7E55C1-D1D3-4A4D-AEFE-8BB213234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5260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5B1A6E"/>
                </a:solidFill>
                <a:latin typeface="等线"/>
                <a:ea typeface="等线"/>
                <a:cs typeface="等线"/>
              </a:defRPr>
            </a:pPr>
            <a:r>
              <a:rPr sz="1575" b="1">
                <a:solidFill>
                  <a:srgbClr val="5B1A6E"/>
                </a:solidFill>
                <a:latin typeface="等线"/>
                <a:ea typeface="等线"/>
                <a:cs typeface="等线"/>
              </a:rPr>
              <a:t>筛查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644615E-304D-4F49-9B3B-E38E3330B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336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5212A"/>
                </a:solidFill>
                <a:latin typeface="等线"/>
                <a:ea typeface="等线"/>
                <a:cs typeface="等线"/>
              </a:defRPr>
            </a:pPr>
            <a:r>
              <a:rPr sz="1425" b="1">
                <a:solidFill>
                  <a:srgbClr val="25212A"/>
                </a:solidFill>
                <a:latin typeface="等线"/>
                <a:ea typeface="等线"/>
                <a:cs typeface="等线"/>
              </a:rPr>
              <a:t>MSI / HSI / 宽场成像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AA4A754-5309-4F4A-8F28-2EB1D0422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908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D6672"/>
                </a:solidFill>
                <a:latin typeface="等线"/>
                <a:ea typeface="等线"/>
                <a:cs typeface="等线"/>
              </a:defRPr>
            </a:pPr>
            <a:r>
              <a:rPr sz="1200" b="0">
                <a:solidFill>
                  <a:srgbClr val="6D6672"/>
                </a:solidFill>
                <a:latin typeface="等线"/>
                <a:ea typeface="等线"/>
                <a:cs typeface="等线"/>
              </a:rPr>
              <a:t>覆盖与可疑区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B3C142B-B7FF-4154-A0D9-643C22A8C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1619250"/>
            <a:ext cx="3333750" cy="1476375"/>
          </a:xfrm>
          <a:prstGeom xmlns:a="http://schemas.openxmlformats.org/drawingml/2006/main" prst="roundRect">
            <a:avLst>
              <a:gd name="adj" fmla="val 11613"/>
            </a:avLst>
          </a:prstGeom>
          <a:solidFill xmlns:a="http://schemas.openxmlformats.org/drawingml/2006/main">
            <a:srgbClr val="F4EDF7"/>
          </a:solidFill>
          <a:ln xmlns:a="http://schemas.openxmlformats.org/drawingml/2006/main" w="9525">
            <a:solidFill>
              <a:srgbClr val="7A3E8E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2142054-0E8D-4490-B526-6CE41BC6A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75260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5B1A6E"/>
                </a:solidFill>
                <a:latin typeface="等线"/>
                <a:ea typeface="等线"/>
                <a:cs typeface="等线"/>
              </a:defRPr>
            </a:pPr>
            <a:r>
              <a:rPr sz="1575" b="1">
                <a:solidFill>
                  <a:srgbClr val="5B1A6E"/>
                </a:solidFill>
                <a:latin typeface="等线"/>
                <a:ea typeface="等线"/>
                <a:cs typeface="等线"/>
              </a:rPr>
              <a:t>靶向确认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DE1C0B9-A9DC-4B4E-B8D4-3559824E6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1336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5212A"/>
                </a:solidFill>
                <a:latin typeface="等线"/>
                <a:ea typeface="等线"/>
                <a:cs typeface="等线"/>
              </a:defRPr>
            </a:pPr>
            <a:r>
              <a:rPr sz="1425" b="1">
                <a:solidFill>
                  <a:srgbClr val="25212A"/>
                </a:solidFill>
                <a:latin typeface="等线"/>
                <a:ea typeface="等线"/>
                <a:cs typeface="等线"/>
              </a:rPr>
              <a:t>OCT / Raman / DRS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A3AE737-9A3A-4616-B120-8CACC8055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5908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D6672"/>
                </a:solidFill>
                <a:latin typeface="等线"/>
                <a:ea typeface="等线"/>
                <a:cs typeface="等线"/>
              </a:defRPr>
            </a:pPr>
            <a:r>
              <a:rPr sz="1200" b="0">
                <a:solidFill>
                  <a:srgbClr val="6D6672"/>
                </a:solidFill>
                <a:latin typeface="等线"/>
                <a:ea typeface="等线"/>
                <a:cs typeface="等线"/>
              </a:rPr>
              <a:t>边界与组织特征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F61C7B9-7F9B-4AED-90B1-7519A6D2E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619250"/>
            <a:ext cx="3333750" cy="1476375"/>
          </a:xfrm>
          <a:prstGeom xmlns:a="http://schemas.openxmlformats.org/drawingml/2006/main" prst="roundRect">
            <a:avLst>
              <a:gd name="adj" fmla="val 116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DC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030B419-EB56-4C53-8F6B-A4CF8B39E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5260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5B1A6E"/>
                </a:solidFill>
                <a:latin typeface="等线"/>
                <a:ea typeface="等线"/>
                <a:cs typeface="等线"/>
              </a:defRPr>
            </a:pPr>
            <a:r>
              <a:rPr sz="1575" b="1">
                <a:solidFill>
                  <a:srgbClr val="5B1A6E"/>
                </a:solidFill>
                <a:latin typeface="等线"/>
                <a:ea typeface="等线"/>
                <a:cs typeface="等线"/>
              </a:rPr>
              <a:t>闭环动作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750D254-72BB-4463-8CEE-AC272620D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336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5212A"/>
                </a:solidFill>
                <a:latin typeface="等线"/>
                <a:ea typeface="等线"/>
                <a:cs typeface="等线"/>
              </a:defRPr>
            </a:pPr>
            <a:r>
              <a:rPr sz="1425" b="1">
                <a:solidFill>
                  <a:srgbClr val="25212A"/>
                </a:solidFill>
                <a:latin typeface="等线"/>
                <a:ea typeface="等线"/>
                <a:cs typeface="等线"/>
              </a:rPr>
              <a:t>新测点 / 改角度 / 改接触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37FAA1F-D60C-4C7C-B5B0-AA9E4F708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5908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D6672"/>
                </a:solidFill>
                <a:latin typeface="等线"/>
                <a:ea typeface="等线"/>
                <a:cs typeface="等线"/>
              </a:defRPr>
            </a:pPr>
            <a:r>
              <a:rPr sz="1200" b="0">
                <a:solidFill>
                  <a:srgbClr val="6D6672"/>
                </a:solidFill>
                <a:latin typeface="等线"/>
                <a:ea typeface="等线"/>
                <a:cs typeface="等线"/>
              </a:rPr>
              <a:t>置信度达标后停止</a:t>
            </a:r>
          </a:p>
        </p:txBody>
      </p:sp>
      <p:cxnSp>
        <p:nvCxnSpPr>
          <p:cNvPr id="82" name=""/>
          <p:cNvCxnSpPr>
            <a:stCxn xmlns:a="http://schemas.openxmlformats.org/drawingml/2006/main" id="38" idx="3"/>
            <a:endCxn xmlns:a="http://schemas.openxmlformats.org/drawingml/2006/main" id="42" idx="1"/>
          </p:cNvCxnSpPr>
          <p:nvPr/>
        </p:nvCxnSpPr>
        <p:spPr>
          <a:xfrm xmlns:a="http://schemas.openxmlformats.org/drawingml/2006/main">
            <a:off x="3790950" y="2357438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A3E8E"/>
            </a:solidFill>
            <a:prstDash val="solid"/>
            <a:headEnd type="triangle" w="sm" len="sm"/>
          </a:ln>
        </p:spPr>
      </p:cxnSp>
      <p:cxnSp>
        <p:nvCxnSpPr>
          <p:cNvPr id="83" name=""/>
          <p:cNvCxnSpPr>
            <a:stCxn xmlns:a="http://schemas.openxmlformats.org/drawingml/2006/main" id="42" idx="3"/>
            <a:endCxn xmlns:a="http://schemas.openxmlformats.org/drawingml/2006/main" id="46" idx="1"/>
          </p:cNvCxnSpPr>
          <p:nvPr/>
        </p:nvCxnSpPr>
        <p:spPr>
          <a:xfrm xmlns:a="http://schemas.openxmlformats.org/drawingml/2006/main">
            <a:off x="7467600" y="2357438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A3E8E"/>
            </a:solidFill>
            <a:prstDash val="solid"/>
            <a:headEnd type="triangle" w="sm" len="sm"/>
          </a:ln>
        </p:spPr>
      </p:cxn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9BA2DB4-3F75-48ED-BD25-AA6E51FC6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0"/>
            <a:ext cx="1047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B1A6E"/>
          </a:solidFill>
          <a:ln xmlns:a="http://schemas.openxmlformats.org/drawingml/2006/main" w="9525">
            <a:solidFill>
              <a:srgbClr val="5B1A6E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7C48AC1-D4B0-4DD2-88EE-D7E34B469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等线"/>
                <a:ea typeface="等线"/>
                <a:cs typeface="等线"/>
              </a:defRPr>
            </a:pPr>
            <a:r>
              <a:rPr sz="1050" b="1">
                <a:solidFill>
                  <a:srgbClr val="FFFFFF"/>
                </a:solidFill>
                <a:latin typeface="等线"/>
                <a:ea typeface="等线"/>
                <a:cs typeface="等线"/>
              </a:rPr>
              <a:t>数据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4CF382F-FBB9-4FA4-8BF7-983360F0D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409950"/>
            <a:ext cx="9477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5212A"/>
                </a:solidFill>
                <a:latin typeface="等线"/>
                <a:ea typeface="等线"/>
                <a:cs typeface="等线"/>
              </a:defRPr>
            </a:pPr>
            <a:r>
              <a:rPr sz="1275" b="0">
                <a:solidFill>
                  <a:srgbClr val="25212A"/>
                </a:solidFill>
                <a:latin typeface="等线"/>
                <a:ea typeface="等线"/>
                <a:cs typeface="等线"/>
              </a:rPr>
              <a:t>空间配准的多模态扫描；病理或专家边界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FF9EE2F-8B78-4E33-AB89-7F45EBA75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981450"/>
            <a:ext cx="1047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569A8"/>
          </a:solidFill>
          <a:ln xmlns:a="http://schemas.openxmlformats.org/drawingml/2006/main" w="9525">
            <a:solidFill>
              <a:srgbClr val="3569A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80DC989-382F-4E82-A847-25C2596B6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9814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等线"/>
                <a:ea typeface="等线"/>
                <a:cs typeface="等线"/>
              </a:defRPr>
            </a:pPr>
            <a:r>
              <a:rPr sz="1050" b="1">
                <a:solidFill>
                  <a:srgbClr val="FFFFFF"/>
                </a:solidFill>
                <a:latin typeface="等线"/>
                <a:ea typeface="等线"/>
                <a:cs typeface="等线"/>
              </a:rPr>
              <a:t>硬件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4317650-8C70-418D-9E84-DA036ECCF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962400"/>
            <a:ext cx="9477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5212A"/>
                </a:solidFill>
                <a:latin typeface="等线"/>
                <a:ea typeface="等线"/>
                <a:cs typeface="等线"/>
              </a:defRPr>
            </a:pPr>
            <a:r>
              <a:rPr sz="1275" b="0">
                <a:solidFill>
                  <a:srgbClr val="25212A"/>
                </a:solidFill>
                <a:latin typeface="等线"/>
                <a:ea typeface="等线"/>
                <a:cs typeface="等线"/>
              </a:rPr>
              <a:t>机器人/主动内镜；位姿追踪；接触/距离传感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0AE5DDD-55B9-4C88-8250-CBBF27381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33900"/>
            <a:ext cx="1047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569A8"/>
          </a:solidFill>
          <a:ln xmlns:a="http://schemas.openxmlformats.org/drawingml/2006/main" w="9525">
            <a:solidFill>
              <a:srgbClr val="3569A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4BDC3B5-8391-44DE-A9C0-D985D7DBE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339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等线"/>
                <a:ea typeface="等线"/>
                <a:cs typeface="等线"/>
              </a:defRPr>
            </a:pPr>
            <a:r>
              <a:rPr sz="1050" b="1">
                <a:solidFill>
                  <a:srgbClr val="FFFFFF"/>
                </a:solidFill>
                <a:latin typeface="等线"/>
                <a:ea typeface="等线"/>
                <a:cs typeface="等线"/>
              </a:rPr>
              <a:t>可验证终点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FE2AEA2-3729-40E7-8D82-91EA25549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514850"/>
            <a:ext cx="9477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5212A"/>
                </a:solidFill>
                <a:latin typeface="等线"/>
                <a:ea typeface="等线"/>
                <a:cs typeface="等线"/>
              </a:defRPr>
            </a:pPr>
            <a:r>
              <a:rPr sz="1275" b="0">
                <a:solidFill>
                  <a:srgbClr val="25212A"/>
                </a:solidFill>
                <a:latin typeface="等线"/>
                <a:ea typeface="等线"/>
                <a:cs typeface="等线"/>
              </a:rPr>
              <a:t>单位时间的信息增益、遗漏病灶、复扫次数、覆盖盲区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80DD311-5EF7-4B36-8552-4289A8F70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53100"/>
            <a:ext cx="10810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D6672"/>
                </a:solidFill>
                <a:latin typeface="等线"/>
                <a:ea typeface="等线"/>
                <a:cs typeface="等线"/>
              </a:defRPr>
            </a:pPr>
            <a:r>
              <a:rPr sz="1200" b="0">
                <a:solidFill>
                  <a:srgbClr val="6D6672"/>
                </a:solidFill>
                <a:latin typeface="等线"/>
                <a:ea typeface="等线"/>
                <a:cs typeface="等线"/>
              </a:rPr>
              <a:t>现有工作常把“到达/覆盖”当终点；最值得做的是把诊断价值显式写入扫描策略。</a:t>
            </a:r>
          </a:p>
        </p:txBody>
      </p:sp>
    </p:spTree>
    <p:extLst>
      <p:ext uri="{BB962C8B-B14F-4D97-AF65-F5344CB8AC3E}">
        <p14:creationId xmlns:p14="http://schemas.microsoft.com/office/powerpoint/2010/main" val="202512137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菱形 6">
            <a:extLst xmlns:a="http://schemas.openxmlformats.org/drawingml/2006/main">
              <a:ext uri="{FF2B5EF4-FFF2-40B4-BE49-F238E27FC236}">
                <a16:creationId xmlns:a16="http://schemas.microsoft.com/office/drawing/2014/main" id="{8825E84B-323B-49D9-8108-437BE039C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646273" y="6312273"/>
            <a:ext cx="545727" cy="545727"/>
          </a:xfrm>
          <a:prstGeom xmlns:a="http://schemas.openxmlformats.org/drawingml/2006/main" prst="diamond">
            <a:avLst/>
          </a:prstGeom>
          <a:gradFill xmlns:a="http://schemas.openxmlformats.org/drawingml/2006/main">
            <a:gsLst>
              <a:gs pos="100000">
                <a:srgbClr val="C8282A"/>
              </a:gs>
              <a:gs pos="0">
                <a:srgbClr val="194779"/>
              </a:gs>
            </a:gsLst>
            <a:lin ang="18900000" scaled="0"/>
          </a:gradFill>
          <a:ln xmlns:a="http://schemas.openxmlformats.org/drawingml/2006/main">
            <a:noFill/>
          </a:ln>
          <a:effectLst xmlns:a="http://schemas.openxmlformats.org/drawingml/2006/main">
            <a:outerShdw blurRad="127000" dist="38100" dir="2700000" algn="ctr">
              <a:srgbClr val="000000">
                <a:alpha val="45000"/>
              </a:srgb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DengXian"/>
              <a:ea typeface="DengXian"/>
              <a:cs typeface="DengXian"/>
            </a:endParaR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C092C980-ED75-4D29-A46B-D4C2D5D83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79448" y="6438719"/>
            <a:ext cx="320922" cy="338554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glow rad="63500">
              <a:schemeClr val="accent3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600">
                <a:solidFill>
                  <a:prstClr val="white"/>
                </a:solidFill>
                <a:latin typeface="Arial Black"/>
                <a:ea typeface="Arial Black"/>
                <a:cs typeface="Arial Black"/>
              </a:rPr>
              <a:t>8</a:t>
            </a:r>
            <a:endParaRPr sz="1600" b="0" i="0" u="none" kern="1200" cap="none" spc="0" baseline="0">
              <a:ln>
                <a:noFill/>
              </a:ln>
              <a:solidFill>
                <a:prstClr val="white"/>
              </a:solidFill>
              <a:latin typeface="Arial Black"/>
              <a:ea typeface="Arial Black"/>
              <a:cs typeface="Arial Black"/>
            </a:endParaRP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5E3D2DBA-49E9-4CCC-954E-E5F077021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7771"/>
            <a:ext cx="12192000" cy="58404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00000">
                <a:schemeClr val="bg1"/>
              </a:gs>
              <a:gs pos="18000">
                <a:srgbClr val="813789"/>
              </a:gs>
              <a:gs pos="0">
                <a:srgbClr val="813789"/>
              </a:gs>
            </a:gsLst>
            <a:lin ang="270000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56" name="图片 3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3dbaf540f04e1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73387" y="11991"/>
            <a:ext cx="1676015" cy="655780"/>
          </a:xfrm>
          <a:prstGeom xmlns:a="http://schemas.openxmlformats.org/drawingml/2006/main" prst="rect">
            <a:avLst/>
          </a:prstGeom>
        </p:spPr>
      </p:pic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CA205373-4581-4B3B-B4F7-9D33498BF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860" y="200660"/>
            <a:ext cx="5683885" cy="460375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25400" dist="25400" dir="2700000" algn="tl" rotWithShape="0">
              <a:prstClr val="black">
                <a:alpha val="46000"/>
              </a:prstClr>
            </a:outerShdw>
          </a:effectLst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>
                <a:solidFill>
                  <a:srgbClr val="813789"/>
                </a:solidFill>
                <a:latin typeface="Arial"/>
                <a:ea typeface="Arial"/>
                <a:cs typeface="Arial"/>
              </a:rPr>
              <a:t>Clinical Detection and Intervention</a:t>
            </a:r>
            <a:endParaRPr sz="2400" b="1" i="0" u="none" kern="1200" cap="none" spc="0" baseline="0">
              <a:ln>
                <a:noFill/>
              </a:ln>
              <a:solidFill>
                <a:srgbClr val="81378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77E6F11E-B04D-4DB9-982C-23761098E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76225"/>
            <a:ext cx="5599430" cy="398780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25400" dist="25400" dir="2700000" algn="tl" rotWithShape="0">
              <a:prstClr val="black">
                <a:alpha val="46000"/>
              </a:prstClr>
            </a:outerShdw>
          </a:effectLst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000" b="1">
                <a:ln>
                  <a:noFill/>
                </a:ln>
                <a:solidFill>
                  <a:srgbClr val="813789"/>
                </a:solidFill>
                <a:latin typeface="Arial"/>
                <a:ea typeface="Arial"/>
                <a:cs typeface="Arial"/>
              </a:rPr>
              <a:t>1.2 Response-based interactive diagnosis</a:t>
            </a:r>
            <a:endParaRPr sz="2000" b="1" i="0" u="none" kern="1200" cap="none" spc="0" baseline="0">
              <a:ln>
                <a:noFill/>
              </a:ln>
              <a:solidFill>
                <a:srgbClr val="81378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09DF87F-6781-4FBC-81AE-D256E0589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742950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5212A"/>
                </a:solidFill>
                <a:latin typeface="等线"/>
                <a:ea typeface="等线"/>
                <a:cs typeface="等线"/>
              </a:defRPr>
            </a:pPr>
            <a:r>
              <a:rPr sz="2100" b="1">
                <a:solidFill>
                  <a:srgbClr val="25212A"/>
                </a:solidFill>
                <a:latin typeface="等线"/>
                <a:ea typeface="等线"/>
                <a:cs typeface="等线"/>
              </a:rPr>
              <a:t>响应式交互诊断：刺激使隐匿状态可观测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AA9DF87-D650-4CFC-AE22-1CD7749B1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162050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B1A6E"/>
                </a:solidFill>
                <a:latin typeface="等线"/>
                <a:ea typeface="等线"/>
                <a:cs typeface="等线"/>
              </a:defRPr>
            </a:pPr>
            <a:r>
              <a:rPr sz="1500" b="1">
                <a:solidFill>
                  <a:srgbClr val="5B1A6E"/>
                </a:solidFill>
                <a:latin typeface="等线"/>
                <a:ea typeface="等线"/>
                <a:cs typeface="等线"/>
              </a:rPr>
              <a:t>系统施加受控刺激，通过组织、关节或神经系统的响应生成诊断证据。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ED0FF3D-9717-418F-93E5-593FC397D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00250"/>
            <a:ext cx="23622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DC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95B5EDA-231C-44D2-805A-2BD56A391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000250"/>
            <a:ext cx="23622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DE3F1"/>
          </a:solidFill>
          <a:ln xmlns:a="http://schemas.openxmlformats.org/drawingml/2006/main" w="9525">
            <a:solidFill>
              <a:srgbClr val="7A3E8E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027648C-97A6-4EB8-9D44-FCF4DEC9D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000250"/>
            <a:ext cx="23622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DC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A7154A3-3DB4-453B-B43C-B62CCE06B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000250"/>
            <a:ext cx="23622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DC"/>
            </a:solidFill>
            <a:prstDash val="solid"/>
          </a:ln>
        </p:spPr>
      </p:sp>
      <p:cxnSp>
        <p:nvCxnSpPr>
          <p:cNvPr id="65" name=""/>
          <p:cNvCxnSpPr>
            <a:stCxn xmlns:a="http://schemas.openxmlformats.org/drawingml/2006/main" id="38" idx="3"/>
            <a:endCxn xmlns:a="http://schemas.openxmlformats.org/drawingml/2006/main" id="39" idx="1"/>
          </p:cNvCxnSpPr>
          <p:nvPr/>
        </p:nvCxnSpPr>
        <p:spPr>
          <a:xfrm xmlns:a="http://schemas.openxmlformats.org/drawingml/2006/main">
            <a:off x="2914650" y="243840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A3E8E"/>
            </a:solidFill>
            <a:prstDash val="solid"/>
            <a:headEnd type="triangle" w="sm" len="sm"/>
          </a:ln>
        </p:spPr>
      </p:cxnSp>
      <p:cxnSp>
        <p:nvCxnSpPr>
          <p:cNvPr id="66" name=""/>
          <p:cNvCxnSpPr>
            <a:stCxn xmlns:a="http://schemas.openxmlformats.org/drawingml/2006/main" id="39" idx="3"/>
            <a:endCxn xmlns:a="http://schemas.openxmlformats.org/drawingml/2006/main" id="40" idx="1"/>
          </p:cNvCxnSpPr>
          <p:nvPr/>
        </p:nvCxnSpPr>
        <p:spPr>
          <a:xfrm xmlns:a="http://schemas.openxmlformats.org/drawingml/2006/main">
            <a:off x="5638800" y="243840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A3E8E"/>
            </a:solidFill>
            <a:prstDash val="solid"/>
            <a:headEnd type="triangle" w="sm" len="sm"/>
          </a:ln>
        </p:spPr>
      </p:cxnSp>
      <p:cxnSp>
        <p:nvCxnSpPr>
          <p:cNvPr id="67" name=""/>
          <p:cNvCxnSpPr>
            <a:stCxn xmlns:a="http://schemas.openxmlformats.org/drawingml/2006/main" id="40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>
            <a:off x="8362950" y="243840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A3E8E"/>
            </a:solidFill>
            <a:prstDash val="solid"/>
            <a:headEnd type="triangle" w="sm" len="sm"/>
          </a:ln>
        </p:spPr>
      </p:cxn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C6A49C9-F2D6-4B27-906D-4FF76EC99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85975"/>
            <a:ext cx="2171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5212A"/>
                </a:solidFill>
                <a:latin typeface="等线"/>
                <a:ea typeface="等线"/>
                <a:cs typeface="等线"/>
              </a:defRPr>
            </a:pPr>
            <a:r>
              <a:rPr sz="1500" b="1">
                <a:solidFill>
                  <a:srgbClr val="25212A"/>
                </a:solidFill>
                <a:latin typeface="等线"/>
                <a:ea typeface="等线"/>
                <a:cs typeface="等线"/>
              </a:rPr>
              <a:t>1</a:t>
            </a:r>
          </a:p>
          <a:p xmlns:a="http://schemas.openxmlformats.org/drawingml/2006/main">
            <a:pPr algn="ctr">
              <a:defRPr sz="1500" b="1">
                <a:solidFill>
                  <a:srgbClr val="25212A"/>
                </a:solidFill>
                <a:latin typeface="等线"/>
                <a:ea typeface="等线"/>
                <a:cs typeface="等线"/>
              </a:defRPr>
            </a:pPr>
            <a:r>
              <a:rPr sz="1500" b="1">
                <a:solidFill>
                  <a:srgbClr val="25212A"/>
                </a:solidFill>
                <a:latin typeface="等线"/>
                <a:ea typeface="等线"/>
                <a:cs typeface="等线"/>
              </a:rPr>
              <a:t>选择刺激位置/强度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A3FB193-89CB-451C-9259-CAEF41D82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085975"/>
            <a:ext cx="2171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B1A6E"/>
                </a:solidFill>
                <a:latin typeface="等线"/>
                <a:ea typeface="等线"/>
                <a:cs typeface="等线"/>
              </a:defRPr>
            </a:pPr>
            <a:r>
              <a:rPr sz="1500" b="1">
                <a:solidFill>
                  <a:srgbClr val="5B1A6E"/>
                </a:solidFill>
                <a:latin typeface="等线"/>
                <a:ea typeface="等线"/>
                <a:cs typeface="等线"/>
              </a:rPr>
              <a:t>2</a:t>
            </a:r>
          </a:p>
          <a:p xmlns:a="http://schemas.openxmlformats.org/drawingml/2006/main">
            <a:pPr algn="ctr">
              <a:defRPr sz="1500" b="1">
                <a:solidFill>
                  <a:srgbClr val="5B1A6E"/>
                </a:solidFill>
                <a:latin typeface="等线"/>
                <a:ea typeface="等线"/>
                <a:cs typeface="等线"/>
              </a:defRPr>
            </a:pPr>
            <a:r>
              <a:rPr sz="1500" b="1">
                <a:solidFill>
                  <a:srgbClr val="5B1A6E"/>
                </a:solidFill>
                <a:latin typeface="等线"/>
                <a:ea typeface="等线"/>
                <a:cs typeface="等线"/>
              </a:rPr>
              <a:t>施加机械/电磁/运动刺激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A82CCC6-2082-486E-9368-BBFFF9918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85975"/>
            <a:ext cx="2171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96892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5212A"/>
                </a:solidFill>
                <a:latin typeface="等线"/>
                <a:ea typeface="等线"/>
                <a:cs typeface="等线"/>
              </a:defRPr>
            </a:pPr>
            <a:r>
              <a:rPr sz="1500" b="1">
                <a:solidFill>
                  <a:srgbClr val="25212A"/>
                </a:solidFill>
                <a:latin typeface="等线"/>
                <a:ea typeface="等线"/>
                <a:cs typeface="等线"/>
              </a:rPr>
              <a:t>3</a:t>
            </a:r>
          </a:p>
          <a:p xmlns:a="http://schemas.openxmlformats.org/drawingml/2006/main">
            <a:pPr algn="ctr">
              <a:defRPr sz="1500" b="1">
                <a:solidFill>
                  <a:srgbClr val="25212A"/>
                </a:solidFill>
                <a:latin typeface="等线"/>
                <a:ea typeface="等线"/>
                <a:cs typeface="等线"/>
              </a:defRPr>
            </a:pPr>
            <a:r>
              <a:rPr sz="1500" b="1">
                <a:solidFill>
                  <a:srgbClr val="25212A"/>
                </a:solidFill>
                <a:latin typeface="等线"/>
                <a:ea typeface="等线"/>
                <a:cs typeface="等线"/>
              </a:rPr>
              <a:t>测量力学/MEP/EMG 响应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E76D2BF-376B-43BC-A3A8-3C1700AD4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085975"/>
            <a:ext cx="2171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98722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5212A"/>
                </a:solidFill>
                <a:latin typeface="等线"/>
                <a:ea typeface="等线"/>
                <a:cs typeface="等线"/>
              </a:defRPr>
            </a:pPr>
            <a:r>
              <a:rPr sz="1500" b="1">
                <a:solidFill>
                  <a:srgbClr val="25212A"/>
                </a:solidFill>
                <a:latin typeface="等线"/>
                <a:ea typeface="等线"/>
                <a:cs typeface="等线"/>
              </a:rPr>
              <a:t>4</a:t>
            </a:r>
          </a:p>
          <a:p xmlns:a="http://schemas.openxmlformats.org/drawingml/2006/main">
            <a:pPr algn="ctr">
              <a:defRPr sz="1500" b="1">
                <a:solidFill>
                  <a:srgbClr val="25212A"/>
                </a:solidFill>
                <a:latin typeface="等线"/>
                <a:ea typeface="等线"/>
                <a:cs typeface="等线"/>
              </a:defRPr>
            </a:pPr>
            <a:r>
              <a:rPr sz="1500" b="1">
                <a:solidFill>
                  <a:srgbClr val="25212A"/>
                </a:solidFill>
                <a:latin typeface="等线"/>
                <a:ea typeface="等线"/>
                <a:cs typeface="等线"/>
              </a:rPr>
              <a:t>更新状态并选择下一刺激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EC23940-EA4D-440D-945E-27A99AEE2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067050"/>
            <a:ext cx="8172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A3E8E"/>
            </a:solidFill>
            <a:prstDash val="dash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8916461-0C66-4BC3-B5B8-9DA95171B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00500"/>
            <a:ext cx="10325100" cy="1009650"/>
          </a:xfrm>
          <a:prstGeom xmlns:a="http://schemas.openxmlformats.org/drawingml/2006/main" prst="roundRect">
            <a:avLst>
              <a:gd name="adj" fmla="val 16981"/>
            </a:avLst>
          </a:prstGeom>
          <a:solidFill xmlns:a="http://schemas.openxmlformats.org/drawingml/2006/main">
            <a:srgbClr val="F4EDF7"/>
          </a:solidFill>
          <a:ln xmlns:a="http://schemas.openxmlformats.org/drawingml/2006/main" w="9525">
            <a:solidFill>
              <a:srgbClr val="7A3E8E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E27461E-03B6-48E8-BE17-4BF594892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152900"/>
            <a:ext cx="9810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B1A6E"/>
                </a:solidFill>
                <a:latin typeface="等线"/>
                <a:ea typeface="等线"/>
                <a:cs typeface="等线"/>
              </a:defRPr>
            </a:pPr>
            <a:r>
              <a:rPr sz="1500" b="1">
                <a:solidFill>
                  <a:srgbClr val="5B1A6E"/>
                </a:solidFill>
                <a:latin typeface="等线"/>
                <a:ea typeface="等线"/>
                <a:cs typeface="等线"/>
              </a:rPr>
              <a:t>边界：仅把工具移动到预定位置不够；反馈必须改变后续刺激、映射或停止。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35E1F21-EF71-4406-8CDB-A259A9A9B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381625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A23B55"/>
                </a:solidFill>
                <a:latin typeface="等线"/>
                <a:ea typeface="等线"/>
                <a:cs typeface="等线"/>
              </a:defRPr>
            </a:pPr>
            <a:r>
              <a:rPr sz="1575" b="1">
                <a:solidFill>
                  <a:srgbClr val="A23B55"/>
                </a:solidFill>
                <a:latin typeface="等线"/>
                <a:ea typeface="等线"/>
                <a:cs typeface="等线"/>
              </a:rPr>
              <a:t>反馈必须改变下一动作</a:t>
            </a:r>
          </a:p>
        </p:txBody>
      </p:sp>
    </p:spTree>
    <p:extLst>
      <p:ext uri="{BB962C8B-B14F-4D97-AF65-F5344CB8AC3E}">
        <p14:creationId xmlns:p14="http://schemas.microsoft.com/office/powerpoint/2010/main" val="202512137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菱形 6">
            <a:extLst xmlns:a="http://schemas.openxmlformats.org/drawingml/2006/main">
              <a:ext uri="{FF2B5EF4-FFF2-40B4-BE49-F238E27FC236}">
                <a16:creationId xmlns:a16="http://schemas.microsoft.com/office/drawing/2014/main" id="{8825E84B-323B-49D9-8108-437BE039C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646273" y="6312273"/>
            <a:ext cx="545727" cy="545727"/>
          </a:xfrm>
          <a:prstGeom xmlns:a="http://schemas.openxmlformats.org/drawingml/2006/main" prst="diamond">
            <a:avLst/>
          </a:prstGeom>
          <a:gradFill xmlns:a="http://schemas.openxmlformats.org/drawingml/2006/main">
            <a:gsLst>
              <a:gs pos="100000">
                <a:srgbClr val="C8282A"/>
              </a:gs>
              <a:gs pos="0">
                <a:srgbClr val="194779"/>
              </a:gs>
            </a:gsLst>
            <a:lin ang="18900000" scaled="0"/>
          </a:gradFill>
          <a:ln xmlns:a="http://schemas.openxmlformats.org/drawingml/2006/main">
            <a:noFill/>
          </a:ln>
          <a:effectLst xmlns:a="http://schemas.openxmlformats.org/drawingml/2006/main">
            <a:outerShdw blurRad="127000" dist="38100" dir="2700000" algn="ctr">
              <a:srgbClr val="000000">
                <a:alpha val="45000"/>
              </a:srgb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DengXian"/>
              <a:ea typeface="DengXian"/>
              <a:cs typeface="DengXian"/>
            </a:endParaR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C092C980-ED75-4D29-A46B-D4C2D5D83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79448" y="6438719"/>
            <a:ext cx="320922" cy="338554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glow rad="63500">
              <a:schemeClr val="accent3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600">
                <a:solidFill>
                  <a:prstClr val="white"/>
                </a:solidFill>
                <a:latin typeface="Arial Black"/>
                <a:ea typeface="Arial Black"/>
                <a:cs typeface="Arial Black"/>
              </a:rPr>
              <a:t>9</a:t>
            </a:r>
            <a:endParaRPr sz="1600" b="0" i="0" u="none" kern="1200" cap="none" spc="0" baseline="0">
              <a:ln>
                <a:noFill/>
              </a:ln>
              <a:solidFill>
                <a:prstClr val="white"/>
              </a:solidFill>
              <a:latin typeface="Arial Black"/>
              <a:ea typeface="Arial Black"/>
              <a:cs typeface="Arial Black"/>
            </a:endParaRP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5E3D2DBA-49E9-4CCC-954E-E5F077021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7771"/>
            <a:ext cx="12192000" cy="58404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00000">
                <a:schemeClr val="bg1"/>
              </a:gs>
              <a:gs pos="18000">
                <a:srgbClr val="813789"/>
              </a:gs>
              <a:gs pos="0">
                <a:srgbClr val="813789"/>
              </a:gs>
            </a:gsLst>
            <a:lin ang="270000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66" name="图片 3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87e95f2c7c497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73387" y="11991"/>
            <a:ext cx="1676015" cy="655780"/>
          </a:xfrm>
          <a:prstGeom xmlns:a="http://schemas.openxmlformats.org/drawingml/2006/main" prst="rect">
            <a:avLst/>
          </a:prstGeom>
        </p:spPr>
      </p:pic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CA205373-4581-4B3B-B4F7-9D33498BF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860" y="200660"/>
            <a:ext cx="5683885" cy="460375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25400" dist="25400" dir="2700000" algn="tl" rotWithShape="0">
              <a:prstClr val="black">
                <a:alpha val="46000"/>
              </a:prstClr>
            </a:outerShdw>
          </a:effectLst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>
                <a:solidFill>
                  <a:srgbClr val="813789"/>
                </a:solidFill>
                <a:latin typeface="Arial"/>
                <a:ea typeface="Arial"/>
                <a:cs typeface="Arial"/>
              </a:rPr>
              <a:t>Clinical Detection and Intervention</a:t>
            </a:r>
            <a:endParaRPr sz="2400" b="1" i="0" u="none" kern="1200" cap="none" spc="0" baseline="0">
              <a:ln>
                <a:noFill/>
              </a:ln>
              <a:solidFill>
                <a:srgbClr val="81378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77E6F11E-B04D-4DB9-982C-23761098E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76225"/>
            <a:ext cx="5599430" cy="398780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25400" dist="25400" dir="2700000" algn="tl" rotWithShape="0">
              <a:prstClr val="black">
                <a:alpha val="46000"/>
              </a:prstClr>
            </a:outerShdw>
          </a:effectLst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000" b="1">
                <a:ln>
                  <a:noFill/>
                </a:ln>
                <a:solidFill>
                  <a:srgbClr val="813789"/>
                </a:solidFill>
                <a:latin typeface="Arial"/>
                <a:ea typeface="Arial"/>
                <a:cs typeface="Arial"/>
              </a:rPr>
              <a:t>1.2 Response-based interactive diagnosis</a:t>
            </a:r>
            <a:endParaRPr sz="2000" b="1" i="0" u="none" kern="1200" cap="none" spc="0" baseline="0">
              <a:ln>
                <a:noFill/>
              </a:ln>
              <a:solidFill>
                <a:srgbClr val="81378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DF469E7-3FA4-4429-9B2A-1E770E34E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742950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5212A"/>
                </a:solidFill>
                <a:latin typeface="等线"/>
                <a:ea typeface="等线"/>
                <a:cs typeface="等线"/>
              </a:defRPr>
            </a:pPr>
            <a:r>
              <a:rPr sz="2100" b="1">
                <a:solidFill>
                  <a:srgbClr val="25212A"/>
                </a:solidFill>
                <a:latin typeface="等线"/>
                <a:ea typeface="等线"/>
                <a:cs typeface="等线"/>
              </a:rPr>
              <a:t>响应式交互诊断：已有工作与成熟度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E84F220-1964-4CDE-A48B-DF6BCB901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162050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B1A6E"/>
                </a:solidFill>
                <a:latin typeface="等线"/>
                <a:ea typeface="等线"/>
                <a:cs typeface="等线"/>
              </a:defRPr>
            </a:pPr>
            <a:r>
              <a:rPr sz="1500" b="1">
                <a:solidFill>
                  <a:srgbClr val="5B1A6E"/>
                </a:solidFill>
                <a:latin typeface="等线"/>
                <a:ea typeface="等线"/>
                <a:cs typeface="等线"/>
              </a:rPr>
              <a:t>机器人触诊构成主要集群；弹性、关节激发与神经映射虽小，但闭环定义更清晰。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132AFD3-BDEB-4599-94FE-BFD378E30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676400"/>
            <a:ext cx="2238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212A"/>
                </a:solidFill>
                <a:latin typeface="等线"/>
                <a:ea typeface="等线"/>
                <a:cs typeface="等线"/>
              </a:defRPr>
            </a:pPr>
            <a:r>
              <a:rPr sz="1350" b="1">
                <a:solidFill>
                  <a:srgbClr val="25212A"/>
                </a:solidFill>
                <a:latin typeface="等线"/>
                <a:ea typeface="等线"/>
                <a:cs typeface="等线"/>
              </a:rPr>
              <a:t>机器人触诊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F6914F6-3CDF-4E64-B8BB-DF3C3308C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714500"/>
            <a:ext cx="6191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E9F0"/>
          </a:solidFill>
          <a:ln xmlns:a="http://schemas.openxmlformats.org/drawingml/2006/main" w="9525">
            <a:solidFill>
              <a:srgbClr val="EEE9F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77606C8-D3B9-47D7-BE82-C06CDEC3A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714500"/>
            <a:ext cx="6191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B1A6E"/>
          </a:solidFill>
          <a:ln xmlns:a="http://schemas.openxmlformats.org/drawingml/2006/main" w="9525">
            <a:solidFill>
              <a:srgbClr val="5B1A6E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2F741BC-D5EC-4FEA-97E0-CAF3BC02F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676400"/>
            <a:ext cx="809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5B1A6E"/>
                </a:solidFill>
                <a:latin typeface="等线"/>
                <a:ea typeface="等线"/>
                <a:cs typeface="等线"/>
              </a:defRPr>
            </a:pPr>
            <a:r>
              <a:rPr sz="1500" b="1">
                <a:solidFill>
                  <a:srgbClr val="5B1A6E"/>
                </a:solidFill>
                <a:latin typeface="等线"/>
                <a:ea typeface="等线"/>
                <a:cs typeface="等线"/>
              </a:rPr>
              <a:t>80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65F657E-5B4A-4AA1-B14A-D0A05BABD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1676400"/>
            <a:ext cx="1285875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D65"/>
          </a:solidFill>
          <a:ln xmlns:a="http://schemas.openxmlformats.org/drawingml/2006/main" w="9525">
            <a:solidFill>
              <a:srgbClr val="2E7D6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6CB6370-F5FF-4B50-A485-C5B82F25D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1676400"/>
            <a:ext cx="1285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等线"/>
                <a:ea typeface="等线"/>
                <a:cs typeface="等线"/>
              </a:defRPr>
            </a:pPr>
            <a:r>
              <a:rPr sz="1050" b="1">
                <a:solidFill>
                  <a:srgbClr val="FFFFFF"/>
                </a:solidFill>
                <a:latin typeface="等线"/>
                <a:ea typeface="等线"/>
                <a:cs typeface="等线"/>
              </a:rPr>
              <a:t>多为仿体/离体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C8AD354-43D3-4A0F-8074-F7C7ED5E9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543175"/>
            <a:ext cx="2238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212A"/>
                </a:solidFill>
                <a:latin typeface="等线"/>
                <a:ea typeface="等线"/>
                <a:cs typeface="等线"/>
              </a:defRPr>
            </a:pPr>
            <a:r>
              <a:rPr sz="1350" b="1">
                <a:solidFill>
                  <a:srgbClr val="25212A"/>
                </a:solidFill>
                <a:latin typeface="等线"/>
                <a:ea typeface="等线"/>
                <a:cs typeface="等线"/>
              </a:rPr>
              <a:t>刺激—响应映射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A29BAB1-E0A2-40E0-B850-71196B13A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581275"/>
            <a:ext cx="6191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E9F0"/>
          </a:solidFill>
          <a:ln xmlns:a="http://schemas.openxmlformats.org/drawingml/2006/main" w="9525">
            <a:solidFill>
              <a:srgbClr val="EEE9F0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2797A2D-BD3B-4F20-8B6E-81E15DC67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581275"/>
            <a:ext cx="4179094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A3E8E"/>
          </a:solidFill>
          <a:ln xmlns:a="http://schemas.openxmlformats.org/drawingml/2006/main" w="9525">
            <a:solidFill>
              <a:srgbClr val="7A3E8E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DF72DC9-A90A-41C0-962C-35560B624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43175"/>
            <a:ext cx="809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5B1A6E"/>
                </a:solidFill>
                <a:latin typeface="等线"/>
                <a:ea typeface="等线"/>
                <a:cs typeface="等线"/>
              </a:defRPr>
            </a:pPr>
            <a:r>
              <a:rPr sz="1500" b="1">
                <a:solidFill>
                  <a:srgbClr val="5B1A6E"/>
                </a:solidFill>
                <a:latin typeface="等线"/>
                <a:ea typeface="等线"/>
                <a:cs typeface="等线"/>
              </a:rPr>
              <a:t>54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A94AF48-18E4-45A8-AB3A-3E32DF909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543175"/>
            <a:ext cx="1285875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A3E8E"/>
          </a:solidFill>
          <a:ln xmlns:a="http://schemas.openxmlformats.org/drawingml/2006/main" w="9525">
            <a:solidFill>
              <a:srgbClr val="7A3E8E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93BAC79-48D5-4F62-8861-EDF0A5344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543175"/>
            <a:ext cx="1285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等线"/>
                <a:ea typeface="等线"/>
                <a:cs typeface="等线"/>
              </a:defRPr>
            </a:pPr>
            <a:r>
              <a:rPr sz="1050" b="1">
                <a:solidFill>
                  <a:srgbClr val="FFFFFF"/>
                </a:solidFill>
                <a:latin typeface="等线"/>
                <a:ea typeface="等线"/>
                <a:cs typeface="等线"/>
              </a:rPr>
              <a:t>小样本人体验证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88559B9-143E-4312-9301-A8E8427AD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409950"/>
            <a:ext cx="2238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212A"/>
                </a:solidFill>
                <a:latin typeface="等线"/>
                <a:ea typeface="等线"/>
                <a:cs typeface="等线"/>
              </a:defRPr>
            </a:pPr>
            <a:r>
              <a:rPr sz="1350" b="1">
                <a:solidFill>
                  <a:srgbClr val="25212A"/>
                </a:solidFill>
                <a:latin typeface="等线"/>
                <a:ea typeface="等线"/>
                <a:cs typeface="等线"/>
              </a:rPr>
              <a:t>弹性/刚度测绘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BEFE4C0-D001-40A8-835F-F526CB828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448050"/>
            <a:ext cx="6191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E9F0"/>
          </a:solidFill>
          <a:ln xmlns:a="http://schemas.openxmlformats.org/drawingml/2006/main" w="9525">
            <a:solidFill>
              <a:srgbClr val="EEE9F0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B726A85-3775-4BB7-8BB5-5265D7777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448050"/>
            <a:ext cx="1160859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A3E8E"/>
          </a:solidFill>
          <a:ln xmlns:a="http://schemas.openxmlformats.org/drawingml/2006/main" w="9525">
            <a:solidFill>
              <a:srgbClr val="7A3E8E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F750E5C-351D-4776-8720-6CEBDA0C0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3409950"/>
            <a:ext cx="809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5B1A6E"/>
                </a:solidFill>
                <a:latin typeface="等线"/>
                <a:ea typeface="等线"/>
                <a:cs typeface="等线"/>
              </a:defRPr>
            </a:pPr>
            <a:r>
              <a:rPr sz="1500" b="1">
                <a:solidFill>
                  <a:srgbClr val="5B1A6E"/>
                </a:solidFill>
                <a:latin typeface="等线"/>
                <a:ea typeface="等线"/>
                <a:cs typeface="等线"/>
              </a:rPr>
              <a:t>≈15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A7E8705-03EC-4D21-BF3A-900E965AB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409950"/>
            <a:ext cx="1285875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A3E8E"/>
          </a:solidFill>
          <a:ln xmlns:a="http://schemas.openxmlformats.org/drawingml/2006/main" w="9525">
            <a:solidFill>
              <a:srgbClr val="7A3E8E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64FB11C-8813-47A9-818B-8DE5A9275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409950"/>
            <a:ext cx="1285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等线"/>
                <a:ea typeface="等线"/>
                <a:cs typeface="等线"/>
              </a:defRPr>
            </a:pPr>
            <a:r>
              <a:rPr sz="1050" b="1">
                <a:solidFill>
                  <a:srgbClr val="FFFFFF"/>
                </a:solidFill>
                <a:latin typeface="等线"/>
                <a:ea typeface="等线"/>
                <a:cs typeface="等线"/>
              </a:rPr>
              <a:t>严格闭环很少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4DE189C-0484-46B4-83B6-43C708130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276725"/>
            <a:ext cx="2238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212A"/>
                </a:solidFill>
                <a:latin typeface="等线"/>
                <a:ea typeface="等线"/>
                <a:cs typeface="等线"/>
              </a:defRPr>
            </a:pPr>
            <a:r>
              <a:rPr sz="1350" b="1">
                <a:solidFill>
                  <a:srgbClr val="25212A"/>
                </a:solidFill>
                <a:latin typeface="等线"/>
                <a:ea typeface="等线"/>
                <a:cs typeface="等线"/>
              </a:rPr>
              <a:t>关节激发检查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89B914B-5725-4796-AF55-E2A1F61E1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314825"/>
            <a:ext cx="6191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E9F0"/>
          </a:solidFill>
          <a:ln xmlns:a="http://schemas.openxmlformats.org/drawingml/2006/main" w="9525">
            <a:solidFill>
              <a:srgbClr val="EEE9F0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D095813-8D60-4A25-B32B-4DFC5E849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314825"/>
            <a:ext cx="2089547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A3E8E"/>
          </a:solidFill>
          <a:ln xmlns:a="http://schemas.openxmlformats.org/drawingml/2006/main" w="9525">
            <a:solidFill>
              <a:srgbClr val="7A3E8E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84FFE74-7597-404D-825C-64961ED5F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4276725"/>
            <a:ext cx="809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5B1A6E"/>
                </a:solidFill>
                <a:latin typeface="等线"/>
                <a:ea typeface="等线"/>
                <a:cs typeface="等线"/>
              </a:defRPr>
            </a:pPr>
            <a:r>
              <a:rPr sz="1500" b="1">
                <a:solidFill>
                  <a:srgbClr val="5B1A6E"/>
                </a:solidFill>
                <a:latin typeface="等线"/>
                <a:ea typeface="等线"/>
                <a:cs typeface="等线"/>
              </a:rPr>
              <a:t>≈27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ED18989-5F2B-447D-B47B-E2C675BA7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4276725"/>
            <a:ext cx="1285875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A3E8E"/>
          </a:solidFill>
          <a:ln xmlns:a="http://schemas.openxmlformats.org/drawingml/2006/main" w="9525">
            <a:solidFill>
              <a:srgbClr val="7A3E8E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DB37DA8-A19E-4237-81E4-53B838767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4276725"/>
            <a:ext cx="1285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等线"/>
                <a:ea typeface="等线"/>
                <a:cs typeface="等线"/>
              </a:defRPr>
            </a:pPr>
            <a:r>
              <a:rPr sz="1050" b="1">
                <a:solidFill>
                  <a:srgbClr val="FFFFFF"/>
                </a:solidFill>
                <a:latin typeface="等线"/>
                <a:ea typeface="等线"/>
                <a:cs typeface="等线"/>
              </a:rPr>
              <a:t>多为量化测量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08AB4FB-F757-42ED-B2E4-348F35975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53100"/>
            <a:ext cx="10810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D6672"/>
                </a:solidFill>
                <a:latin typeface="等线"/>
                <a:ea typeface="等线"/>
                <a:cs typeface="等线"/>
              </a:defRPr>
            </a:pPr>
            <a:r>
              <a:rPr sz="1200" b="0">
                <a:solidFill>
                  <a:srgbClr val="6D6672"/>
                </a:solidFill>
                <a:latin typeface="等线"/>
                <a:ea typeface="等线"/>
                <a:cs typeface="等线"/>
              </a:rPr>
              <a:t>最关键的筛选问题：刺激响应是否用于决定下一测点/刺激参数，而非仅离线分析。</a:t>
            </a:r>
          </a:p>
        </p:txBody>
      </p:sp>
    </p:spTree>
    <p:extLst>
      <p:ext uri="{BB962C8B-B14F-4D97-AF65-F5344CB8AC3E}">
        <p14:creationId xmlns:p14="http://schemas.microsoft.com/office/powerpoint/2010/main" val="202512137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菱形 6">
            <a:extLst xmlns:a="http://schemas.openxmlformats.org/drawingml/2006/main">
              <a:ext uri="{FF2B5EF4-FFF2-40B4-BE49-F238E27FC236}">
                <a16:creationId xmlns:a16="http://schemas.microsoft.com/office/drawing/2014/main" id="{8825E84B-323B-49D9-8108-437BE039C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646273" y="6312273"/>
            <a:ext cx="545727" cy="545727"/>
          </a:xfrm>
          <a:prstGeom xmlns:a="http://schemas.openxmlformats.org/drawingml/2006/main" prst="diamond">
            <a:avLst/>
          </a:prstGeom>
          <a:gradFill xmlns:a="http://schemas.openxmlformats.org/drawingml/2006/main">
            <a:gsLst>
              <a:gs pos="100000">
                <a:srgbClr val="C8282A"/>
              </a:gs>
              <a:gs pos="0">
                <a:srgbClr val="194779"/>
              </a:gs>
            </a:gsLst>
            <a:lin ang="18900000" scaled="0"/>
          </a:gradFill>
          <a:ln xmlns:a="http://schemas.openxmlformats.org/drawingml/2006/main">
            <a:noFill/>
          </a:ln>
          <a:effectLst xmlns:a="http://schemas.openxmlformats.org/drawingml/2006/main">
            <a:outerShdw blurRad="127000" dist="38100" dir="2700000" algn="ctr">
              <a:srgbClr val="000000">
                <a:alpha val="45000"/>
              </a:srgb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DengXian"/>
              <a:ea typeface="DengXian"/>
              <a:cs typeface="DengXian"/>
            </a:endParaR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C092C980-ED75-4D29-A46B-D4C2D5D83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79448" y="6438719"/>
            <a:ext cx="320922" cy="338554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glow rad="63500">
              <a:schemeClr val="accent3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600">
                <a:solidFill>
                  <a:prstClr val="white"/>
                </a:solidFill>
                <a:latin typeface="Arial Black"/>
                <a:ea typeface="Arial Black"/>
                <a:cs typeface="Arial Black"/>
              </a:rPr>
              <a:t>10</a:t>
            </a:r>
            <a:endParaRPr sz="1600" b="0" i="0" u="none" kern="1200" cap="none" spc="0" baseline="0">
              <a:ln>
                <a:noFill/>
              </a:ln>
              <a:solidFill>
                <a:prstClr val="white"/>
              </a:solidFill>
              <a:latin typeface="Arial Black"/>
              <a:ea typeface="Arial Black"/>
              <a:cs typeface="Arial Black"/>
            </a:endParaRP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5E3D2DBA-49E9-4CCC-954E-E5F077021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7771"/>
            <a:ext cx="12192000" cy="58404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00000">
                <a:schemeClr val="bg1"/>
              </a:gs>
              <a:gs pos="18000">
                <a:srgbClr val="813789"/>
              </a:gs>
              <a:gs pos="0">
                <a:srgbClr val="813789"/>
              </a:gs>
            </a:gsLst>
            <a:lin ang="270000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65" name="图片 3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d0f99b6b1e4e5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73387" y="11991"/>
            <a:ext cx="1676015" cy="655780"/>
          </a:xfrm>
          <a:prstGeom xmlns:a="http://schemas.openxmlformats.org/drawingml/2006/main" prst="rect">
            <a:avLst/>
          </a:prstGeom>
        </p:spPr>
      </p:pic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CA205373-4581-4B3B-B4F7-9D33498BF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860" y="200660"/>
            <a:ext cx="5683885" cy="460375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25400" dist="25400" dir="2700000" algn="tl" rotWithShape="0">
              <a:prstClr val="black">
                <a:alpha val="46000"/>
              </a:prstClr>
            </a:outerShdw>
          </a:effectLst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>
                <a:solidFill>
                  <a:srgbClr val="813789"/>
                </a:solidFill>
                <a:latin typeface="Arial"/>
                <a:ea typeface="Arial"/>
                <a:cs typeface="Arial"/>
              </a:rPr>
              <a:t>Clinical Detection and Intervention</a:t>
            </a:r>
            <a:endParaRPr sz="2400" b="1" i="0" u="none" kern="1200" cap="none" spc="0" baseline="0">
              <a:ln>
                <a:noFill/>
              </a:ln>
              <a:solidFill>
                <a:srgbClr val="81378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77E6F11E-B04D-4DB9-982C-23761098E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76225"/>
            <a:ext cx="5599430" cy="398780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25400" dist="25400" dir="2700000" algn="tl" rotWithShape="0">
              <a:prstClr val="black">
                <a:alpha val="46000"/>
              </a:prstClr>
            </a:outerShdw>
          </a:effectLst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000" b="1">
                <a:ln>
                  <a:noFill/>
                </a:ln>
                <a:solidFill>
                  <a:srgbClr val="813789"/>
                </a:solidFill>
                <a:latin typeface="Arial"/>
                <a:ea typeface="Arial"/>
                <a:cs typeface="Arial"/>
              </a:rPr>
              <a:t>1.2 Response-based interactive diagnosis</a:t>
            </a:r>
            <a:endParaRPr sz="2000" b="1" i="0" u="none" kern="1200" cap="none" spc="0" baseline="0">
              <a:ln>
                <a:noFill/>
              </a:ln>
              <a:solidFill>
                <a:srgbClr val="81378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FDAB373-1F7A-425C-87F8-19A74533D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742950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5212A"/>
                </a:solidFill>
                <a:latin typeface="等线"/>
                <a:ea typeface="等线"/>
                <a:cs typeface="等线"/>
              </a:defRPr>
            </a:pPr>
            <a:r>
              <a:rPr sz="2100" b="1">
                <a:solidFill>
                  <a:srgbClr val="25212A"/>
                </a:solidFill>
                <a:latin typeface="等线"/>
                <a:ea typeface="等线"/>
                <a:cs typeface="等线"/>
              </a:rPr>
              <a:t>方向一：多模态机器人触诊与弹性测绘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B25E3A1-94C7-4199-9333-B8B1AC2FB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162050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B1A6E"/>
                </a:solidFill>
                <a:latin typeface="等线"/>
                <a:ea typeface="等线"/>
                <a:cs typeface="等线"/>
              </a:defRPr>
            </a:pPr>
            <a:r>
              <a:rPr sz="1500" b="1">
                <a:solidFill>
                  <a:srgbClr val="5B1A6E"/>
                </a:solidFill>
                <a:latin typeface="等线"/>
                <a:ea typeface="等线"/>
                <a:cs typeface="等线"/>
              </a:rPr>
              <a:t>把“摸哪里、压多深、何时换扫描模式”转化为序贯决策。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76FD009-907B-42C5-B2A5-C03B46752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71625"/>
            <a:ext cx="23622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DC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C6DCBEF-7D39-41F4-841C-96C0DECF1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571625"/>
            <a:ext cx="23622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DE3F1"/>
          </a:solidFill>
          <a:ln xmlns:a="http://schemas.openxmlformats.org/drawingml/2006/main" w="9525">
            <a:solidFill>
              <a:srgbClr val="7A3E8E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84D0DD4-AE89-4E79-B7EA-13F9AE6AE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571625"/>
            <a:ext cx="23622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DC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A67F399-D2BD-4B40-9847-516F2B755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571625"/>
            <a:ext cx="23622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DC"/>
            </a:solidFill>
            <a:prstDash val="solid"/>
          </a:ln>
        </p:spPr>
      </p:sp>
      <p:cxnSp>
        <p:nvCxnSpPr>
          <p:cNvPr id="74" name=""/>
          <p:cNvCxnSpPr>
            <a:stCxn xmlns:a="http://schemas.openxmlformats.org/drawingml/2006/main" id="38" idx="3"/>
            <a:endCxn xmlns:a="http://schemas.openxmlformats.org/drawingml/2006/main" id="39" idx="1"/>
          </p:cNvCxnSpPr>
          <p:nvPr/>
        </p:nvCxnSpPr>
        <p:spPr>
          <a:xfrm xmlns:a="http://schemas.openxmlformats.org/drawingml/2006/main">
            <a:off x="2914650" y="2009775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A3E8E"/>
            </a:solidFill>
            <a:prstDash val="solid"/>
            <a:headEnd type="triangle" w="sm" len="sm"/>
          </a:ln>
        </p:spPr>
      </p:cxnSp>
      <p:cxnSp>
        <p:nvCxnSpPr>
          <p:cNvPr id="75" name=""/>
          <p:cNvCxnSpPr>
            <a:stCxn xmlns:a="http://schemas.openxmlformats.org/drawingml/2006/main" id="39" idx="3"/>
            <a:endCxn xmlns:a="http://schemas.openxmlformats.org/drawingml/2006/main" id="40" idx="1"/>
          </p:cNvCxnSpPr>
          <p:nvPr/>
        </p:nvCxnSpPr>
        <p:spPr>
          <a:xfrm xmlns:a="http://schemas.openxmlformats.org/drawingml/2006/main">
            <a:off x="5638800" y="2009775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A3E8E"/>
            </a:solidFill>
            <a:prstDash val="solid"/>
            <a:headEnd type="triangle" w="sm" len="sm"/>
          </a:ln>
        </p:spPr>
      </p:cxnSp>
      <p:cxnSp>
        <p:nvCxnSpPr>
          <p:cNvPr id="76" name=""/>
          <p:cNvCxnSpPr>
            <a:stCxn xmlns:a="http://schemas.openxmlformats.org/drawingml/2006/main" id="40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>
            <a:off x="8362950" y="2009775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A3E8E"/>
            </a:solidFill>
            <a:prstDash val="solid"/>
            <a:headEnd type="triangle" w="sm" len="sm"/>
          </a:ln>
        </p:spPr>
      </p:cxn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8B2E6C6-5222-4623-AB16-E033B51E7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57350"/>
            <a:ext cx="2171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5212A"/>
                </a:solidFill>
                <a:latin typeface="等线"/>
                <a:ea typeface="等线"/>
                <a:cs typeface="等线"/>
              </a:defRPr>
            </a:pPr>
            <a:r>
              <a:rPr sz="1500" b="1">
                <a:solidFill>
                  <a:srgbClr val="25212A"/>
                </a:solidFill>
                <a:latin typeface="等线"/>
                <a:ea typeface="等线"/>
                <a:cs typeface="等线"/>
              </a:rPr>
              <a:t>1</a:t>
            </a:r>
          </a:p>
          <a:p xmlns:a="http://schemas.openxmlformats.org/drawingml/2006/main">
            <a:pPr algn="ctr">
              <a:defRPr sz="1500" b="1">
                <a:solidFill>
                  <a:srgbClr val="25212A"/>
                </a:solidFill>
                <a:latin typeface="等线"/>
                <a:ea typeface="等线"/>
                <a:cs typeface="等线"/>
              </a:defRPr>
            </a:pPr>
            <a:r>
              <a:rPr sz="1500" b="1">
                <a:solidFill>
                  <a:srgbClr val="25212A"/>
                </a:solidFill>
                <a:latin typeface="等线"/>
                <a:ea typeface="等线"/>
                <a:cs typeface="等线"/>
              </a:rPr>
              <a:t>稀疏触诊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E9E3308-45E9-4FC1-BAAC-D09DE73CC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657350"/>
            <a:ext cx="2171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B1A6E"/>
                </a:solidFill>
                <a:latin typeface="等线"/>
                <a:ea typeface="等线"/>
                <a:cs typeface="等线"/>
              </a:defRPr>
            </a:pPr>
            <a:r>
              <a:rPr sz="1500" b="1">
                <a:solidFill>
                  <a:srgbClr val="5B1A6E"/>
                </a:solidFill>
                <a:latin typeface="等线"/>
                <a:ea typeface="等线"/>
                <a:cs typeface="等线"/>
              </a:rPr>
              <a:t>2</a:t>
            </a:r>
          </a:p>
          <a:p xmlns:a="http://schemas.openxmlformats.org/drawingml/2006/main">
            <a:pPr algn="ctr">
              <a:defRPr sz="1500" b="1">
                <a:solidFill>
                  <a:srgbClr val="5B1A6E"/>
                </a:solidFill>
                <a:latin typeface="等线"/>
                <a:ea typeface="等线"/>
                <a:cs typeface="等线"/>
              </a:defRPr>
            </a:pPr>
            <a:r>
              <a:rPr sz="1500" b="1">
                <a:solidFill>
                  <a:srgbClr val="5B1A6E"/>
                </a:solidFill>
                <a:latin typeface="等线"/>
                <a:ea typeface="等线"/>
                <a:cs typeface="等线"/>
              </a:rPr>
              <a:t>硬度后验图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AC6EF50-516F-406E-B415-5ACE95758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57350"/>
            <a:ext cx="2171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5212A"/>
                </a:solidFill>
                <a:latin typeface="等线"/>
                <a:ea typeface="等线"/>
                <a:cs typeface="等线"/>
              </a:defRPr>
            </a:pPr>
            <a:r>
              <a:rPr sz="1500" b="1">
                <a:solidFill>
                  <a:srgbClr val="25212A"/>
                </a:solidFill>
                <a:latin typeface="等线"/>
                <a:ea typeface="等线"/>
                <a:cs typeface="等线"/>
              </a:rPr>
              <a:t>3</a:t>
            </a:r>
          </a:p>
          <a:p xmlns:a="http://schemas.openxmlformats.org/drawingml/2006/main">
            <a:pPr algn="ctr">
              <a:defRPr sz="1500" b="1">
                <a:solidFill>
                  <a:srgbClr val="25212A"/>
                </a:solidFill>
                <a:latin typeface="等线"/>
                <a:ea typeface="等线"/>
                <a:cs typeface="等线"/>
              </a:defRPr>
            </a:pPr>
            <a:r>
              <a:rPr sz="1500" b="1">
                <a:solidFill>
                  <a:srgbClr val="25212A"/>
                </a:solidFill>
                <a:latin typeface="等线"/>
                <a:ea typeface="等线"/>
                <a:cs typeface="等线"/>
              </a:rPr>
              <a:t>Bayesian 选点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0695305-1B3E-4F01-993F-D7723B5E2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657350"/>
            <a:ext cx="2171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5212A"/>
                </a:solidFill>
                <a:latin typeface="等线"/>
                <a:ea typeface="等线"/>
                <a:cs typeface="等线"/>
              </a:defRPr>
            </a:pPr>
            <a:r>
              <a:rPr sz="1500" b="1">
                <a:solidFill>
                  <a:srgbClr val="25212A"/>
                </a:solidFill>
                <a:latin typeface="等线"/>
                <a:ea typeface="等线"/>
                <a:cs typeface="等线"/>
              </a:rPr>
              <a:t>4</a:t>
            </a:r>
          </a:p>
          <a:p xmlns:a="http://schemas.openxmlformats.org/drawingml/2006/main">
            <a:pPr algn="ctr">
              <a:defRPr sz="1500" b="1">
                <a:solidFill>
                  <a:srgbClr val="25212A"/>
                </a:solidFill>
                <a:latin typeface="等线"/>
                <a:ea typeface="等线"/>
                <a:cs typeface="等线"/>
              </a:defRPr>
            </a:pPr>
            <a:r>
              <a:rPr sz="1500" b="1">
                <a:solidFill>
                  <a:srgbClr val="25212A"/>
                </a:solidFill>
                <a:latin typeface="等线"/>
                <a:ea typeface="等线"/>
                <a:cs typeface="等线"/>
              </a:rPr>
              <a:t>中心定位 → 边界滑扫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3CBCABB-74B2-4DA5-B7EA-ABA17DDAD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638425"/>
            <a:ext cx="8172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A3E8E"/>
            </a:solidFill>
            <a:prstDash val="dash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E8D71E5-A719-459D-8745-F14FC2357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95600"/>
            <a:ext cx="108966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DC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902AA99-896B-4E41-B002-26DE65412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33700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B1A6E"/>
                </a:solidFill>
                <a:latin typeface="等线"/>
                <a:ea typeface="等线"/>
                <a:cs typeface="等线"/>
              </a:defRPr>
            </a:pPr>
            <a:r>
              <a:rPr sz="1350" b="1">
                <a:solidFill>
                  <a:srgbClr val="5B1A6E"/>
                </a:solidFill>
                <a:latin typeface="等线"/>
                <a:ea typeface="等线"/>
                <a:cs typeface="等线"/>
              </a:rPr>
              <a:t>双模态触觉层析 2025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3C1DF62-4AD5-4BFC-99C3-B08253930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933700"/>
            <a:ext cx="485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12A"/>
                </a:solidFill>
                <a:latin typeface="等线"/>
                <a:ea typeface="等线"/>
                <a:cs typeface="等线"/>
              </a:defRPr>
            </a:pPr>
            <a:r>
              <a:rPr sz="1350" b="0">
                <a:solidFill>
                  <a:srgbClr val="25212A"/>
                </a:solidFill>
                <a:latin typeface="等线"/>
                <a:ea typeface="等线"/>
                <a:cs typeface="等线"/>
              </a:rPr>
              <a:t>肿瘤仿体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2AE2CE5-0A83-488E-A65E-F274024C0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3370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E7D65"/>
                </a:solidFill>
                <a:latin typeface="等线"/>
                <a:ea typeface="等线"/>
                <a:cs typeface="等线"/>
              </a:defRPr>
            </a:pPr>
            <a:r>
              <a:rPr sz="1350" b="1">
                <a:solidFill>
                  <a:srgbClr val="2E7D65"/>
                </a:solidFill>
                <a:latin typeface="等线"/>
                <a:ea typeface="等线"/>
                <a:cs typeface="等线"/>
              </a:rPr>
              <a:t>≤30 次定位；F1 &gt;0.976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452E66E-2311-4C38-8CD9-7BF3990F4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81400"/>
            <a:ext cx="108966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4EDF7"/>
          </a:solidFill>
          <a:ln xmlns:a="http://schemas.openxmlformats.org/drawingml/2006/main" w="9525">
            <a:solidFill>
              <a:srgbClr val="EDE3F1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472E658-9A4C-4162-8493-3CEDC1F2D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0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B1A6E"/>
                </a:solidFill>
                <a:latin typeface="等线"/>
                <a:ea typeface="等线"/>
                <a:cs typeface="等线"/>
              </a:defRPr>
            </a:pPr>
            <a:r>
              <a:rPr sz="1350" b="1">
                <a:solidFill>
                  <a:srgbClr val="5B1A6E"/>
                </a:solidFill>
                <a:latin typeface="等线"/>
                <a:ea typeface="等线"/>
                <a:cs typeface="等线"/>
              </a:rPr>
              <a:t>边界分割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AA2CE6C-8144-46D2-A0F3-AD38355C7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619500"/>
            <a:ext cx="485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12A"/>
                </a:solidFill>
                <a:latin typeface="等线"/>
                <a:ea typeface="等线"/>
                <a:cs typeface="等线"/>
              </a:defRPr>
            </a:pPr>
            <a:r>
              <a:rPr sz="1350" b="0">
                <a:solidFill>
                  <a:srgbClr val="25212A"/>
                </a:solidFill>
                <a:latin typeface="等线"/>
                <a:ea typeface="等线"/>
                <a:cs typeface="等线"/>
              </a:rPr>
              <a:t>滑动 B-scan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D22CB73-0135-44A0-96A8-C3B98ADEF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1950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7A3E8E"/>
                </a:solidFill>
                <a:latin typeface="等线"/>
                <a:ea typeface="等线"/>
                <a:cs typeface="等线"/>
              </a:defRPr>
            </a:pPr>
            <a:r>
              <a:rPr sz="1350" b="1">
                <a:solidFill>
                  <a:srgbClr val="7A3E8E"/>
                </a:solidFill>
                <a:latin typeface="等线"/>
                <a:ea typeface="等线"/>
                <a:cs typeface="等线"/>
              </a:rPr>
              <a:t>precision 0.983；面积误差 &lt;0.25 mm²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7293606-A133-4946-8EDC-505891996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95875"/>
            <a:ext cx="1428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B1A6E"/>
          </a:solidFill>
          <a:ln xmlns:a="http://schemas.openxmlformats.org/drawingml/2006/main" w="9525">
            <a:solidFill>
              <a:srgbClr val="5B1A6E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85FC802-2636-435F-9A97-1406AD8A6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958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等线"/>
                <a:ea typeface="等线"/>
                <a:cs typeface="等线"/>
              </a:defRPr>
            </a:pPr>
            <a:r>
              <a:rPr sz="1050" b="1">
                <a:solidFill>
                  <a:srgbClr val="FFFFFF"/>
                </a:solidFill>
                <a:latin typeface="等线"/>
                <a:ea typeface="等线"/>
                <a:cs typeface="等线"/>
              </a:rPr>
              <a:t>硬件 / 数据条件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71DC52B-71C4-4D93-B218-75CD71C72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048250"/>
            <a:ext cx="9315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5212A"/>
                </a:solidFill>
                <a:latin typeface="等线"/>
                <a:ea typeface="等线"/>
                <a:cs typeface="等线"/>
              </a:defRPr>
            </a:pPr>
            <a:r>
              <a:rPr sz="1275" b="0">
                <a:solidFill>
                  <a:srgbClr val="25212A"/>
                </a:solidFill>
                <a:latin typeface="等线"/>
                <a:ea typeface="等线"/>
                <a:cs typeface="等线"/>
              </a:rPr>
              <a:t>小型化探头 · OCT/触觉传感 · 力/形变估计 · 序贯优化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8063DE7-D9BC-4815-A5A1-1666521F7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53100"/>
            <a:ext cx="10810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D6672"/>
                </a:solidFill>
                <a:latin typeface="等线"/>
                <a:ea typeface="等线"/>
                <a:cs typeface="等线"/>
              </a:defRPr>
            </a:pPr>
            <a:r>
              <a:rPr sz="1200" b="0">
                <a:solidFill>
                  <a:srgbClr val="6D6672"/>
                </a:solidFill>
                <a:latin typeface="等线"/>
                <a:ea typeface="等线"/>
                <a:cs typeface="等线"/>
              </a:rPr>
              <a:t>证据仍为仿体：组织滑移、曲面、呼吸运动、疼痛阈值和真实病理差异是临床转化门槛。</a:t>
            </a:r>
          </a:p>
        </p:txBody>
      </p:sp>
    </p:spTree>
    <p:extLst>
      <p:ext uri="{BB962C8B-B14F-4D97-AF65-F5344CB8AC3E}">
        <p14:creationId xmlns:p14="http://schemas.microsoft.com/office/powerpoint/2010/main" val="202512137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菱形 6">
            <a:extLst xmlns:a="http://schemas.openxmlformats.org/drawingml/2006/main">
              <a:ext uri="{FF2B5EF4-FFF2-40B4-BE49-F238E27FC236}">
                <a16:creationId xmlns:a16="http://schemas.microsoft.com/office/drawing/2014/main" id="{8825E84B-323B-49D9-8108-437BE039C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646273" y="6312273"/>
            <a:ext cx="545727" cy="545727"/>
          </a:xfrm>
          <a:prstGeom xmlns:a="http://schemas.openxmlformats.org/drawingml/2006/main" prst="diamond">
            <a:avLst/>
          </a:prstGeom>
          <a:gradFill xmlns:a="http://schemas.openxmlformats.org/drawingml/2006/main">
            <a:gsLst>
              <a:gs pos="100000">
                <a:srgbClr val="C8282A"/>
              </a:gs>
              <a:gs pos="0">
                <a:srgbClr val="194779"/>
              </a:gs>
            </a:gsLst>
            <a:lin ang="18900000" scaled="0"/>
          </a:gradFill>
          <a:ln xmlns:a="http://schemas.openxmlformats.org/drawingml/2006/main">
            <a:noFill/>
          </a:ln>
          <a:effectLst xmlns:a="http://schemas.openxmlformats.org/drawingml/2006/main">
            <a:outerShdw blurRad="127000" dist="38100" dir="2700000" algn="ctr">
              <a:srgbClr val="000000">
                <a:alpha val="45000"/>
              </a:srgb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DengXian"/>
              <a:ea typeface="DengXian"/>
              <a:cs typeface="DengXian"/>
            </a:endParaR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C092C980-ED75-4D29-A46B-D4C2D5D83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79448" y="6438719"/>
            <a:ext cx="320922" cy="338554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glow rad="63500">
              <a:schemeClr val="accent3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600">
                <a:solidFill>
                  <a:prstClr val="white"/>
                </a:solidFill>
                <a:latin typeface="Arial Black"/>
                <a:ea typeface="Arial Black"/>
                <a:cs typeface="Arial Black"/>
              </a:rPr>
              <a:t>11</a:t>
            </a:r>
            <a:endParaRPr sz="1600" b="0" i="0" u="none" kern="1200" cap="none" spc="0" baseline="0">
              <a:ln>
                <a:noFill/>
              </a:ln>
              <a:solidFill>
                <a:prstClr val="white"/>
              </a:solidFill>
              <a:latin typeface="Arial Black"/>
              <a:ea typeface="Arial Black"/>
              <a:cs typeface="Arial Black"/>
            </a:endParaRP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5E3D2DBA-49E9-4CCC-954E-E5F077021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7771"/>
            <a:ext cx="12192000" cy="58404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00000">
                <a:schemeClr val="bg1"/>
              </a:gs>
              <a:gs pos="18000">
                <a:srgbClr val="813789"/>
              </a:gs>
              <a:gs pos="0">
                <a:srgbClr val="813789"/>
              </a:gs>
            </a:gsLst>
            <a:lin ang="270000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69" name="图片 3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49f44647394aa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73387" y="11991"/>
            <a:ext cx="1676015" cy="655780"/>
          </a:xfrm>
          <a:prstGeom xmlns:a="http://schemas.openxmlformats.org/drawingml/2006/main" prst="rect">
            <a:avLst/>
          </a:prstGeom>
        </p:spPr>
      </p:pic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CA205373-4581-4B3B-B4F7-9D33498BF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860" y="200660"/>
            <a:ext cx="5683885" cy="460375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25400" dist="25400" dir="2700000" algn="tl" rotWithShape="0">
              <a:prstClr val="black">
                <a:alpha val="46000"/>
              </a:prstClr>
            </a:outerShdw>
          </a:effectLst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>
                <a:solidFill>
                  <a:srgbClr val="813789"/>
                </a:solidFill>
                <a:latin typeface="Arial"/>
                <a:ea typeface="Arial"/>
                <a:cs typeface="Arial"/>
              </a:rPr>
              <a:t>Clinical Detection and Intervention</a:t>
            </a:r>
            <a:endParaRPr sz="2400" b="1" i="0" u="none" kern="1200" cap="none" spc="0" baseline="0">
              <a:ln>
                <a:noFill/>
              </a:ln>
              <a:solidFill>
                <a:srgbClr val="81378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77E6F11E-B04D-4DB9-982C-23761098E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76225"/>
            <a:ext cx="5599430" cy="398780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25400" dist="25400" dir="2700000" algn="tl" rotWithShape="0">
              <a:prstClr val="black">
                <a:alpha val="46000"/>
              </a:prstClr>
            </a:outerShdw>
          </a:effectLst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000" b="1">
                <a:ln>
                  <a:noFill/>
                </a:ln>
                <a:solidFill>
                  <a:srgbClr val="813789"/>
                </a:solidFill>
                <a:latin typeface="Arial"/>
                <a:ea typeface="Arial"/>
                <a:cs typeface="Arial"/>
              </a:rPr>
              <a:t>1.2 Response-based interactive diagnosis</a:t>
            </a:r>
            <a:endParaRPr sz="2000" b="1" i="0" u="none" kern="1200" cap="none" spc="0" baseline="0">
              <a:ln>
                <a:noFill/>
              </a:ln>
              <a:solidFill>
                <a:srgbClr val="81378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F2B271D-9A82-477C-B9B8-3A83542B3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742950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5212A"/>
                </a:solidFill>
                <a:latin typeface="等线"/>
                <a:ea typeface="等线"/>
                <a:cs typeface="等线"/>
              </a:defRPr>
            </a:pPr>
            <a:r>
              <a:rPr sz="2100" b="1">
                <a:solidFill>
                  <a:srgbClr val="25212A"/>
                </a:solidFill>
                <a:latin typeface="等线"/>
                <a:ea typeface="等线"/>
                <a:cs typeface="等线"/>
              </a:rPr>
              <a:t>方向二：神经刺激—响应的主动映射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DC7524D-D673-40FA-96DA-56A18EEF6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162050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B1A6E"/>
                </a:solidFill>
                <a:latin typeface="等线"/>
                <a:ea typeface="等线"/>
                <a:cs typeface="等线"/>
              </a:defRPr>
            </a:pPr>
            <a:r>
              <a:rPr sz="1500" b="1">
                <a:solidFill>
                  <a:srgbClr val="5B1A6E"/>
                </a:solidFill>
                <a:latin typeface="等线"/>
                <a:ea typeface="等线"/>
                <a:cs typeface="等线"/>
              </a:rPr>
              <a:t>MEP/EMG 不是被动输出，而是选择下一个刺激位点的反馈信号。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D525E2C-3F9A-42D9-B0B3-D54A6EC0F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71625"/>
            <a:ext cx="23622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DC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B08D37E-2E9F-4E7B-A24C-D111EED23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571625"/>
            <a:ext cx="23622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DE3F1"/>
          </a:solidFill>
          <a:ln xmlns:a="http://schemas.openxmlformats.org/drawingml/2006/main" w="9525">
            <a:solidFill>
              <a:srgbClr val="7A3E8E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3DE32E1-DF7F-4C08-A5FA-48F4FEEFC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571625"/>
            <a:ext cx="23622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DC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2785F60-E2AE-4138-8E43-4C4954C3D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571625"/>
            <a:ext cx="23622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DC"/>
            </a:solidFill>
            <a:prstDash val="solid"/>
          </a:ln>
        </p:spPr>
      </p:sp>
      <p:cxnSp>
        <p:nvCxnSpPr>
          <p:cNvPr id="78" name=""/>
          <p:cNvCxnSpPr>
            <a:stCxn xmlns:a="http://schemas.openxmlformats.org/drawingml/2006/main" id="38" idx="3"/>
            <a:endCxn xmlns:a="http://schemas.openxmlformats.org/drawingml/2006/main" id="39" idx="1"/>
          </p:cNvCxnSpPr>
          <p:nvPr/>
        </p:nvCxnSpPr>
        <p:spPr>
          <a:xfrm xmlns:a="http://schemas.openxmlformats.org/drawingml/2006/main">
            <a:off x="2914650" y="2009775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A3E8E"/>
            </a:solidFill>
            <a:prstDash val="solid"/>
            <a:headEnd type="triangle" w="sm" len="sm"/>
          </a:ln>
        </p:spPr>
      </p:cxnSp>
      <p:cxnSp>
        <p:nvCxnSpPr>
          <p:cNvPr id="79" name=""/>
          <p:cNvCxnSpPr>
            <a:stCxn xmlns:a="http://schemas.openxmlformats.org/drawingml/2006/main" id="39" idx="3"/>
            <a:endCxn xmlns:a="http://schemas.openxmlformats.org/drawingml/2006/main" id="40" idx="1"/>
          </p:cNvCxnSpPr>
          <p:nvPr/>
        </p:nvCxnSpPr>
        <p:spPr>
          <a:xfrm xmlns:a="http://schemas.openxmlformats.org/drawingml/2006/main">
            <a:off x="5638800" y="2009775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A3E8E"/>
            </a:solidFill>
            <a:prstDash val="solid"/>
            <a:headEnd type="triangle" w="sm" len="sm"/>
          </a:ln>
        </p:spPr>
      </p:cxnSp>
      <p:cxnSp>
        <p:nvCxnSpPr>
          <p:cNvPr id="80" name=""/>
          <p:cNvCxnSpPr>
            <a:stCxn xmlns:a="http://schemas.openxmlformats.org/drawingml/2006/main" id="40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>
            <a:off x="8362950" y="2009775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A3E8E"/>
            </a:solidFill>
            <a:prstDash val="solid"/>
            <a:headEnd type="triangle" w="sm" len="sm"/>
          </a:ln>
        </p:spPr>
      </p:cxn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C472CA9-C7F1-44BF-B853-9E5E144B1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57350"/>
            <a:ext cx="2171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5212A"/>
                </a:solidFill>
                <a:latin typeface="等线"/>
                <a:ea typeface="等线"/>
                <a:cs typeface="等线"/>
              </a:defRPr>
            </a:pPr>
            <a:r>
              <a:rPr sz="1500" b="1">
                <a:solidFill>
                  <a:srgbClr val="25212A"/>
                </a:solidFill>
                <a:latin typeface="等线"/>
                <a:ea typeface="等线"/>
                <a:cs typeface="等线"/>
              </a:rPr>
              <a:t>1</a:t>
            </a:r>
          </a:p>
          <a:p xmlns:a="http://schemas.openxmlformats.org/drawingml/2006/main">
            <a:pPr algn="ctr">
              <a:defRPr sz="1500" b="1">
                <a:solidFill>
                  <a:srgbClr val="25212A"/>
                </a:solidFill>
                <a:latin typeface="等线"/>
                <a:ea typeface="等线"/>
                <a:cs typeface="等线"/>
              </a:defRPr>
            </a:pPr>
            <a:r>
              <a:rPr sz="1500" b="1">
                <a:solidFill>
                  <a:srgbClr val="25212A"/>
                </a:solidFill>
                <a:latin typeface="等线"/>
                <a:ea typeface="等线"/>
                <a:cs typeface="等线"/>
              </a:rPr>
              <a:t>机器人定位 TMS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2602E3B-F59A-4573-98CA-7AD62A3DD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657350"/>
            <a:ext cx="2171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B1A6E"/>
                </a:solidFill>
                <a:latin typeface="等线"/>
                <a:ea typeface="等线"/>
                <a:cs typeface="等线"/>
              </a:defRPr>
            </a:pPr>
            <a:r>
              <a:rPr sz="1500" b="1">
                <a:solidFill>
                  <a:srgbClr val="5B1A6E"/>
                </a:solidFill>
                <a:latin typeface="等线"/>
                <a:ea typeface="等线"/>
                <a:cs typeface="等线"/>
              </a:rPr>
              <a:t>2</a:t>
            </a:r>
          </a:p>
          <a:p xmlns:a="http://schemas.openxmlformats.org/drawingml/2006/main">
            <a:pPr algn="ctr">
              <a:defRPr sz="1500" b="1">
                <a:solidFill>
                  <a:srgbClr val="5B1A6E"/>
                </a:solidFill>
                <a:latin typeface="等线"/>
                <a:ea typeface="等线"/>
                <a:cs typeface="等线"/>
              </a:defRPr>
            </a:pPr>
            <a:r>
              <a:rPr sz="1500" b="1">
                <a:solidFill>
                  <a:srgbClr val="5B1A6E"/>
                </a:solidFill>
                <a:latin typeface="等线"/>
                <a:ea typeface="等线"/>
                <a:cs typeface="等线"/>
              </a:rPr>
              <a:t>刺激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80440D8-2810-47FF-A2E6-F8898C5FE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57350"/>
            <a:ext cx="2171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5212A"/>
                </a:solidFill>
                <a:latin typeface="等线"/>
                <a:ea typeface="等线"/>
                <a:cs typeface="等线"/>
              </a:defRPr>
            </a:pPr>
            <a:r>
              <a:rPr sz="1500" b="1">
                <a:solidFill>
                  <a:srgbClr val="25212A"/>
                </a:solidFill>
                <a:latin typeface="等线"/>
                <a:ea typeface="等线"/>
                <a:cs typeface="等线"/>
              </a:rPr>
              <a:t>3</a:t>
            </a:r>
          </a:p>
          <a:p xmlns:a="http://schemas.openxmlformats.org/drawingml/2006/main">
            <a:pPr algn="ctr">
              <a:defRPr sz="1500" b="1">
                <a:solidFill>
                  <a:srgbClr val="25212A"/>
                </a:solidFill>
                <a:latin typeface="等线"/>
                <a:ea typeface="等线"/>
                <a:cs typeface="等线"/>
              </a:defRPr>
            </a:pPr>
            <a:r>
              <a:rPr sz="1500" b="1">
                <a:solidFill>
                  <a:srgbClr val="25212A"/>
                </a:solidFill>
                <a:latin typeface="等线"/>
                <a:ea typeface="等线"/>
                <a:cs typeface="等线"/>
              </a:rPr>
              <a:t>记录 MEP/阈值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41F4F11-5504-4038-9AC4-3853F7574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657350"/>
            <a:ext cx="2171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5212A"/>
                </a:solidFill>
                <a:latin typeface="等线"/>
                <a:ea typeface="等线"/>
                <a:cs typeface="等线"/>
              </a:defRPr>
            </a:pPr>
            <a:r>
              <a:rPr sz="1500" b="1">
                <a:solidFill>
                  <a:srgbClr val="25212A"/>
                </a:solidFill>
                <a:latin typeface="等线"/>
                <a:ea typeface="等线"/>
                <a:cs typeface="等线"/>
              </a:rPr>
              <a:t>4</a:t>
            </a:r>
          </a:p>
          <a:p xmlns:a="http://schemas.openxmlformats.org/drawingml/2006/main">
            <a:pPr algn="ctr">
              <a:defRPr sz="1500" b="1">
                <a:solidFill>
                  <a:srgbClr val="25212A"/>
                </a:solidFill>
                <a:latin typeface="等线"/>
                <a:ea typeface="等线"/>
                <a:cs typeface="等线"/>
              </a:defRPr>
            </a:pPr>
            <a:r>
              <a:rPr sz="1500" b="1">
                <a:solidFill>
                  <a:srgbClr val="25212A"/>
                </a:solidFill>
                <a:latin typeface="等线"/>
                <a:ea typeface="等线"/>
                <a:cs typeface="等线"/>
              </a:rPr>
              <a:t>主动学习选下一点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449C493-52E8-40A2-8983-70801469B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638425"/>
            <a:ext cx="8172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A3E8E"/>
            </a:solidFill>
            <a:prstDash val="dash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2EDCEBB-72B4-425D-9142-2579D6092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95600"/>
            <a:ext cx="108966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DC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173087C-4550-489C-A13C-BC3BDEB78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33700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B1A6E"/>
                </a:solidFill>
                <a:latin typeface="等线"/>
                <a:ea typeface="等线"/>
                <a:cs typeface="等线"/>
              </a:defRPr>
            </a:pPr>
            <a:r>
              <a:rPr sz="1350" b="1">
                <a:solidFill>
                  <a:srgbClr val="5B1A6E"/>
                </a:solidFill>
                <a:latin typeface="等线"/>
                <a:ea typeface="等线"/>
                <a:cs typeface="等线"/>
              </a:rPr>
              <a:t>自动 hotspot hunting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4CB142B-4888-4CF1-B74F-946C999B2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933700"/>
            <a:ext cx="485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12A"/>
                </a:solidFill>
                <a:latin typeface="等线"/>
                <a:ea typeface="等线"/>
                <a:cs typeface="等线"/>
              </a:defRPr>
            </a:pPr>
            <a:r>
              <a:rPr sz="1350" b="0">
                <a:solidFill>
                  <a:srgbClr val="25212A"/>
                </a:solidFill>
                <a:latin typeface="等线"/>
                <a:ea typeface="等线"/>
                <a:cs typeface="等线"/>
              </a:rPr>
              <a:t>8 名受试者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EF72E6A-3895-4297-AFBC-E9B68455A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3370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E7D65"/>
                </a:solidFill>
                <a:latin typeface="等线"/>
                <a:ea typeface="等线"/>
                <a:cs typeface="等线"/>
              </a:defRPr>
            </a:pPr>
            <a:r>
              <a:rPr sz="1350" b="1">
                <a:solidFill>
                  <a:srgbClr val="2E7D65"/>
                </a:solidFill>
                <a:latin typeface="等线"/>
                <a:ea typeface="等线"/>
                <a:cs typeface="等线"/>
              </a:rPr>
              <a:t>跨会话 CoG 偏移 1.4 mm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534F17C-09F7-41F8-B450-E53C83942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81400"/>
            <a:ext cx="108966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4EDF7"/>
          </a:solidFill>
          <a:ln xmlns:a="http://schemas.openxmlformats.org/drawingml/2006/main" w="9525">
            <a:solidFill>
              <a:srgbClr val="EDE3F1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67038E7-3682-4358-BA31-3E4B4023C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0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B1A6E"/>
                </a:solidFill>
                <a:latin typeface="等线"/>
                <a:ea typeface="等线"/>
                <a:cs typeface="等线"/>
              </a:defRPr>
            </a:pPr>
            <a:r>
              <a:rPr sz="1350" b="1">
                <a:solidFill>
                  <a:srgbClr val="5B1A6E"/>
                </a:solidFill>
                <a:latin typeface="等线"/>
                <a:ea typeface="等线"/>
                <a:cs typeface="等线"/>
              </a:rPr>
              <a:t>对照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6EC3DEB-8715-4A10-A807-C392815C0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619500"/>
            <a:ext cx="485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12A"/>
                </a:solidFill>
                <a:latin typeface="等线"/>
                <a:ea typeface="等线"/>
                <a:cs typeface="等线"/>
              </a:defRPr>
            </a:pPr>
            <a:r>
              <a:rPr sz="1350" b="0">
                <a:solidFill>
                  <a:srgbClr val="25212A"/>
                </a:solidFill>
                <a:latin typeface="等线"/>
                <a:ea typeface="等线"/>
                <a:cs typeface="等线"/>
              </a:rPr>
              <a:t>网格 MEP / 手动搜索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DC625A7-7C7E-44AA-9F12-EB6410492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1950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7A3E8E"/>
                </a:solidFill>
                <a:latin typeface="等线"/>
                <a:ea typeface="等线"/>
                <a:cs typeface="等线"/>
              </a:defRPr>
            </a:pPr>
            <a:r>
              <a:rPr sz="1350" b="1">
                <a:solidFill>
                  <a:srgbClr val="7A3E8E"/>
                </a:solidFill>
                <a:latin typeface="等线"/>
                <a:ea typeface="等线"/>
                <a:cs typeface="等线"/>
              </a:rPr>
              <a:t>7.0 / 9.6 mm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864F96B-1734-4E79-A02A-83859476E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67200"/>
            <a:ext cx="108966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DC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78E0B4F-AD6B-4D2F-B8D0-1A0B357E6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05300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B1A6E"/>
                </a:solidFill>
                <a:latin typeface="等线"/>
                <a:ea typeface="等线"/>
                <a:cs typeface="等线"/>
              </a:defRPr>
            </a:pPr>
            <a:r>
              <a:rPr sz="1350" b="1">
                <a:solidFill>
                  <a:srgbClr val="5B1A6E"/>
                </a:solidFill>
                <a:latin typeface="等线"/>
                <a:ea typeface="等线"/>
                <a:cs typeface="等线"/>
              </a:rPr>
              <a:t>GP 主动学习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BD8F284-ADBD-4A73-A45A-29665E4B5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305300"/>
            <a:ext cx="485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12A"/>
                </a:solidFill>
                <a:latin typeface="等线"/>
                <a:ea typeface="等线"/>
                <a:cs typeface="等线"/>
              </a:defRPr>
            </a:pPr>
            <a:r>
              <a:rPr sz="1350" b="0">
                <a:solidFill>
                  <a:srgbClr val="25212A"/>
                </a:solidFill>
                <a:latin typeface="等线"/>
                <a:ea typeface="等线"/>
                <a:cs typeface="等线"/>
              </a:rPr>
              <a:t>真实数据评估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53F8D7A-82F3-45F5-8CD7-C606317EE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30530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7A3E8E"/>
                </a:solidFill>
                <a:latin typeface="等线"/>
                <a:ea typeface="等线"/>
                <a:cs typeface="等线"/>
              </a:defRPr>
            </a:pPr>
            <a:r>
              <a:rPr sz="1350" b="1">
                <a:solidFill>
                  <a:srgbClr val="7A3E8E"/>
                </a:solidFill>
                <a:latin typeface="等线"/>
                <a:ea typeface="等线"/>
                <a:cs typeface="等线"/>
              </a:rPr>
              <a:t>自动采样≈或优于专家引导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B127819-F0A2-46B7-9658-1120BFEE7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95875"/>
            <a:ext cx="1428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B1A6E"/>
          </a:solidFill>
          <a:ln xmlns:a="http://schemas.openxmlformats.org/drawingml/2006/main" w="9525">
            <a:solidFill>
              <a:srgbClr val="5B1A6E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1491356-BC36-425F-A05F-EEB0CA8EB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958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等线"/>
                <a:ea typeface="等线"/>
                <a:cs typeface="等线"/>
              </a:defRPr>
            </a:pPr>
            <a:r>
              <a:rPr sz="1050" b="1">
                <a:solidFill>
                  <a:srgbClr val="FFFFFF"/>
                </a:solidFill>
                <a:latin typeface="等线"/>
                <a:ea typeface="等线"/>
                <a:cs typeface="等线"/>
              </a:rPr>
              <a:t>硬件 / 数据条件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9CFFFD0-C93B-4323-990D-539E631CF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048250"/>
            <a:ext cx="9315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5212A"/>
                </a:solidFill>
                <a:latin typeface="等线"/>
                <a:ea typeface="等线"/>
                <a:cs typeface="等线"/>
              </a:defRPr>
            </a:pPr>
            <a:r>
              <a:rPr sz="1275" b="0">
                <a:solidFill>
                  <a:srgbClr val="25212A"/>
                </a:solidFill>
                <a:latin typeface="等线"/>
                <a:ea typeface="等线"/>
                <a:cs typeface="等线"/>
              </a:rPr>
              <a:t>机器人线圈定位 · 头部追踪 · EMG/MEP · 安全刺激边界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0FD49DD-B659-4B35-A296-B9DA0684C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53100"/>
            <a:ext cx="10810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D6672"/>
                </a:solidFill>
                <a:latin typeface="等线"/>
                <a:ea typeface="等线"/>
                <a:cs typeface="等线"/>
              </a:defRPr>
            </a:pPr>
            <a:r>
              <a:rPr sz="1200" b="0">
                <a:solidFill>
                  <a:srgbClr val="6D6672"/>
                </a:solidFill>
                <a:latin typeface="等线"/>
                <a:ea typeface="等线"/>
                <a:cs typeface="等线"/>
              </a:rPr>
              <a:t>近期可做：前瞻性机器人集成 + 少脉冲可靠映射；必须把刺激安全、异常响应和人工中断置于控制环内。</a:t>
            </a:r>
          </a:p>
        </p:txBody>
      </p:sp>
    </p:spTree>
    <p:extLst>
      <p:ext uri="{BB962C8B-B14F-4D97-AF65-F5344CB8AC3E}">
        <p14:creationId xmlns:p14="http://schemas.microsoft.com/office/powerpoint/2010/main" val="2025121370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菱形 6">
            <a:extLst xmlns:a="http://schemas.openxmlformats.org/drawingml/2006/main">
              <a:ext uri="{FF2B5EF4-FFF2-40B4-BE49-F238E27FC236}">
                <a16:creationId xmlns:a16="http://schemas.microsoft.com/office/drawing/2014/main" id="{8825E84B-323B-49D9-8108-437BE039C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646273" y="6312273"/>
            <a:ext cx="545727" cy="545727"/>
          </a:xfrm>
          <a:prstGeom xmlns:a="http://schemas.openxmlformats.org/drawingml/2006/main" prst="diamond">
            <a:avLst/>
          </a:prstGeom>
          <a:gradFill xmlns:a="http://schemas.openxmlformats.org/drawingml/2006/main">
            <a:gsLst>
              <a:gs pos="100000">
                <a:srgbClr val="C8282A"/>
              </a:gs>
              <a:gs pos="0">
                <a:srgbClr val="194779"/>
              </a:gs>
            </a:gsLst>
            <a:lin ang="18900000" scaled="0"/>
          </a:gradFill>
          <a:ln xmlns:a="http://schemas.openxmlformats.org/drawingml/2006/main">
            <a:noFill/>
          </a:ln>
          <a:effectLst xmlns:a="http://schemas.openxmlformats.org/drawingml/2006/main">
            <a:outerShdw blurRad="127000" dist="38100" dir="2700000" algn="ctr">
              <a:srgbClr val="000000">
                <a:alpha val="45000"/>
              </a:srgb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DengXian"/>
              <a:ea typeface="DengXian"/>
              <a:cs typeface="DengXian"/>
            </a:endParaR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C092C980-ED75-4D29-A46B-D4C2D5D83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79448" y="6438719"/>
            <a:ext cx="320922" cy="338554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glow rad="63500">
              <a:schemeClr val="accent3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600">
                <a:solidFill>
                  <a:prstClr val="white"/>
                </a:solidFill>
                <a:latin typeface="Arial Black"/>
                <a:ea typeface="Arial Black"/>
                <a:cs typeface="Arial Black"/>
              </a:rPr>
              <a:t>12</a:t>
            </a:r>
            <a:endParaRPr sz="1600" b="0" i="0" u="none" kern="1200" cap="none" spc="0" baseline="0">
              <a:ln>
                <a:noFill/>
              </a:ln>
              <a:solidFill>
                <a:prstClr val="white"/>
              </a:solidFill>
              <a:latin typeface="Arial Black"/>
              <a:ea typeface="Arial Black"/>
              <a:cs typeface="Arial Black"/>
            </a:endParaRP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5E3D2DBA-49E9-4CCC-954E-E5F077021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7771"/>
            <a:ext cx="12192000" cy="58404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00000">
                <a:schemeClr val="bg1"/>
              </a:gs>
              <a:gs pos="18000">
                <a:srgbClr val="813789"/>
              </a:gs>
              <a:gs pos="0">
                <a:srgbClr val="813789"/>
              </a:gs>
            </a:gsLst>
            <a:lin ang="270000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56" name="图片 3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7aa353f224482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73387" y="11991"/>
            <a:ext cx="1676015" cy="655780"/>
          </a:xfrm>
          <a:prstGeom xmlns:a="http://schemas.openxmlformats.org/drawingml/2006/main" prst="rect">
            <a:avLst/>
          </a:prstGeom>
        </p:spPr>
      </p:pic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CA205373-4581-4B3B-B4F7-9D33498BF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860" y="200660"/>
            <a:ext cx="5683885" cy="460375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25400" dist="25400" dir="2700000" algn="tl" rotWithShape="0">
              <a:prstClr val="black">
                <a:alpha val="46000"/>
              </a:prstClr>
            </a:outerShdw>
          </a:effectLst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>
                <a:solidFill>
                  <a:srgbClr val="813789"/>
                </a:solidFill>
                <a:latin typeface="Arial"/>
                <a:ea typeface="Arial"/>
                <a:cs typeface="Arial"/>
              </a:rPr>
              <a:t>Clinical Detection and Intervention</a:t>
            </a:r>
            <a:endParaRPr sz="2400" b="1" i="0" u="none" kern="1200" cap="none" spc="0" baseline="0">
              <a:ln>
                <a:noFill/>
              </a:ln>
              <a:solidFill>
                <a:srgbClr val="81378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77E6F11E-B04D-4DB9-982C-23761098E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76225"/>
            <a:ext cx="5599430" cy="398780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25400" dist="25400" dir="2700000" algn="tl" rotWithShape="0">
              <a:prstClr val="black">
                <a:alpha val="46000"/>
              </a:prstClr>
            </a:outerShdw>
          </a:effectLst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000" b="1">
                <a:ln>
                  <a:noFill/>
                </a:ln>
                <a:solidFill>
                  <a:srgbClr val="813789"/>
                </a:solidFill>
                <a:latin typeface="Arial"/>
                <a:ea typeface="Arial"/>
                <a:cs typeface="Arial"/>
              </a:rPr>
              <a:t>1.3 Sample-based interactive diagnosis</a:t>
            </a:r>
            <a:endParaRPr sz="2000" b="1" i="0" u="none" kern="1200" cap="none" spc="0" baseline="0">
              <a:ln>
                <a:noFill/>
              </a:ln>
              <a:solidFill>
                <a:srgbClr val="81378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A903F2D-4219-470A-9D8C-0168A9D36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742950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5212A"/>
                </a:solidFill>
                <a:latin typeface="等线"/>
                <a:ea typeface="等线"/>
                <a:cs typeface="等线"/>
              </a:defRPr>
            </a:pPr>
            <a:r>
              <a:rPr sz="2100" b="1">
                <a:solidFill>
                  <a:srgbClr val="25212A"/>
                </a:solidFill>
                <a:latin typeface="等线"/>
                <a:ea typeface="等线"/>
                <a:cs typeface="等线"/>
              </a:rPr>
              <a:t>采样式交互诊断：动作产生离体证据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5322263-F087-4D1D-A8B4-A4A4D25D0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162050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B1A6E"/>
                </a:solidFill>
                <a:latin typeface="等线"/>
                <a:ea typeface="等线"/>
                <a:cs typeface="等线"/>
              </a:defRPr>
            </a:pPr>
            <a:r>
              <a:rPr sz="1500" b="1">
                <a:solidFill>
                  <a:srgbClr val="5B1A6E"/>
                </a:solidFill>
                <a:latin typeface="等线"/>
                <a:ea typeface="等线"/>
                <a:cs typeface="等线"/>
              </a:rPr>
              <a:t>定位只是开始；真正的闭环需要让样本质量或检测结果决定复采、改靶或停止。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972A374-957F-455E-BDB0-8270A4BE8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00250"/>
            <a:ext cx="23622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DC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625C26E-6D6E-4942-AA4D-6ABC32B1A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000250"/>
            <a:ext cx="23622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DE3F1"/>
          </a:solidFill>
          <a:ln xmlns:a="http://schemas.openxmlformats.org/drawingml/2006/main" w="9525">
            <a:solidFill>
              <a:srgbClr val="7A3E8E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73D132C-4979-4CBE-A2A3-4289661A8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000250"/>
            <a:ext cx="23622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DC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D464775-DB3F-46D1-BF55-D5CD74843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000250"/>
            <a:ext cx="23622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DC"/>
            </a:solidFill>
            <a:prstDash val="solid"/>
          </a:ln>
        </p:spPr>
      </p:sp>
      <p:cxnSp>
        <p:nvCxnSpPr>
          <p:cNvPr id="65" name=""/>
          <p:cNvCxnSpPr>
            <a:stCxn xmlns:a="http://schemas.openxmlformats.org/drawingml/2006/main" id="38" idx="3"/>
            <a:endCxn xmlns:a="http://schemas.openxmlformats.org/drawingml/2006/main" id="39" idx="1"/>
          </p:cNvCxnSpPr>
          <p:nvPr/>
        </p:nvCxnSpPr>
        <p:spPr>
          <a:xfrm xmlns:a="http://schemas.openxmlformats.org/drawingml/2006/main">
            <a:off x="2914650" y="243840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A3E8E"/>
            </a:solidFill>
            <a:prstDash val="solid"/>
            <a:headEnd type="triangle" w="sm" len="sm"/>
          </a:ln>
        </p:spPr>
      </p:cxnSp>
      <p:cxnSp>
        <p:nvCxnSpPr>
          <p:cNvPr id="66" name=""/>
          <p:cNvCxnSpPr>
            <a:stCxn xmlns:a="http://schemas.openxmlformats.org/drawingml/2006/main" id="39" idx="3"/>
            <a:endCxn xmlns:a="http://schemas.openxmlformats.org/drawingml/2006/main" id="40" idx="1"/>
          </p:cNvCxnSpPr>
          <p:nvPr/>
        </p:nvCxnSpPr>
        <p:spPr>
          <a:xfrm xmlns:a="http://schemas.openxmlformats.org/drawingml/2006/main">
            <a:off x="5638800" y="243840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A3E8E"/>
            </a:solidFill>
            <a:prstDash val="solid"/>
            <a:headEnd type="triangle" w="sm" len="sm"/>
          </a:ln>
        </p:spPr>
      </p:cxnSp>
      <p:cxnSp>
        <p:nvCxnSpPr>
          <p:cNvPr id="67" name=""/>
          <p:cNvCxnSpPr>
            <a:stCxn xmlns:a="http://schemas.openxmlformats.org/drawingml/2006/main" id="40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>
            <a:off x="8362950" y="243840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A3E8E"/>
            </a:solidFill>
            <a:prstDash val="solid"/>
            <a:headEnd type="triangle" w="sm" len="sm"/>
          </a:ln>
        </p:spPr>
      </p:cxn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7D91006-057B-440B-869B-C44814989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85975"/>
            <a:ext cx="2171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5212A"/>
                </a:solidFill>
                <a:latin typeface="等线"/>
                <a:ea typeface="等线"/>
                <a:cs typeface="等线"/>
              </a:defRPr>
            </a:pPr>
            <a:r>
              <a:rPr sz="1500" b="1">
                <a:solidFill>
                  <a:srgbClr val="25212A"/>
                </a:solidFill>
                <a:latin typeface="等线"/>
                <a:ea typeface="等线"/>
                <a:cs typeface="等线"/>
              </a:rPr>
              <a:t>1</a:t>
            </a:r>
          </a:p>
          <a:p xmlns:a="http://schemas.openxmlformats.org/drawingml/2006/main">
            <a:pPr algn="ctr">
              <a:defRPr sz="1500" b="1">
                <a:solidFill>
                  <a:srgbClr val="25212A"/>
                </a:solidFill>
                <a:latin typeface="等线"/>
                <a:ea typeface="等线"/>
                <a:cs typeface="等线"/>
              </a:defRPr>
            </a:pPr>
            <a:r>
              <a:rPr sz="1500" b="1">
                <a:solidFill>
                  <a:srgbClr val="25212A"/>
                </a:solidFill>
                <a:latin typeface="等线"/>
                <a:ea typeface="等线"/>
                <a:cs typeface="等线"/>
              </a:rPr>
              <a:t>定位目标与安全路径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58B4A72-DC2C-4003-BC41-C7263D464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085975"/>
            <a:ext cx="2171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B1A6E"/>
                </a:solidFill>
                <a:latin typeface="等线"/>
                <a:ea typeface="等线"/>
                <a:cs typeface="等线"/>
              </a:defRPr>
            </a:pPr>
            <a:r>
              <a:rPr sz="1500" b="1">
                <a:solidFill>
                  <a:srgbClr val="5B1A6E"/>
                </a:solidFill>
                <a:latin typeface="等线"/>
                <a:ea typeface="等线"/>
                <a:cs typeface="等线"/>
              </a:rPr>
              <a:t>2</a:t>
            </a:r>
          </a:p>
          <a:p xmlns:a="http://schemas.openxmlformats.org/drawingml/2006/main">
            <a:pPr algn="ctr">
              <a:defRPr sz="1500" b="1">
                <a:solidFill>
                  <a:srgbClr val="5B1A6E"/>
                </a:solidFill>
                <a:latin typeface="等线"/>
                <a:ea typeface="等线"/>
                <a:cs typeface="等线"/>
              </a:defRPr>
            </a:pPr>
            <a:r>
              <a:rPr sz="1500" b="1">
                <a:solidFill>
                  <a:srgbClr val="5B1A6E"/>
                </a:solidFill>
                <a:latin typeface="等线"/>
                <a:ea typeface="等线"/>
                <a:cs typeface="等线"/>
              </a:rPr>
              <a:t>穿刺/抽吸/切取/采血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2EAF82F-A2A4-41DD-B821-25DB5FCA1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85975"/>
            <a:ext cx="2171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5212A"/>
                </a:solidFill>
                <a:latin typeface="等线"/>
                <a:ea typeface="等线"/>
                <a:cs typeface="等线"/>
              </a:defRPr>
            </a:pPr>
            <a:r>
              <a:rPr sz="1500" b="1">
                <a:solidFill>
                  <a:srgbClr val="25212A"/>
                </a:solidFill>
                <a:latin typeface="等线"/>
                <a:ea typeface="等线"/>
                <a:cs typeface="等线"/>
              </a:rPr>
              <a:t>3</a:t>
            </a:r>
          </a:p>
          <a:p xmlns:a="http://schemas.openxmlformats.org/drawingml/2006/main">
            <a:pPr algn="ctr">
              <a:defRPr sz="1500" b="1">
                <a:solidFill>
                  <a:srgbClr val="25212A"/>
                </a:solidFill>
                <a:latin typeface="等线"/>
                <a:ea typeface="等线"/>
                <a:cs typeface="等线"/>
              </a:defRPr>
            </a:pPr>
            <a:r>
              <a:rPr sz="1500" b="1">
                <a:solidFill>
                  <a:srgbClr val="25212A"/>
                </a:solidFill>
                <a:latin typeface="等线"/>
                <a:ea typeface="等线"/>
                <a:cs typeface="等线"/>
              </a:rPr>
              <a:t>样本充分性或分析结果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2E23FC4-AC41-47CE-8CB9-AD70648C0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085975"/>
            <a:ext cx="2171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5212A"/>
                </a:solidFill>
                <a:latin typeface="等线"/>
                <a:ea typeface="等线"/>
                <a:cs typeface="等线"/>
              </a:defRPr>
            </a:pPr>
            <a:r>
              <a:rPr sz="1500" b="1">
                <a:solidFill>
                  <a:srgbClr val="25212A"/>
                </a:solidFill>
                <a:latin typeface="等线"/>
                <a:ea typeface="等线"/>
                <a:cs typeface="等线"/>
              </a:rPr>
              <a:t>4</a:t>
            </a:r>
          </a:p>
          <a:p xmlns:a="http://schemas.openxmlformats.org/drawingml/2006/main">
            <a:pPr algn="ctr">
              <a:defRPr sz="1500" b="1">
                <a:solidFill>
                  <a:srgbClr val="25212A"/>
                </a:solidFill>
                <a:latin typeface="等线"/>
                <a:ea typeface="等线"/>
                <a:cs typeface="等线"/>
              </a:defRPr>
            </a:pPr>
            <a:r>
              <a:rPr sz="1500" b="1">
                <a:solidFill>
                  <a:srgbClr val="25212A"/>
                </a:solidFill>
                <a:latin typeface="等线"/>
                <a:ea typeface="等线"/>
                <a:cs typeface="等线"/>
              </a:rPr>
              <a:t>复采 · 改靶 · 停止 · 升级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389D136-59C1-4F44-B613-A466A26E8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067050"/>
            <a:ext cx="8172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A3E8E"/>
            </a:solidFill>
            <a:prstDash val="dash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212D6B7-991E-4450-A974-81841899E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00500"/>
            <a:ext cx="10325100" cy="1009650"/>
          </a:xfrm>
          <a:prstGeom xmlns:a="http://schemas.openxmlformats.org/drawingml/2006/main" prst="roundRect">
            <a:avLst>
              <a:gd name="adj" fmla="val 16981"/>
            </a:avLst>
          </a:prstGeom>
          <a:solidFill xmlns:a="http://schemas.openxmlformats.org/drawingml/2006/main">
            <a:srgbClr val="F4EDF7"/>
          </a:solidFill>
          <a:ln xmlns:a="http://schemas.openxmlformats.org/drawingml/2006/main" w="9525">
            <a:solidFill>
              <a:srgbClr val="7A3E8E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D99DD54-083E-439C-BC03-E39243A29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152900"/>
            <a:ext cx="9810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B1A6E"/>
                </a:solidFill>
                <a:latin typeface="等线"/>
                <a:ea typeface="等线"/>
                <a:cs typeface="等线"/>
              </a:defRPr>
            </a:pPr>
            <a:r>
              <a:rPr sz="1500" b="1">
                <a:solidFill>
                  <a:srgbClr val="5B1A6E"/>
                </a:solidFill>
                <a:latin typeface="等线"/>
                <a:ea typeface="等线"/>
                <a:cs typeface="等线"/>
              </a:rPr>
              <a:t>边界：单次成功进针 ≠ 诊断闭环；治疗性注射、消融和引流通常不属于本类。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7D59608-A67A-4D29-8430-999C8CBED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381625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A23B55"/>
                </a:solidFill>
                <a:latin typeface="等线"/>
                <a:ea typeface="等线"/>
                <a:cs typeface="等线"/>
              </a:defRPr>
            </a:pPr>
            <a:r>
              <a:rPr sz="1575" b="1">
                <a:solidFill>
                  <a:srgbClr val="A23B55"/>
                </a:solidFill>
                <a:latin typeface="等线"/>
                <a:ea typeface="等线"/>
                <a:cs typeface="等线"/>
              </a:rPr>
              <a:t>反馈必须改变下一动作</a:t>
            </a:r>
          </a:p>
        </p:txBody>
      </p:sp>
    </p:spTree>
    <p:extLst>
      <p:ext uri="{BB962C8B-B14F-4D97-AF65-F5344CB8AC3E}">
        <p14:creationId xmlns:p14="http://schemas.microsoft.com/office/powerpoint/2010/main" val="2025121370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菱形 6">
            <a:extLst xmlns:a="http://schemas.openxmlformats.org/drawingml/2006/main">
              <a:ext uri="{FF2B5EF4-FFF2-40B4-BE49-F238E27FC236}">
                <a16:creationId xmlns:a16="http://schemas.microsoft.com/office/drawing/2014/main" id="{8825E84B-323B-49D9-8108-437BE039C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646273" y="6312273"/>
            <a:ext cx="545727" cy="545727"/>
          </a:xfrm>
          <a:prstGeom xmlns:a="http://schemas.openxmlformats.org/drawingml/2006/main" prst="diamond">
            <a:avLst/>
          </a:prstGeom>
          <a:gradFill xmlns:a="http://schemas.openxmlformats.org/drawingml/2006/main">
            <a:gsLst>
              <a:gs pos="100000">
                <a:srgbClr val="C8282A"/>
              </a:gs>
              <a:gs pos="0">
                <a:srgbClr val="194779"/>
              </a:gs>
            </a:gsLst>
            <a:lin ang="18900000" scaled="0"/>
          </a:gradFill>
          <a:ln xmlns:a="http://schemas.openxmlformats.org/drawingml/2006/main">
            <a:noFill/>
          </a:ln>
          <a:effectLst xmlns:a="http://schemas.openxmlformats.org/drawingml/2006/main">
            <a:outerShdw blurRad="127000" dist="38100" dir="2700000" algn="ctr">
              <a:srgbClr val="000000">
                <a:alpha val="45000"/>
              </a:srgb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DengXian"/>
              <a:ea typeface="DengXian"/>
              <a:cs typeface="DengXian"/>
            </a:endParaR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C092C980-ED75-4D29-A46B-D4C2D5D83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79448" y="6438719"/>
            <a:ext cx="320922" cy="338554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glow rad="63500">
              <a:schemeClr val="accent3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600">
                <a:solidFill>
                  <a:prstClr val="white"/>
                </a:solidFill>
                <a:latin typeface="Arial Black"/>
                <a:ea typeface="Arial Black"/>
                <a:cs typeface="Arial Black"/>
              </a:rPr>
              <a:t>13</a:t>
            </a:r>
            <a:endParaRPr sz="1600" b="0" i="0" u="none" kern="1200" cap="none" spc="0" baseline="0">
              <a:ln>
                <a:noFill/>
              </a:ln>
              <a:solidFill>
                <a:prstClr val="white"/>
              </a:solidFill>
              <a:latin typeface="Arial Black"/>
              <a:ea typeface="Arial Black"/>
              <a:cs typeface="Arial Black"/>
            </a:endParaRP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5E3D2DBA-49E9-4CCC-954E-E5F077021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7771"/>
            <a:ext cx="12192000" cy="58404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00000">
                <a:schemeClr val="bg1"/>
              </a:gs>
              <a:gs pos="18000">
                <a:srgbClr val="813789"/>
              </a:gs>
              <a:gs pos="0">
                <a:srgbClr val="813789"/>
              </a:gs>
            </a:gsLst>
            <a:lin ang="270000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66" name="图片 3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997ea8236f4a6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73387" y="11991"/>
            <a:ext cx="1676015" cy="655780"/>
          </a:xfrm>
          <a:prstGeom xmlns:a="http://schemas.openxmlformats.org/drawingml/2006/main" prst="rect">
            <a:avLst/>
          </a:prstGeom>
        </p:spPr>
      </p:pic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CA205373-4581-4B3B-B4F7-9D33498BF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860" y="200660"/>
            <a:ext cx="5683885" cy="460375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25400" dist="25400" dir="2700000" algn="tl" rotWithShape="0">
              <a:prstClr val="black">
                <a:alpha val="46000"/>
              </a:prstClr>
            </a:outerShdw>
          </a:effectLst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>
                <a:solidFill>
                  <a:srgbClr val="813789"/>
                </a:solidFill>
                <a:latin typeface="Arial"/>
                <a:ea typeface="Arial"/>
                <a:cs typeface="Arial"/>
              </a:rPr>
              <a:t>Clinical Detection and Intervention</a:t>
            </a:r>
            <a:endParaRPr sz="2400" b="1" i="0" u="none" kern="1200" cap="none" spc="0" baseline="0">
              <a:ln>
                <a:noFill/>
              </a:ln>
              <a:solidFill>
                <a:srgbClr val="81378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77E6F11E-B04D-4DB9-982C-23761098E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76225"/>
            <a:ext cx="5599430" cy="398780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25400" dist="25400" dir="2700000" algn="tl" rotWithShape="0">
              <a:prstClr val="black">
                <a:alpha val="46000"/>
              </a:prstClr>
            </a:outerShdw>
          </a:effectLst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000" b="1">
                <a:ln>
                  <a:noFill/>
                </a:ln>
                <a:solidFill>
                  <a:srgbClr val="813789"/>
                </a:solidFill>
                <a:latin typeface="Arial"/>
                <a:ea typeface="Arial"/>
                <a:cs typeface="Arial"/>
              </a:rPr>
              <a:t>1.3 Sample-based interactive diagnosis</a:t>
            </a:r>
            <a:endParaRPr sz="2000" b="1" i="0" u="none" kern="1200" cap="none" spc="0" baseline="0">
              <a:ln>
                <a:noFill/>
              </a:ln>
              <a:solidFill>
                <a:srgbClr val="81378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DF562A5-7C85-49FC-A62A-DE6632732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742950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5212A"/>
                </a:solidFill>
                <a:latin typeface="等线"/>
                <a:ea typeface="等线"/>
                <a:cs typeface="等线"/>
              </a:defRPr>
            </a:pPr>
            <a:r>
              <a:rPr sz="2100" b="1">
                <a:solidFill>
                  <a:srgbClr val="25212A"/>
                </a:solidFill>
                <a:latin typeface="等线"/>
                <a:ea typeface="等线"/>
                <a:cs typeface="等线"/>
              </a:rPr>
              <a:t>采样式交互诊断：平台成熟不等于闭环成熟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1B4868E-69A8-462F-9A31-ACFE00C03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162050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B1A6E"/>
                </a:solidFill>
                <a:latin typeface="等线"/>
                <a:ea typeface="等线"/>
                <a:cs typeface="等线"/>
              </a:defRPr>
            </a:pPr>
            <a:r>
              <a:rPr sz="1500" b="1">
                <a:solidFill>
                  <a:srgbClr val="5B1A6E"/>
                </a:solidFill>
                <a:latin typeface="等线"/>
                <a:ea typeface="等线"/>
                <a:cs typeface="等线"/>
              </a:rPr>
              <a:t>采血和拭子具有人体验证；活检导航研究多，但“充分性反馈”仍是共同薄弱环节。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9C1B73F-3380-405D-A966-D65353153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676400"/>
            <a:ext cx="2238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212A"/>
                </a:solidFill>
                <a:latin typeface="等线"/>
                <a:ea typeface="等线"/>
                <a:cs typeface="等线"/>
              </a:defRPr>
            </a:pPr>
            <a:r>
              <a:rPr sz="1350" b="1">
                <a:solidFill>
                  <a:srgbClr val="25212A"/>
                </a:solidFill>
                <a:latin typeface="等线"/>
                <a:ea typeface="等线"/>
                <a:cs typeface="等线"/>
              </a:rPr>
              <a:t>经皮/芯针活检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2A54C33-58F7-4DF1-8395-5AEB0BDB0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714500"/>
            <a:ext cx="6191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E9F0"/>
          </a:solidFill>
          <a:ln xmlns:a="http://schemas.openxmlformats.org/drawingml/2006/main" w="9525">
            <a:solidFill>
              <a:srgbClr val="EEE9F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C1D581F-95EE-47B7-BC9C-EE0C03793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714500"/>
            <a:ext cx="6191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B1A6E"/>
          </a:solidFill>
          <a:ln xmlns:a="http://schemas.openxmlformats.org/drawingml/2006/main" w="9525">
            <a:solidFill>
              <a:srgbClr val="5B1A6E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5194282-C2F4-449E-B673-2779AB9BA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676400"/>
            <a:ext cx="809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5B1A6E"/>
                </a:solidFill>
                <a:latin typeface="等线"/>
                <a:ea typeface="等线"/>
                <a:cs typeface="等线"/>
              </a:defRPr>
            </a:pPr>
            <a:r>
              <a:rPr sz="1500" b="1">
                <a:solidFill>
                  <a:srgbClr val="5B1A6E"/>
                </a:solidFill>
                <a:latin typeface="等线"/>
                <a:ea typeface="等线"/>
                <a:cs typeface="等线"/>
              </a:rPr>
              <a:t>≈100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8A24FEC-BBF9-4A7C-8B93-DFD885797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1676400"/>
            <a:ext cx="1285875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D65"/>
          </a:solidFill>
          <a:ln xmlns:a="http://schemas.openxmlformats.org/drawingml/2006/main" w="9525">
            <a:solidFill>
              <a:srgbClr val="2E7D6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2F5C08D-88CA-4EFE-892F-8D61CD2BD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1676400"/>
            <a:ext cx="1285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99375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等线"/>
                <a:ea typeface="等线"/>
                <a:cs typeface="等线"/>
              </a:defRPr>
            </a:pPr>
            <a:r>
              <a:rPr sz="1050" b="1">
                <a:solidFill>
                  <a:srgbClr val="FFFFFF"/>
                </a:solidFill>
                <a:latin typeface="等线"/>
                <a:ea typeface="等线"/>
                <a:cs typeface="等线"/>
              </a:rPr>
              <a:t>导航成熟；充分性弱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F08C915-1FB5-41FE-9A5E-49B0E9C72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543175"/>
            <a:ext cx="2238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212A"/>
                </a:solidFill>
                <a:latin typeface="等线"/>
                <a:ea typeface="等线"/>
                <a:cs typeface="等线"/>
              </a:defRPr>
            </a:pPr>
            <a:r>
              <a:rPr sz="1350" b="1">
                <a:solidFill>
                  <a:srgbClr val="25212A"/>
                </a:solidFill>
                <a:latin typeface="等线"/>
                <a:ea typeface="等线"/>
                <a:cs typeface="等线"/>
              </a:rPr>
              <a:t>机器人采血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1DA6BD2-C3F7-4D12-A958-270DEB91B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581275"/>
            <a:ext cx="6191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E9F0"/>
          </a:solidFill>
          <a:ln xmlns:a="http://schemas.openxmlformats.org/drawingml/2006/main" w="9525">
            <a:solidFill>
              <a:srgbClr val="EEE9F0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58C88B6-F273-4EB5-9347-6D29D966C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581275"/>
            <a:ext cx="1795463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A3E8E"/>
          </a:solidFill>
          <a:ln xmlns:a="http://schemas.openxmlformats.org/drawingml/2006/main" w="9525">
            <a:solidFill>
              <a:srgbClr val="7A3E8E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D3B6BEA-0171-4F97-9196-1C70B5D04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43175"/>
            <a:ext cx="809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5B1A6E"/>
                </a:solidFill>
                <a:latin typeface="等线"/>
                <a:ea typeface="等线"/>
                <a:cs typeface="等线"/>
              </a:defRPr>
            </a:pPr>
            <a:r>
              <a:rPr sz="1500" b="1">
                <a:solidFill>
                  <a:srgbClr val="5B1A6E"/>
                </a:solidFill>
                <a:latin typeface="等线"/>
                <a:ea typeface="等线"/>
                <a:cs typeface="等线"/>
              </a:rPr>
              <a:t>29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D94AE3A-8050-4AD5-9778-59048A3C2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543175"/>
            <a:ext cx="1285875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A3E8E"/>
          </a:solidFill>
          <a:ln xmlns:a="http://schemas.openxmlformats.org/drawingml/2006/main" w="9525">
            <a:solidFill>
              <a:srgbClr val="7A3E8E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B8C8127-5732-4852-B38D-BF55D7DB5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543175"/>
            <a:ext cx="1285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等线"/>
                <a:ea typeface="等线"/>
                <a:cs typeface="等线"/>
              </a:defRPr>
            </a:pPr>
            <a:r>
              <a:rPr sz="1050" b="1">
                <a:solidFill>
                  <a:srgbClr val="FFFFFF"/>
                </a:solidFill>
                <a:latin typeface="等线"/>
                <a:ea typeface="等线"/>
                <a:cs typeface="等线"/>
              </a:rPr>
              <a:t>临床证据较强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6130C03-1489-43B5-AE44-D87A37399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409950"/>
            <a:ext cx="2238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212A"/>
                </a:solidFill>
                <a:latin typeface="等线"/>
                <a:ea typeface="等线"/>
                <a:cs typeface="等线"/>
              </a:defRPr>
            </a:pPr>
            <a:r>
              <a:rPr sz="1350" b="1">
                <a:solidFill>
                  <a:srgbClr val="25212A"/>
                </a:solidFill>
                <a:latin typeface="等线"/>
                <a:ea typeface="等线"/>
                <a:cs typeface="等线"/>
              </a:rPr>
              <a:t>机器人拭子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31F1C87-C1E4-49DC-8764-6173B9777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448050"/>
            <a:ext cx="6191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E9F0"/>
          </a:solidFill>
          <a:ln xmlns:a="http://schemas.openxmlformats.org/drawingml/2006/main" w="9525">
            <a:solidFill>
              <a:srgbClr val="EEE9F0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8246DC2-F1D1-42E6-A10A-BC08DFAD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448050"/>
            <a:ext cx="1547813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A3E8E"/>
          </a:solidFill>
          <a:ln xmlns:a="http://schemas.openxmlformats.org/drawingml/2006/main" w="9525">
            <a:solidFill>
              <a:srgbClr val="7A3E8E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60A1A9B-57D9-4F1D-9DB1-FF7934BDE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3409950"/>
            <a:ext cx="809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5B1A6E"/>
                </a:solidFill>
                <a:latin typeface="等线"/>
                <a:ea typeface="等线"/>
                <a:cs typeface="等线"/>
              </a:defRPr>
            </a:pPr>
            <a:r>
              <a:rPr sz="1500" b="1">
                <a:solidFill>
                  <a:srgbClr val="5B1A6E"/>
                </a:solidFill>
                <a:latin typeface="等线"/>
                <a:ea typeface="等线"/>
                <a:cs typeface="等线"/>
              </a:rPr>
              <a:t>25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0735A77-E497-485D-A741-2D20FC2AD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409950"/>
            <a:ext cx="1285875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A3E8E"/>
          </a:solidFill>
          <a:ln xmlns:a="http://schemas.openxmlformats.org/drawingml/2006/main" w="9525">
            <a:solidFill>
              <a:srgbClr val="7A3E8E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3C2C4D0-313F-44FE-976B-44F36B042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409950"/>
            <a:ext cx="1285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等线"/>
                <a:ea typeface="等线"/>
                <a:cs typeface="等线"/>
              </a:defRPr>
            </a:pPr>
            <a:r>
              <a:rPr sz="1050" b="1">
                <a:solidFill>
                  <a:srgbClr val="FFFFFF"/>
                </a:solidFill>
                <a:latin typeface="等线"/>
                <a:ea typeface="等线"/>
                <a:cs typeface="等线"/>
              </a:rPr>
              <a:t>小规模临床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1AEEBD3-6502-4A4B-BFDA-6D12DBAA8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276725"/>
            <a:ext cx="2238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212A"/>
                </a:solidFill>
                <a:latin typeface="等线"/>
                <a:ea typeface="等线"/>
                <a:cs typeface="等线"/>
              </a:defRPr>
            </a:pPr>
            <a:r>
              <a:rPr sz="1350" b="1">
                <a:solidFill>
                  <a:srgbClr val="25212A"/>
                </a:solidFill>
                <a:latin typeface="等线"/>
                <a:ea typeface="等线"/>
                <a:cs typeface="等线"/>
              </a:rPr>
              <a:t>胶囊取样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0E8724C-B061-4847-9811-9784CB595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314825"/>
            <a:ext cx="6191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E9F0"/>
          </a:solidFill>
          <a:ln xmlns:a="http://schemas.openxmlformats.org/drawingml/2006/main" w="9525">
            <a:solidFill>
              <a:srgbClr val="EEE9F0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778B99D-AF93-4FD5-8ED5-6D5E1337D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314825"/>
            <a:ext cx="3838575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A3E8E"/>
          </a:solidFill>
          <a:ln xmlns:a="http://schemas.openxmlformats.org/drawingml/2006/main" w="9525">
            <a:solidFill>
              <a:srgbClr val="7A3E8E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150BF4E-2BC9-4749-8351-25098E7AF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4276725"/>
            <a:ext cx="809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5B1A6E"/>
                </a:solidFill>
                <a:latin typeface="等线"/>
                <a:ea typeface="等线"/>
                <a:cs typeface="等线"/>
              </a:defRPr>
            </a:pPr>
            <a:r>
              <a:rPr sz="1500" b="1">
                <a:solidFill>
                  <a:srgbClr val="5B1A6E"/>
                </a:solidFill>
                <a:latin typeface="等线"/>
                <a:ea typeface="等线"/>
                <a:cs typeface="等线"/>
              </a:rPr>
              <a:t>≈62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01619DA-3CCB-43A0-AB40-917283384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4276725"/>
            <a:ext cx="1285875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A3E8E"/>
          </a:solidFill>
          <a:ln xmlns:a="http://schemas.openxmlformats.org/drawingml/2006/main" w="9525">
            <a:solidFill>
              <a:srgbClr val="7A3E8E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AD48319-4E51-49E3-8876-4C09F021D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4276725"/>
            <a:ext cx="1285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等线"/>
                <a:ea typeface="等线"/>
                <a:cs typeface="等线"/>
              </a:defRPr>
            </a:pPr>
            <a:r>
              <a:rPr sz="1050" b="1">
                <a:solidFill>
                  <a:srgbClr val="FFFFFF"/>
                </a:solidFill>
                <a:latin typeface="等线"/>
                <a:ea typeface="等线"/>
                <a:cs typeface="等线"/>
              </a:rPr>
              <a:t>装置/平台为主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9963D3E-C3AF-4B7A-A424-9899031ED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53100"/>
            <a:ext cx="10810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D6672"/>
                </a:solidFill>
                <a:latin typeface="等线"/>
                <a:ea typeface="等线"/>
                <a:cs typeface="等线"/>
              </a:defRPr>
            </a:pPr>
            <a:r>
              <a:rPr sz="1200" b="0">
                <a:solidFill>
                  <a:srgbClr val="6D6672"/>
                </a:solidFill>
                <a:latin typeface="等线"/>
                <a:ea typeface="等线"/>
                <a:cs typeface="等线"/>
              </a:rPr>
              <a:t>同一平台可多标签：支气管镜导航属于主动观察；到位后取样属于采样交互。</a:t>
            </a:r>
          </a:p>
        </p:txBody>
      </p:sp>
    </p:spTree>
    <p:extLst>
      <p:ext uri="{BB962C8B-B14F-4D97-AF65-F5344CB8AC3E}">
        <p14:creationId xmlns:p14="http://schemas.microsoft.com/office/powerpoint/2010/main" val="2025121370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菱形 6">
            <a:extLst xmlns:a="http://schemas.openxmlformats.org/drawingml/2006/main">
              <a:ext uri="{FF2B5EF4-FFF2-40B4-BE49-F238E27FC236}">
                <a16:creationId xmlns:a16="http://schemas.microsoft.com/office/drawing/2014/main" id="{8825E84B-323B-49D9-8108-437BE039C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646273" y="6312273"/>
            <a:ext cx="545727" cy="545727"/>
          </a:xfrm>
          <a:prstGeom xmlns:a="http://schemas.openxmlformats.org/drawingml/2006/main" prst="diamond">
            <a:avLst/>
          </a:prstGeom>
          <a:gradFill xmlns:a="http://schemas.openxmlformats.org/drawingml/2006/main">
            <a:gsLst>
              <a:gs pos="100000">
                <a:srgbClr val="C8282A"/>
              </a:gs>
              <a:gs pos="0">
                <a:srgbClr val="194779"/>
              </a:gs>
            </a:gsLst>
            <a:lin ang="18900000" scaled="0"/>
          </a:gradFill>
          <a:ln xmlns:a="http://schemas.openxmlformats.org/drawingml/2006/main">
            <a:noFill/>
          </a:ln>
          <a:effectLst xmlns:a="http://schemas.openxmlformats.org/drawingml/2006/main">
            <a:outerShdw blurRad="127000" dist="38100" dir="2700000" algn="ctr">
              <a:srgbClr val="000000">
                <a:alpha val="45000"/>
              </a:srgb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DengXian"/>
              <a:ea typeface="DengXian"/>
              <a:cs typeface="DengXian"/>
            </a:endParaR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C092C980-ED75-4D29-A46B-D4C2D5D83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79448" y="6438719"/>
            <a:ext cx="320922" cy="338554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glow rad="63500">
              <a:schemeClr val="accent3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600">
                <a:solidFill>
                  <a:prstClr val="white"/>
                </a:solidFill>
                <a:latin typeface="Arial Black"/>
                <a:ea typeface="Arial Black"/>
                <a:cs typeface="Arial Black"/>
              </a:rPr>
              <a:t>14</a:t>
            </a:r>
            <a:endParaRPr sz="1600" b="0" i="0" u="none" kern="1200" cap="none" spc="0" baseline="0">
              <a:ln>
                <a:noFill/>
              </a:ln>
              <a:solidFill>
                <a:prstClr val="white"/>
              </a:solidFill>
              <a:latin typeface="Arial Black"/>
              <a:ea typeface="Arial Black"/>
              <a:cs typeface="Arial Black"/>
            </a:endParaRP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5E3D2DBA-49E9-4CCC-954E-E5F077021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7771"/>
            <a:ext cx="12192000" cy="58404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00000">
                <a:schemeClr val="bg1"/>
              </a:gs>
              <a:gs pos="18000">
                <a:srgbClr val="813789"/>
              </a:gs>
              <a:gs pos="0">
                <a:srgbClr val="813789"/>
              </a:gs>
            </a:gsLst>
            <a:lin ang="270000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69" name="图片 3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456571532742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73387" y="11991"/>
            <a:ext cx="1676015" cy="655780"/>
          </a:xfrm>
          <a:prstGeom xmlns:a="http://schemas.openxmlformats.org/drawingml/2006/main" prst="rect">
            <a:avLst/>
          </a:prstGeom>
        </p:spPr>
      </p:pic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CA205373-4581-4B3B-B4F7-9D33498BF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860" y="200660"/>
            <a:ext cx="5683885" cy="460375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25400" dist="25400" dir="2700000" algn="tl" rotWithShape="0">
              <a:prstClr val="black">
                <a:alpha val="46000"/>
              </a:prstClr>
            </a:outerShdw>
          </a:effectLst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>
                <a:solidFill>
                  <a:srgbClr val="813789"/>
                </a:solidFill>
                <a:latin typeface="Arial"/>
                <a:ea typeface="Arial"/>
                <a:cs typeface="Arial"/>
              </a:rPr>
              <a:t>Clinical Detection and Intervention</a:t>
            </a:r>
            <a:endParaRPr sz="2400" b="1" i="0" u="none" kern="1200" cap="none" spc="0" baseline="0">
              <a:ln>
                <a:noFill/>
              </a:ln>
              <a:solidFill>
                <a:srgbClr val="81378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77E6F11E-B04D-4DB9-982C-23761098E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76225"/>
            <a:ext cx="5599430" cy="398780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25400" dist="25400" dir="2700000" algn="tl" rotWithShape="0">
              <a:prstClr val="black">
                <a:alpha val="46000"/>
              </a:prstClr>
            </a:outerShdw>
          </a:effectLst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000" b="1">
                <a:ln>
                  <a:noFill/>
                </a:ln>
                <a:solidFill>
                  <a:srgbClr val="813789"/>
                </a:solidFill>
                <a:latin typeface="Arial"/>
                <a:ea typeface="Arial"/>
                <a:cs typeface="Arial"/>
              </a:rPr>
              <a:t>1.3 Sample-based interactive diagnosis</a:t>
            </a:r>
            <a:endParaRPr sz="2000" b="1" i="0" u="none" kern="1200" cap="none" spc="0" baseline="0">
              <a:ln>
                <a:noFill/>
              </a:ln>
              <a:solidFill>
                <a:srgbClr val="81378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E8DC181-7344-4AF6-8DE4-B6E80DC46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742950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5212A"/>
                </a:solidFill>
                <a:latin typeface="等线"/>
                <a:ea typeface="等线"/>
                <a:cs typeface="等线"/>
              </a:defRPr>
            </a:pPr>
            <a:r>
              <a:rPr sz="2100" b="1">
                <a:solidFill>
                  <a:srgbClr val="25212A"/>
                </a:solidFill>
                <a:latin typeface="等线"/>
                <a:ea typeface="等线"/>
                <a:cs typeface="等线"/>
              </a:rPr>
              <a:t>方向一：样本充分性感知的机器人活检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82835F6-64BA-4F9D-BA53-B7D5E82FB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162050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B1A6E"/>
                </a:solidFill>
                <a:latin typeface="等线"/>
                <a:ea typeface="等线"/>
                <a:cs typeface="等线"/>
              </a:defRPr>
            </a:pPr>
            <a:r>
              <a:rPr sz="1500" b="1">
                <a:solidFill>
                  <a:srgbClr val="5B1A6E"/>
                </a:solidFill>
                <a:latin typeface="等线"/>
                <a:ea typeface="等线"/>
                <a:cs typeface="等线"/>
              </a:rPr>
              <a:t>把 adequacy gate 放进机器人控制环：不是“取到了”，而是“足够回答临床问题了吗？”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0E92BB2-4BC8-452D-975D-EF3F488A7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71625"/>
            <a:ext cx="23622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DC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7F249BB-DDAB-4203-A216-EA1226E8A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571625"/>
            <a:ext cx="23622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DE3F1"/>
          </a:solidFill>
          <a:ln xmlns:a="http://schemas.openxmlformats.org/drawingml/2006/main" w="9525">
            <a:solidFill>
              <a:srgbClr val="7A3E8E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A891DD4-D203-45EE-B22B-6E328F8E8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571625"/>
            <a:ext cx="23622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DC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A865E3F-2D96-40C5-AEAB-1C07B00BD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571625"/>
            <a:ext cx="23622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DC"/>
            </a:solidFill>
            <a:prstDash val="solid"/>
          </a:ln>
        </p:spPr>
      </p:sp>
      <p:cxnSp>
        <p:nvCxnSpPr>
          <p:cNvPr id="78" name=""/>
          <p:cNvCxnSpPr>
            <a:stCxn xmlns:a="http://schemas.openxmlformats.org/drawingml/2006/main" id="38" idx="3"/>
            <a:endCxn xmlns:a="http://schemas.openxmlformats.org/drawingml/2006/main" id="39" idx="1"/>
          </p:cNvCxnSpPr>
          <p:nvPr/>
        </p:nvCxnSpPr>
        <p:spPr>
          <a:xfrm xmlns:a="http://schemas.openxmlformats.org/drawingml/2006/main">
            <a:off x="2914650" y="2009775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A3E8E"/>
            </a:solidFill>
            <a:prstDash val="solid"/>
            <a:headEnd type="triangle" w="sm" len="sm"/>
          </a:ln>
        </p:spPr>
      </p:cxnSp>
      <p:cxnSp>
        <p:nvCxnSpPr>
          <p:cNvPr id="79" name=""/>
          <p:cNvCxnSpPr>
            <a:stCxn xmlns:a="http://schemas.openxmlformats.org/drawingml/2006/main" id="39" idx="3"/>
            <a:endCxn xmlns:a="http://schemas.openxmlformats.org/drawingml/2006/main" id="40" idx="1"/>
          </p:cNvCxnSpPr>
          <p:nvPr/>
        </p:nvCxnSpPr>
        <p:spPr>
          <a:xfrm xmlns:a="http://schemas.openxmlformats.org/drawingml/2006/main">
            <a:off x="5638800" y="2009775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A3E8E"/>
            </a:solidFill>
            <a:prstDash val="solid"/>
            <a:headEnd type="triangle" w="sm" len="sm"/>
          </a:ln>
        </p:spPr>
      </p:cxnSp>
      <p:cxnSp>
        <p:nvCxnSpPr>
          <p:cNvPr id="80" name=""/>
          <p:cNvCxnSpPr>
            <a:stCxn xmlns:a="http://schemas.openxmlformats.org/drawingml/2006/main" id="40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>
            <a:off x="8362950" y="2009775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A3E8E"/>
            </a:solidFill>
            <a:prstDash val="solid"/>
            <a:headEnd type="triangle" w="sm" len="sm"/>
          </a:ln>
        </p:spPr>
      </p:cxn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4254B9B-596B-4483-B2C2-EFEBA1C3F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57350"/>
            <a:ext cx="2171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5212A"/>
                </a:solidFill>
                <a:latin typeface="等线"/>
                <a:ea typeface="等线"/>
                <a:cs typeface="等线"/>
              </a:defRPr>
            </a:pPr>
            <a:r>
              <a:rPr sz="1500" b="1">
                <a:solidFill>
                  <a:srgbClr val="25212A"/>
                </a:solidFill>
                <a:latin typeface="等线"/>
                <a:ea typeface="等线"/>
                <a:cs typeface="等线"/>
              </a:rPr>
              <a:t>1</a:t>
            </a:r>
          </a:p>
          <a:p xmlns:a="http://schemas.openxmlformats.org/drawingml/2006/main">
            <a:pPr algn="ctr">
              <a:defRPr sz="1500" b="1">
                <a:solidFill>
                  <a:srgbClr val="25212A"/>
                </a:solidFill>
                <a:latin typeface="等线"/>
                <a:ea typeface="等线"/>
                <a:cs typeface="等线"/>
              </a:defRPr>
            </a:pPr>
            <a:r>
              <a:rPr sz="1500" b="1">
                <a:solidFill>
                  <a:srgbClr val="25212A"/>
                </a:solidFill>
                <a:latin typeface="等线"/>
                <a:ea typeface="等线"/>
                <a:cs typeface="等线"/>
              </a:rPr>
              <a:t>影像定位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95FAFD0-4197-4C1D-959A-80D0C05D0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657350"/>
            <a:ext cx="2171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B1A6E"/>
                </a:solidFill>
                <a:latin typeface="等线"/>
                <a:ea typeface="等线"/>
                <a:cs typeface="等线"/>
              </a:defRPr>
            </a:pPr>
            <a:r>
              <a:rPr sz="1500" b="1">
                <a:solidFill>
                  <a:srgbClr val="5B1A6E"/>
                </a:solidFill>
                <a:latin typeface="等线"/>
                <a:ea typeface="等线"/>
                <a:cs typeface="等线"/>
              </a:rPr>
              <a:t>2</a:t>
            </a:r>
          </a:p>
          <a:p xmlns:a="http://schemas.openxmlformats.org/drawingml/2006/main">
            <a:pPr algn="ctr">
              <a:defRPr sz="1500" b="1">
                <a:solidFill>
                  <a:srgbClr val="5B1A6E"/>
                </a:solidFill>
                <a:latin typeface="等线"/>
                <a:ea typeface="等线"/>
                <a:cs typeface="等线"/>
              </a:defRPr>
            </a:pPr>
            <a:r>
              <a:rPr sz="1500" b="1">
                <a:solidFill>
                  <a:srgbClr val="5B1A6E"/>
                </a:solidFill>
                <a:latin typeface="等线"/>
                <a:ea typeface="等线"/>
                <a:cs typeface="等线"/>
              </a:rPr>
              <a:t>取样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CC2B3E9-C344-46A6-A272-C8D4396AE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57350"/>
            <a:ext cx="2171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5212A"/>
                </a:solidFill>
                <a:latin typeface="等线"/>
                <a:ea typeface="等线"/>
                <a:cs typeface="等线"/>
              </a:defRPr>
            </a:pPr>
            <a:r>
              <a:rPr sz="1500" b="1">
                <a:solidFill>
                  <a:srgbClr val="25212A"/>
                </a:solidFill>
                <a:latin typeface="等线"/>
                <a:ea typeface="等线"/>
                <a:cs typeface="等线"/>
              </a:rPr>
              <a:t>3</a:t>
            </a:r>
          </a:p>
          <a:p xmlns:a="http://schemas.openxmlformats.org/drawingml/2006/main">
            <a:pPr algn="ctr">
              <a:defRPr sz="1500" b="1">
                <a:solidFill>
                  <a:srgbClr val="25212A"/>
                </a:solidFill>
                <a:latin typeface="等线"/>
                <a:ea typeface="等线"/>
                <a:cs typeface="等线"/>
              </a:defRPr>
            </a:pPr>
            <a:r>
              <a:rPr sz="1500" b="1">
                <a:solidFill>
                  <a:srgbClr val="25212A"/>
                </a:solidFill>
                <a:latin typeface="等线"/>
                <a:ea typeface="等线"/>
                <a:cs typeface="等线"/>
              </a:rPr>
              <a:t>快速充分性/组织判别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AB2B7A6-BBAB-418B-B258-5E46F0759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657350"/>
            <a:ext cx="2171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5212A"/>
                </a:solidFill>
                <a:latin typeface="等线"/>
                <a:ea typeface="等线"/>
                <a:cs typeface="等线"/>
              </a:defRPr>
            </a:pPr>
            <a:r>
              <a:rPr sz="1500" b="1">
                <a:solidFill>
                  <a:srgbClr val="25212A"/>
                </a:solidFill>
                <a:latin typeface="等线"/>
                <a:ea typeface="等线"/>
                <a:cs typeface="等线"/>
              </a:rPr>
              <a:t>4</a:t>
            </a:r>
          </a:p>
          <a:p xmlns:a="http://schemas.openxmlformats.org/drawingml/2006/main">
            <a:pPr algn="ctr">
              <a:defRPr sz="1500" b="1">
                <a:solidFill>
                  <a:srgbClr val="25212A"/>
                </a:solidFill>
                <a:latin typeface="等线"/>
                <a:ea typeface="等线"/>
                <a:cs typeface="等线"/>
              </a:defRPr>
            </a:pPr>
            <a:r>
              <a:rPr sz="1500" b="1">
                <a:solidFill>
                  <a:srgbClr val="25212A"/>
                </a:solidFill>
                <a:latin typeface="等线"/>
                <a:ea typeface="等线"/>
                <a:cs typeface="等线"/>
              </a:rPr>
              <a:t>不足→改靶/增采；充分→停止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317DE67-EFEB-4BD7-AC87-17E89BA62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638425"/>
            <a:ext cx="8172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A3E8E"/>
            </a:solidFill>
            <a:prstDash val="dash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31F938D-E9DD-4DD1-BC4B-8CA1DF01B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95600"/>
            <a:ext cx="108966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DC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464FDF2-DF41-4DEC-A4BE-C29E57873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33700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B1A6E"/>
                </a:solidFill>
                <a:latin typeface="等线"/>
                <a:ea typeface="等线"/>
                <a:cs typeface="等线"/>
              </a:defRPr>
            </a:pPr>
            <a:r>
              <a:rPr sz="1350" b="1">
                <a:solidFill>
                  <a:srgbClr val="5B1A6E"/>
                </a:solidFill>
                <a:latin typeface="等线"/>
                <a:ea typeface="等线"/>
                <a:cs typeface="等线"/>
              </a:rPr>
              <a:t>TARGET 2025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6527440-73CA-449A-B76D-7210B1762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933700"/>
            <a:ext cx="485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12A"/>
                </a:solidFill>
                <a:latin typeface="等线"/>
                <a:ea typeface="等线"/>
                <a:cs typeface="等线"/>
              </a:defRPr>
            </a:pPr>
            <a:r>
              <a:rPr sz="1350" b="0">
                <a:solidFill>
                  <a:srgbClr val="25212A"/>
                </a:solidFill>
                <a:latin typeface="等线"/>
                <a:ea typeface="等线"/>
                <a:cs typeface="等线"/>
              </a:rPr>
              <a:t>679 例 / 21 中心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A8FBE68-A8BE-4171-A160-CB41930FA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3370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E7D65"/>
                </a:solidFill>
                <a:latin typeface="等线"/>
                <a:ea typeface="等线"/>
                <a:cs typeface="等线"/>
              </a:defRPr>
            </a:pPr>
            <a:r>
              <a:rPr sz="1350" b="1">
                <a:solidFill>
                  <a:srgbClr val="2E7D65"/>
                </a:solidFill>
                <a:latin typeface="等线"/>
                <a:ea typeface="等线"/>
                <a:cs typeface="等线"/>
              </a:rPr>
              <a:t>严格诊断产率 61.6%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DB9498B-53F5-4B53-82DF-6DE86C11C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81400"/>
            <a:ext cx="108966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4EDF7"/>
          </a:solidFill>
          <a:ln xmlns:a="http://schemas.openxmlformats.org/drawingml/2006/main" w="9525">
            <a:solidFill>
              <a:srgbClr val="EDE3F1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EF91A17-2F46-4D8E-872D-34122CA94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0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B1A6E"/>
                </a:solidFill>
                <a:latin typeface="等线"/>
                <a:ea typeface="等线"/>
                <a:cs typeface="等线"/>
              </a:defRPr>
            </a:pPr>
            <a:r>
              <a:rPr sz="1350" b="1">
                <a:solidFill>
                  <a:srgbClr val="5B1A6E"/>
                </a:solidFill>
                <a:latin typeface="等线"/>
                <a:ea typeface="等线"/>
                <a:cs typeface="等线"/>
              </a:rPr>
              <a:t>恶性敏感度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2BBE99B-BF47-4E74-8F66-C89141487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619500"/>
            <a:ext cx="485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12A"/>
                </a:solidFill>
                <a:latin typeface="等线"/>
                <a:ea typeface="等线"/>
                <a:cs typeface="等线"/>
              </a:defRPr>
            </a:pPr>
            <a:r>
              <a:rPr sz="1350" b="0">
                <a:solidFill>
                  <a:srgbClr val="25212A"/>
                </a:solidFill>
                <a:latin typeface="等线"/>
                <a:ea typeface="等线"/>
                <a:cs typeface="等线"/>
              </a:rPr>
              <a:t>12 个月判定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D57147B-23D6-4576-96AA-AB89B69F6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1950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7A3E8E"/>
                </a:solidFill>
                <a:latin typeface="等线"/>
                <a:ea typeface="等线"/>
                <a:cs typeface="等线"/>
              </a:defRPr>
            </a:pPr>
            <a:r>
              <a:rPr sz="1350" b="1">
                <a:solidFill>
                  <a:srgbClr val="7A3E8E"/>
                </a:solidFill>
                <a:latin typeface="等线"/>
                <a:ea typeface="等线"/>
                <a:cs typeface="等线"/>
              </a:rPr>
              <a:t>78.8%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C2E8F9A-91A6-4683-9A4A-C4E95497F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67200"/>
            <a:ext cx="108966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DC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710E03B-76C9-4489-89DE-F08098F30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05300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B1A6E"/>
                </a:solidFill>
                <a:latin typeface="等线"/>
                <a:ea typeface="等线"/>
                <a:cs typeface="等线"/>
              </a:defRPr>
            </a:pPr>
            <a:r>
              <a:rPr sz="1350" b="1">
                <a:solidFill>
                  <a:srgbClr val="5B1A6E"/>
                </a:solidFill>
                <a:latin typeface="等线"/>
                <a:ea typeface="等线"/>
                <a:cs typeface="等线"/>
              </a:rPr>
              <a:t>结论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861B524-50BD-4F52-823A-12999D596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305300"/>
            <a:ext cx="485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12A"/>
                </a:solidFill>
                <a:latin typeface="等线"/>
                <a:ea typeface="等线"/>
                <a:cs typeface="等线"/>
              </a:defRPr>
            </a:pPr>
            <a:r>
              <a:rPr sz="1350" b="0">
                <a:solidFill>
                  <a:srgbClr val="25212A"/>
                </a:solidFill>
                <a:latin typeface="等线"/>
                <a:ea typeface="等线"/>
                <a:cs typeface="等线"/>
              </a:rPr>
              <a:t>大型临床导航/取样证据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F2166D7-B991-41C1-822B-416866602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30530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7A3E8E"/>
                </a:solidFill>
                <a:latin typeface="等线"/>
                <a:ea typeface="等线"/>
                <a:cs typeface="等线"/>
              </a:defRPr>
            </a:pPr>
            <a:r>
              <a:rPr sz="1350" b="1">
                <a:solidFill>
                  <a:srgbClr val="7A3E8E"/>
                </a:solidFill>
                <a:latin typeface="等线"/>
                <a:ea typeface="等线"/>
                <a:cs typeface="等线"/>
              </a:rPr>
              <a:t>尚非病理驱动自主复采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5CAC9BE-CFC8-4AD4-B9B8-95D1AD979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95875"/>
            <a:ext cx="1428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B1A6E"/>
          </a:solidFill>
          <a:ln xmlns:a="http://schemas.openxmlformats.org/drawingml/2006/main" w="9525">
            <a:solidFill>
              <a:srgbClr val="5B1A6E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40B3A56-9543-4A85-960B-23B11D38D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958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等线"/>
                <a:ea typeface="等线"/>
                <a:cs typeface="等线"/>
              </a:defRPr>
            </a:pPr>
            <a:r>
              <a:rPr sz="1050" b="1">
                <a:solidFill>
                  <a:srgbClr val="FFFFFF"/>
                </a:solidFill>
                <a:latin typeface="等线"/>
                <a:ea typeface="等线"/>
                <a:cs typeface="等线"/>
              </a:rPr>
              <a:t>硬件 / 数据条件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BC6504E-2A00-4F36-B2EB-B816EA9E6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048250"/>
            <a:ext cx="9315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5212A"/>
                </a:solidFill>
                <a:latin typeface="等线"/>
                <a:ea typeface="等线"/>
                <a:cs typeface="等线"/>
              </a:defRPr>
            </a:pPr>
            <a:r>
              <a:rPr sz="1275" b="0">
                <a:solidFill>
                  <a:srgbClr val="25212A"/>
                </a:solidFill>
                <a:latin typeface="等线"/>
                <a:ea typeface="等线"/>
                <a:cs typeface="等线"/>
              </a:rPr>
              <a:t>机器人支气管镜/穿刺平台 · 定位影像 · 快速细胞学/光谱/阻抗 · 样本追踪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3C3CB80-3E9B-41DE-85AE-446FC32F5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53100"/>
            <a:ext cx="10810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D6672"/>
                </a:solidFill>
                <a:latin typeface="等线"/>
                <a:ea typeface="等线"/>
                <a:cs typeface="等线"/>
              </a:defRPr>
            </a:pPr>
            <a:r>
              <a:rPr sz="1200" b="0">
                <a:solidFill>
                  <a:srgbClr val="6D6672"/>
                </a:solidFill>
                <a:latin typeface="等线"/>
                <a:ea typeface="等线"/>
                <a:cs typeface="等线"/>
              </a:rPr>
              <a:t>优先研究：实时或近实时充分性代理、采样点多样性、止血/风险约束与可解释停止规则。</a:t>
            </a:r>
          </a:p>
        </p:txBody>
      </p:sp>
    </p:spTree>
    <p:extLst>
      <p:ext uri="{BB962C8B-B14F-4D97-AF65-F5344CB8AC3E}">
        <p14:creationId xmlns:p14="http://schemas.microsoft.com/office/powerpoint/2010/main" val="2025121370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菱形 6">
            <a:extLst xmlns:a="http://schemas.openxmlformats.org/drawingml/2006/main">
              <a:ext uri="{FF2B5EF4-FFF2-40B4-BE49-F238E27FC236}">
                <a16:creationId xmlns:a16="http://schemas.microsoft.com/office/drawing/2014/main" id="{8825E84B-323B-49D9-8108-437BE039C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646273" y="6312273"/>
            <a:ext cx="545727" cy="545727"/>
          </a:xfrm>
          <a:prstGeom xmlns:a="http://schemas.openxmlformats.org/drawingml/2006/main" prst="diamond">
            <a:avLst/>
          </a:prstGeom>
          <a:gradFill xmlns:a="http://schemas.openxmlformats.org/drawingml/2006/main">
            <a:gsLst>
              <a:gs pos="100000">
                <a:srgbClr val="C8282A"/>
              </a:gs>
              <a:gs pos="0">
                <a:srgbClr val="194779"/>
              </a:gs>
            </a:gsLst>
            <a:lin ang="18900000" scaled="0"/>
          </a:gradFill>
          <a:ln xmlns:a="http://schemas.openxmlformats.org/drawingml/2006/main">
            <a:noFill/>
          </a:ln>
          <a:effectLst xmlns:a="http://schemas.openxmlformats.org/drawingml/2006/main">
            <a:outerShdw blurRad="127000" dist="38100" dir="2700000" algn="ctr">
              <a:srgbClr val="000000">
                <a:alpha val="45000"/>
              </a:srgb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DengXian"/>
              <a:ea typeface="DengXian"/>
              <a:cs typeface="DengXian"/>
            </a:endParaR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C092C980-ED75-4D29-A46B-D4C2D5D83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79448" y="6438719"/>
            <a:ext cx="320922" cy="338554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glow rad="63500">
              <a:schemeClr val="accent3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600">
                <a:solidFill>
                  <a:prstClr val="white"/>
                </a:solidFill>
                <a:latin typeface="Arial Black"/>
                <a:ea typeface="Arial Black"/>
                <a:cs typeface="Arial Black"/>
              </a:rPr>
              <a:t>15</a:t>
            </a:r>
            <a:endParaRPr sz="1600" b="0" i="0" u="none" kern="1200" cap="none" spc="0" baseline="0">
              <a:ln>
                <a:noFill/>
              </a:ln>
              <a:solidFill>
                <a:prstClr val="white"/>
              </a:solidFill>
              <a:latin typeface="Arial Black"/>
              <a:ea typeface="Arial Black"/>
              <a:cs typeface="Arial Black"/>
            </a:endParaRP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5E3D2DBA-49E9-4CCC-954E-E5F077021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7771"/>
            <a:ext cx="12192000" cy="58404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00000">
                <a:schemeClr val="bg1"/>
              </a:gs>
              <a:gs pos="18000">
                <a:srgbClr val="813789"/>
              </a:gs>
              <a:gs pos="0">
                <a:srgbClr val="813789"/>
              </a:gs>
            </a:gsLst>
            <a:lin ang="270000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70" name="图片 3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08bed27baf494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73387" y="11991"/>
            <a:ext cx="1676015" cy="655780"/>
          </a:xfrm>
          <a:prstGeom xmlns:a="http://schemas.openxmlformats.org/drawingml/2006/main" prst="rect">
            <a:avLst/>
          </a:prstGeom>
        </p:spPr>
      </p:pic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CA205373-4581-4B3B-B4F7-9D33498BF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860" y="200660"/>
            <a:ext cx="5683885" cy="460375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25400" dist="25400" dir="2700000" algn="tl" rotWithShape="0">
              <a:prstClr val="black">
                <a:alpha val="46000"/>
              </a:prstClr>
            </a:outerShdw>
          </a:effectLst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>
                <a:solidFill>
                  <a:srgbClr val="813789"/>
                </a:solidFill>
                <a:latin typeface="Arial"/>
                <a:ea typeface="Arial"/>
                <a:cs typeface="Arial"/>
              </a:rPr>
              <a:t>Clinical Detection and Intervention</a:t>
            </a:r>
            <a:endParaRPr sz="2400" b="1" i="0" u="none" kern="1200" cap="none" spc="0" baseline="0">
              <a:ln>
                <a:noFill/>
              </a:ln>
              <a:solidFill>
                <a:srgbClr val="81378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77E6F11E-B04D-4DB9-982C-23761098E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76225"/>
            <a:ext cx="5599430" cy="398780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25400" dist="25400" dir="2700000" algn="tl" rotWithShape="0">
              <a:prstClr val="black">
                <a:alpha val="46000"/>
              </a:prstClr>
            </a:outerShdw>
          </a:effectLst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000" b="1">
                <a:ln>
                  <a:noFill/>
                </a:ln>
                <a:solidFill>
                  <a:srgbClr val="813789"/>
                </a:solidFill>
                <a:latin typeface="Arial"/>
                <a:ea typeface="Arial"/>
                <a:cs typeface="Arial"/>
              </a:rPr>
              <a:t>1.3 Sample-based interactive diagnosis</a:t>
            </a:r>
            <a:endParaRPr sz="2000" b="1" i="0" u="none" kern="1200" cap="none" spc="0" baseline="0">
              <a:ln>
                <a:noFill/>
              </a:ln>
              <a:solidFill>
                <a:srgbClr val="81378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A103F74-A208-440B-BFF6-4B01D12F9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742950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5212A"/>
                </a:solidFill>
                <a:latin typeface="等线"/>
                <a:ea typeface="等线"/>
                <a:cs typeface="等线"/>
              </a:defRPr>
            </a:pPr>
            <a:r>
              <a:rPr sz="2100" b="1">
                <a:solidFill>
                  <a:srgbClr val="25212A"/>
                </a:solidFill>
                <a:latin typeface="等线"/>
                <a:ea typeface="等线"/>
                <a:cs typeface="等线"/>
              </a:rPr>
              <a:t>方向二：闭环采血与感染性标本采集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2A5FCE2-A094-4C56-A326-47D1F6CAA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162050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B1A6E"/>
                </a:solidFill>
                <a:latin typeface="等线"/>
                <a:ea typeface="等线"/>
                <a:cs typeface="等线"/>
              </a:defRPr>
            </a:pPr>
            <a:r>
              <a:rPr sz="1500" b="1">
                <a:solidFill>
                  <a:srgbClr val="5B1A6E"/>
                </a:solidFill>
                <a:latin typeface="等线"/>
                <a:ea typeface="等线"/>
                <a:cs typeface="等线"/>
              </a:rPr>
              <a:t>两个近期可转化场景：静脉通路可多模态确认；拭子可用力与位姿反馈标准化。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FF59F7A-370E-4494-BA5D-174932F83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19250"/>
            <a:ext cx="5191125" cy="3333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4EDF7"/>
          </a:solidFill>
          <a:ln xmlns:a="http://schemas.openxmlformats.org/drawingml/2006/main" w="9525">
            <a:solidFill>
              <a:srgbClr val="7A3E8E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CB2CB06-E614-46CA-986E-6FA2407D5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09750"/>
            <a:ext cx="4714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B1A6E"/>
                </a:solidFill>
                <a:latin typeface="等线"/>
                <a:ea typeface="等线"/>
                <a:cs typeface="等线"/>
              </a:defRPr>
            </a:pPr>
            <a:r>
              <a:rPr sz="1650" b="1">
                <a:solidFill>
                  <a:srgbClr val="5B1A6E"/>
                </a:solidFill>
                <a:latin typeface="等线"/>
                <a:ea typeface="等线"/>
                <a:cs typeface="等线"/>
              </a:rPr>
              <a:t>机器人采血｜ADOPT 2026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806B41F-1F79-412E-A0D1-412DF6B4A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28875"/>
            <a:ext cx="333375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A3E8E"/>
          </a:solidFill>
          <a:ln xmlns:a="http://schemas.openxmlformats.org/drawingml/2006/main" w="9525">
            <a:solidFill>
              <a:srgbClr val="7A3E8E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C773943-AAD2-4CFB-94A5-A602DCF31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2887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等线"/>
                <a:ea typeface="等线"/>
                <a:cs typeface="等线"/>
              </a:defRPr>
            </a:pPr>
            <a:r>
              <a:rPr sz="1050" b="1">
                <a:solidFill>
                  <a:srgbClr val="FFFFFF"/>
                </a:solidFill>
                <a:latin typeface="等线"/>
                <a:ea typeface="等线"/>
                <a:cs typeface="等线"/>
              </a:rPr>
              <a:t>1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1316D52-A90B-4B18-A490-1A3CC8988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371725"/>
            <a:ext cx="404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12A"/>
                </a:solidFill>
                <a:latin typeface="等线"/>
                <a:ea typeface="等线"/>
                <a:cs typeface="等线"/>
              </a:defRPr>
            </a:pPr>
            <a:r>
              <a:rPr sz="1350" b="0">
                <a:solidFill>
                  <a:srgbClr val="25212A"/>
                </a:solidFill>
                <a:latin typeface="等线"/>
                <a:ea typeface="等线"/>
                <a:cs typeface="等线"/>
              </a:rPr>
              <a:t>153 例等效性 + 1,633 例常规使用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88C1F54-DFD3-48CE-A8D3-720E6469C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71800"/>
            <a:ext cx="333375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D65"/>
          </a:solidFill>
          <a:ln xmlns:a="http://schemas.openxmlformats.org/drawingml/2006/main" w="9525">
            <a:solidFill>
              <a:srgbClr val="2E7D6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A0098D9-8959-48ED-9FFA-DDCE4CC4D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71800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等线"/>
                <a:ea typeface="等线"/>
                <a:cs typeface="等线"/>
              </a:defRPr>
            </a:pPr>
            <a:r>
              <a:rPr sz="1050" b="1">
                <a:solidFill>
                  <a:srgbClr val="FFFFFF"/>
                </a:solidFill>
                <a:latin typeface="等线"/>
                <a:ea typeface="等线"/>
                <a:cs typeface="等线"/>
              </a:rPr>
              <a:t>2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E279734-03E6-42DB-A15A-31E646EC8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914650"/>
            <a:ext cx="404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E7D65"/>
                </a:solidFill>
                <a:latin typeface="等线"/>
                <a:ea typeface="等线"/>
                <a:cs typeface="等线"/>
              </a:defRPr>
            </a:pPr>
            <a:r>
              <a:rPr sz="1350" b="1">
                <a:solidFill>
                  <a:srgbClr val="2E7D65"/>
                </a:solidFill>
                <a:latin typeface="等线"/>
                <a:ea typeface="等线"/>
                <a:cs typeface="等线"/>
              </a:rPr>
              <a:t>适宜血管中首针成功 94.5%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E52361D-DD43-4065-A781-C082897D6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14725"/>
            <a:ext cx="333375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A3E8E"/>
          </a:solidFill>
          <a:ln xmlns:a="http://schemas.openxmlformats.org/drawingml/2006/main" w="9525">
            <a:solidFill>
              <a:srgbClr val="7A3E8E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4E7FF57-0B69-4FF6-8E4A-619D372B2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147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等线"/>
                <a:ea typeface="等线"/>
                <a:cs typeface="等线"/>
              </a:defRPr>
            </a:pPr>
            <a:r>
              <a:rPr sz="1050" b="1">
                <a:solidFill>
                  <a:srgbClr val="FFFFFF"/>
                </a:solidFill>
                <a:latin typeface="等线"/>
                <a:ea typeface="等线"/>
                <a:cs typeface="等线"/>
              </a:rPr>
              <a:t>3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0C9CB7C-8067-440E-BC91-7DE5B3E0F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457575"/>
            <a:ext cx="404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12A"/>
                </a:solidFill>
                <a:latin typeface="等线"/>
                <a:ea typeface="等线"/>
                <a:cs typeface="等线"/>
              </a:defRPr>
            </a:pPr>
            <a:r>
              <a:rPr sz="1350" b="0">
                <a:solidFill>
                  <a:srgbClr val="25212A"/>
                </a:solidFill>
                <a:latin typeface="等线"/>
                <a:ea typeface="等线"/>
                <a:cs typeface="等线"/>
              </a:rPr>
              <a:t>NIR + 超声 + Doppler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31A1B88-A4DB-4F52-88D7-64DD7D497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57650"/>
            <a:ext cx="333375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A3E8E"/>
          </a:solidFill>
          <a:ln xmlns:a="http://schemas.openxmlformats.org/drawingml/2006/main" w="9525">
            <a:solidFill>
              <a:srgbClr val="7A3E8E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633949D-046A-4525-A571-8FAA1DB1D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57650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等线"/>
                <a:ea typeface="等线"/>
                <a:cs typeface="等线"/>
              </a:defRPr>
            </a:pPr>
            <a:r>
              <a:rPr sz="1050" b="1">
                <a:solidFill>
                  <a:srgbClr val="FFFFFF"/>
                </a:solidFill>
                <a:latin typeface="等线"/>
                <a:ea typeface="等线"/>
                <a:cs typeface="等线"/>
              </a:rPr>
              <a:t>4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1DF7451-798C-4ED1-BD2B-D1D724B22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00500"/>
            <a:ext cx="404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12A"/>
                </a:solidFill>
                <a:latin typeface="等线"/>
                <a:ea typeface="等线"/>
                <a:cs typeface="等线"/>
              </a:defRPr>
            </a:pPr>
            <a:r>
              <a:rPr sz="1350" b="0">
                <a:solidFill>
                  <a:srgbClr val="25212A"/>
                </a:solidFill>
                <a:latin typeface="等线"/>
                <a:ea typeface="等线"/>
                <a:cs typeface="等线"/>
              </a:rPr>
              <a:t>优势：明确临床工作流与样本质量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1C01FDE-983A-4D48-898B-F993AA09E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619250"/>
            <a:ext cx="5191125" cy="3333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DC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D4C1E04-50A9-467C-AC98-19EB9541C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4714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B1A6E"/>
                </a:solidFill>
                <a:latin typeface="等线"/>
                <a:ea typeface="等线"/>
                <a:cs typeface="等线"/>
              </a:defRPr>
            </a:pPr>
            <a:r>
              <a:rPr sz="1650" b="1">
                <a:solidFill>
                  <a:srgbClr val="5B1A6E"/>
                </a:solidFill>
                <a:latin typeface="等线"/>
                <a:ea typeface="等线"/>
                <a:cs typeface="等线"/>
              </a:rPr>
              <a:t>自主拭子｜SR-NOCS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D49426C-4D39-4372-A553-4C1C71982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428875"/>
            <a:ext cx="333375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A3E8E"/>
          </a:solidFill>
          <a:ln xmlns:a="http://schemas.openxmlformats.org/drawingml/2006/main" w="9525">
            <a:solidFill>
              <a:srgbClr val="7A3E8E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1BAEF3C-A44A-47C3-B308-02A5BD895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42887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等线"/>
                <a:ea typeface="等线"/>
                <a:cs typeface="等线"/>
              </a:defRPr>
            </a:pPr>
            <a:r>
              <a:rPr sz="1050" b="1">
                <a:solidFill>
                  <a:srgbClr val="FFFFFF"/>
                </a:solidFill>
                <a:latin typeface="等线"/>
                <a:ea typeface="等线"/>
                <a:cs typeface="等线"/>
              </a:rPr>
              <a:t>1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4A6B65D-D106-4119-8464-358767ACB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371725"/>
            <a:ext cx="404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12A"/>
                </a:solidFill>
                <a:latin typeface="等线"/>
                <a:ea typeface="等线"/>
                <a:cs typeface="等线"/>
              </a:defRPr>
            </a:pPr>
            <a:r>
              <a:rPr sz="1350" b="0">
                <a:solidFill>
                  <a:srgbClr val="25212A"/>
                </a:solidFill>
                <a:latin typeface="等线"/>
                <a:ea typeface="等线"/>
                <a:cs typeface="等线"/>
              </a:rPr>
              <a:t>52 名临床参与者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7F0718A-4796-4CEB-B065-4864345FA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971800"/>
            <a:ext cx="333375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D65"/>
          </a:solidFill>
          <a:ln xmlns:a="http://schemas.openxmlformats.org/drawingml/2006/main" w="9525">
            <a:solidFill>
              <a:srgbClr val="2E7D65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743B5FB-922A-40FF-9C1E-AE6A35FA6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971800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等线"/>
                <a:ea typeface="等线"/>
                <a:cs typeface="等线"/>
              </a:defRPr>
            </a:pPr>
            <a:r>
              <a:rPr sz="1050" b="1">
                <a:solidFill>
                  <a:srgbClr val="FFFFFF"/>
                </a:solidFill>
                <a:latin typeface="等线"/>
                <a:ea typeface="等线"/>
                <a:cs typeface="等线"/>
              </a:rPr>
              <a:t>2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85F4A59-B69E-4A54-A622-880557562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914650"/>
            <a:ext cx="404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E7D65"/>
                </a:solidFill>
                <a:latin typeface="等线"/>
                <a:ea typeface="等线"/>
                <a:cs typeface="等线"/>
              </a:defRPr>
            </a:pPr>
            <a:r>
              <a:rPr sz="1350" b="1">
                <a:solidFill>
                  <a:srgbClr val="2E7D65"/>
                </a:solidFill>
                <a:latin typeface="等线"/>
                <a:ea typeface="等线"/>
                <a:cs typeface="等线"/>
              </a:rPr>
              <a:t>与人工采样报告完全阳性相关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B0E5F2D-B217-432B-98A2-516C8DDC9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514725"/>
            <a:ext cx="333375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A3E8E"/>
          </a:solidFill>
          <a:ln xmlns:a="http://schemas.openxmlformats.org/drawingml/2006/main" w="9525">
            <a:solidFill>
              <a:srgbClr val="7A3E8E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83161FB-4376-47A5-8E97-6F0C8A06B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5147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等线"/>
                <a:ea typeface="等线"/>
                <a:cs typeface="等线"/>
              </a:defRPr>
            </a:pPr>
            <a:r>
              <a:rPr sz="1050" b="1">
                <a:solidFill>
                  <a:srgbClr val="FFFFFF"/>
                </a:solidFill>
                <a:latin typeface="等线"/>
                <a:ea typeface="等线"/>
                <a:cs typeface="等线"/>
              </a:rPr>
              <a:t>3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BC0EAA3-4690-4A16-97FC-F71842C80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3457575"/>
            <a:ext cx="404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12A"/>
                </a:solidFill>
                <a:latin typeface="等线"/>
                <a:ea typeface="等线"/>
                <a:cs typeface="等线"/>
              </a:defRPr>
            </a:pPr>
            <a:r>
              <a:rPr sz="1350" b="0">
                <a:solidFill>
                  <a:srgbClr val="25212A"/>
                </a:solidFill>
                <a:latin typeface="等线"/>
                <a:ea typeface="等线"/>
                <a:cs typeface="等线"/>
              </a:rPr>
              <a:t>力敏机器人 + 阻抗控制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3A863B2-8A2A-41E3-8B07-775E7CE47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057650"/>
            <a:ext cx="333375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A3E8E"/>
          </a:solidFill>
          <a:ln xmlns:a="http://schemas.openxmlformats.org/drawingml/2006/main" w="9525">
            <a:solidFill>
              <a:srgbClr val="7A3E8E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483A7E3-AA69-4C2B-84AC-FBD65E26D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057650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等线"/>
                <a:ea typeface="等线"/>
                <a:cs typeface="等线"/>
              </a:defRPr>
            </a:pPr>
            <a:r>
              <a:rPr sz="1050" b="1">
                <a:solidFill>
                  <a:srgbClr val="FFFFFF"/>
                </a:solidFill>
                <a:latin typeface="等线"/>
                <a:ea typeface="等线"/>
                <a:cs typeface="等线"/>
              </a:rPr>
              <a:t>4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59AE891-AEA9-47A3-9A66-8B49E893C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4000500"/>
            <a:ext cx="404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12A"/>
                </a:solidFill>
                <a:latin typeface="等线"/>
                <a:ea typeface="等线"/>
                <a:cs typeface="等线"/>
              </a:defRPr>
            </a:pPr>
            <a:r>
              <a:rPr sz="1350" b="0">
                <a:solidFill>
                  <a:srgbClr val="25212A"/>
                </a:solidFill>
                <a:latin typeface="等线"/>
                <a:ea typeface="等线"/>
                <a:cs typeface="等线"/>
              </a:rPr>
              <a:t>局限：规模小、效率与适应人群待验证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94B319A-1FC5-461D-B486-65CEA8BF4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53100"/>
            <a:ext cx="10810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D6672"/>
                </a:solidFill>
                <a:latin typeface="等线"/>
                <a:ea typeface="等线"/>
                <a:cs typeface="等线"/>
              </a:defRPr>
            </a:pPr>
            <a:r>
              <a:rPr sz="1200" b="0">
                <a:solidFill>
                  <a:srgbClr val="6D6672"/>
                </a:solidFill>
                <a:latin typeface="等线"/>
                <a:ea typeface="等线"/>
                <a:cs typeface="等线"/>
              </a:rPr>
              <a:t>共同终点：成功率之外，还应报告样本充分性、疼痛、耗时、失败恢复和工作人员介入。</a:t>
            </a:r>
          </a:p>
        </p:txBody>
      </p:sp>
    </p:spTree>
    <p:extLst>
      <p:ext uri="{BB962C8B-B14F-4D97-AF65-F5344CB8AC3E}">
        <p14:creationId xmlns:p14="http://schemas.microsoft.com/office/powerpoint/2010/main" val="2025121370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菱形 6">
            <a:extLst xmlns:a="http://schemas.openxmlformats.org/drawingml/2006/main">
              <a:ext uri="{FF2B5EF4-FFF2-40B4-BE49-F238E27FC236}">
                <a16:creationId xmlns:a16="http://schemas.microsoft.com/office/drawing/2014/main" id="{8825E84B-323B-49D9-8108-437BE039C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646273" y="6312273"/>
            <a:ext cx="545727" cy="545727"/>
          </a:xfrm>
          <a:prstGeom xmlns:a="http://schemas.openxmlformats.org/drawingml/2006/main" prst="diamond">
            <a:avLst/>
          </a:prstGeom>
          <a:gradFill xmlns:a="http://schemas.openxmlformats.org/drawingml/2006/main">
            <a:gsLst>
              <a:gs pos="100000">
                <a:srgbClr val="C8282A"/>
              </a:gs>
              <a:gs pos="0">
                <a:srgbClr val="194779"/>
              </a:gs>
            </a:gsLst>
            <a:lin ang="18900000" scaled="0"/>
          </a:gradFill>
          <a:ln xmlns:a="http://schemas.openxmlformats.org/drawingml/2006/main">
            <a:noFill/>
          </a:ln>
          <a:effectLst xmlns:a="http://schemas.openxmlformats.org/drawingml/2006/main">
            <a:outerShdw blurRad="127000" dist="38100" dir="2700000" algn="ctr">
              <a:srgbClr val="000000">
                <a:alpha val="45000"/>
              </a:srgb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DengXian"/>
              <a:ea typeface="DengXian"/>
              <a:cs typeface="DengXian"/>
            </a:endParaR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C092C980-ED75-4D29-A46B-D4C2D5D83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79448" y="6438719"/>
            <a:ext cx="320922" cy="338554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glow rad="63500">
              <a:schemeClr val="accent3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600">
                <a:solidFill>
                  <a:prstClr val="white"/>
                </a:solidFill>
                <a:latin typeface="Arial Black"/>
                <a:ea typeface="Arial Black"/>
                <a:cs typeface="Arial Black"/>
              </a:rPr>
              <a:t>16</a:t>
            </a:r>
            <a:endParaRPr sz="1600" b="0" i="0" u="none" kern="1200" cap="none" spc="0" baseline="0">
              <a:ln>
                <a:noFill/>
              </a:ln>
              <a:solidFill>
                <a:prstClr val="white"/>
              </a:solidFill>
              <a:latin typeface="Arial Black"/>
              <a:ea typeface="Arial Black"/>
              <a:cs typeface="Arial Black"/>
            </a:endParaRP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5E3D2DBA-49E9-4CCC-954E-E5F077021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7771"/>
            <a:ext cx="12192000" cy="58404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00000">
                <a:schemeClr val="bg1"/>
              </a:gs>
              <a:gs pos="18000">
                <a:srgbClr val="813789"/>
              </a:gs>
              <a:gs pos="0">
                <a:srgbClr val="813789"/>
              </a:gs>
            </a:gsLst>
            <a:lin ang="270000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56" name="图片 3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d5e8a26d82467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73387" y="11991"/>
            <a:ext cx="1676015" cy="655780"/>
          </a:xfrm>
          <a:prstGeom xmlns:a="http://schemas.openxmlformats.org/drawingml/2006/main" prst="rect">
            <a:avLst/>
          </a:prstGeom>
        </p:spPr>
      </p:pic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CA205373-4581-4B3B-B4F7-9D33498BF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860" y="200660"/>
            <a:ext cx="5683885" cy="460375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25400" dist="25400" dir="2700000" algn="tl" rotWithShape="0">
              <a:prstClr val="black">
                <a:alpha val="46000"/>
              </a:prstClr>
            </a:outerShdw>
          </a:effectLst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>
                <a:solidFill>
                  <a:srgbClr val="813789"/>
                </a:solidFill>
                <a:latin typeface="Arial"/>
                <a:ea typeface="Arial"/>
                <a:cs typeface="Arial"/>
              </a:rPr>
              <a:t>Laboratory Diagnostics &amp; Assay</a:t>
            </a:r>
            <a:endParaRPr sz="2400" b="1" i="0" u="none" kern="1200" cap="none" spc="0" baseline="0">
              <a:ln>
                <a:noFill/>
              </a:ln>
              <a:solidFill>
                <a:srgbClr val="81378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77E6F11E-B04D-4DB9-982C-23761098E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76225"/>
            <a:ext cx="5599430" cy="398780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25400" dist="25400" dir="2700000" algn="tl" rotWithShape="0">
              <a:prstClr val="black">
                <a:alpha val="46000"/>
              </a:prstClr>
            </a:outerShdw>
          </a:effectLst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000" b="1">
                <a:ln>
                  <a:noFill/>
                </a:ln>
                <a:solidFill>
                  <a:srgbClr val="813789"/>
                </a:solidFill>
                <a:latin typeface="Arial"/>
                <a:ea typeface="Arial"/>
                <a:cs typeface="Arial"/>
              </a:rPr>
              <a:t>2.0 Meaning and loop</a:t>
            </a:r>
            <a:endParaRPr sz="2000" b="1" i="0" u="none" kern="1200" cap="none" spc="0" baseline="0">
              <a:ln>
                <a:noFill/>
              </a:ln>
              <a:solidFill>
                <a:srgbClr val="81378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20FE666-353E-41FD-BF5A-2C6114DC2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742950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5212A"/>
                </a:solidFill>
                <a:latin typeface="等线"/>
                <a:ea typeface="等线"/>
                <a:cs typeface="等线"/>
              </a:defRPr>
            </a:pPr>
            <a:r>
              <a:rPr sz="2100" b="1">
                <a:solidFill>
                  <a:srgbClr val="25212A"/>
                </a:solidFill>
                <a:latin typeface="等线"/>
                <a:ea typeface="等线"/>
                <a:cs typeface="等线"/>
              </a:rPr>
              <a:t>实验室诊断：结果驱动的物理检测工作流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2FCB3EF-C3DF-446C-BFE2-87A932538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162050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B1A6E"/>
                </a:solidFill>
                <a:latin typeface="等线"/>
                <a:ea typeface="等线"/>
                <a:cs typeface="等线"/>
              </a:defRPr>
            </a:pPr>
            <a:r>
              <a:rPr sz="1500" b="1">
                <a:solidFill>
                  <a:srgbClr val="5B1A6E"/>
                </a:solidFill>
                <a:latin typeface="等线"/>
                <a:ea typeface="等线"/>
                <a:cs typeface="等线"/>
              </a:rPr>
              <a:t>当结果改变下一次分流、复检、反应条件或实验选择时，实验室自动化才具有诊断闭环。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BB4DD1A-4F63-4005-9A46-E8A5594EC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00250"/>
            <a:ext cx="23622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DC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9392BC9-7573-4F2A-B457-3920C01FB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000250"/>
            <a:ext cx="23622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DE3F1"/>
          </a:solidFill>
          <a:ln xmlns:a="http://schemas.openxmlformats.org/drawingml/2006/main" w="9525">
            <a:solidFill>
              <a:srgbClr val="7A3E8E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BABB56F-3703-4C8B-8ABF-4DD8D010F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000250"/>
            <a:ext cx="23622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DC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939A929-5782-4DA3-AE8E-2D873B548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000250"/>
            <a:ext cx="23622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DC"/>
            </a:solidFill>
            <a:prstDash val="solid"/>
          </a:ln>
        </p:spPr>
      </p:sp>
      <p:cxnSp>
        <p:nvCxnSpPr>
          <p:cNvPr id="65" name=""/>
          <p:cNvCxnSpPr>
            <a:stCxn xmlns:a="http://schemas.openxmlformats.org/drawingml/2006/main" id="38" idx="3"/>
            <a:endCxn xmlns:a="http://schemas.openxmlformats.org/drawingml/2006/main" id="39" idx="1"/>
          </p:cNvCxnSpPr>
          <p:nvPr/>
        </p:nvCxnSpPr>
        <p:spPr>
          <a:xfrm xmlns:a="http://schemas.openxmlformats.org/drawingml/2006/main">
            <a:off x="2914650" y="243840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A3E8E"/>
            </a:solidFill>
            <a:prstDash val="solid"/>
            <a:headEnd type="triangle" w="sm" len="sm"/>
          </a:ln>
        </p:spPr>
      </p:cxnSp>
      <p:cxnSp>
        <p:nvCxnSpPr>
          <p:cNvPr id="66" name=""/>
          <p:cNvCxnSpPr>
            <a:stCxn xmlns:a="http://schemas.openxmlformats.org/drawingml/2006/main" id="39" idx="3"/>
            <a:endCxn xmlns:a="http://schemas.openxmlformats.org/drawingml/2006/main" id="40" idx="1"/>
          </p:cNvCxnSpPr>
          <p:nvPr/>
        </p:nvCxnSpPr>
        <p:spPr>
          <a:xfrm xmlns:a="http://schemas.openxmlformats.org/drawingml/2006/main">
            <a:off x="5638800" y="243840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A3E8E"/>
            </a:solidFill>
            <a:prstDash val="solid"/>
            <a:headEnd type="triangle" w="sm" len="sm"/>
          </a:ln>
        </p:spPr>
      </p:cxnSp>
      <p:cxnSp>
        <p:nvCxnSpPr>
          <p:cNvPr id="67" name=""/>
          <p:cNvCxnSpPr>
            <a:stCxn xmlns:a="http://schemas.openxmlformats.org/drawingml/2006/main" id="40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>
            <a:off x="8362950" y="243840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A3E8E"/>
            </a:solidFill>
            <a:prstDash val="solid"/>
            <a:headEnd type="triangle" w="sm" len="sm"/>
          </a:ln>
        </p:spPr>
      </p:cxn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697D1F4-9E1C-41F8-8972-A87350119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85975"/>
            <a:ext cx="2171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5212A"/>
                </a:solidFill>
                <a:latin typeface="等线"/>
                <a:ea typeface="等线"/>
                <a:cs typeface="等线"/>
              </a:defRPr>
            </a:pPr>
            <a:r>
              <a:rPr sz="1500" b="1">
                <a:solidFill>
                  <a:srgbClr val="25212A"/>
                </a:solidFill>
                <a:latin typeface="等线"/>
                <a:ea typeface="等线"/>
                <a:cs typeface="等线"/>
              </a:rPr>
              <a:t>1</a:t>
            </a:r>
          </a:p>
          <a:p xmlns:a="http://schemas.openxmlformats.org/drawingml/2006/main">
            <a:pPr algn="ctr">
              <a:defRPr sz="1500" b="1">
                <a:solidFill>
                  <a:srgbClr val="25212A"/>
                </a:solidFill>
                <a:latin typeface="等线"/>
                <a:ea typeface="等线"/>
                <a:cs typeface="等线"/>
              </a:defRPr>
            </a:pPr>
            <a:r>
              <a:rPr sz="1500" b="1">
                <a:solidFill>
                  <a:srgbClr val="25212A"/>
                </a:solidFill>
                <a:latin typeface="等线"/>
                <a:ea typeface="等线"/>
                <a:cs typeface="等线"/>
              </a:rPr>
              <a:t>样本/质控状态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37F870B-061B-4709-AB45-6868B2BBA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085975"/>
            <a:ext cx="2171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B1A6E"/>
                </a:solidFill>
                <a:latin typeface="等线"/>
                <a:ea typeface="等线"/>
                <a:cs typeface="等线"/>
              </a:defRPr>
            </a:pPr>
            <a:r>
              <a:rPr sz="1500" b="1">
                <a:solidFill>
                  <a:srgbClr val="5B1A6E"/>
                </a:solidFill>
                <a:latin typeface="等线"/>
                <a:ea typeface="等线"/>
                <a:cs typeface="等线"/>
              </a:rPr>
              <a:t>2</a:t>
            </a:r>
          </a:p>
          <a:p xmlns:a="http://schemas.openxmlformats.org/drawingml/2006/main">
            <a:pPr algn="ctr">
              <a:defRPr sz="1500" b="1">
                <a:solidFill>
                  <a:srgbClr val="5B1A6E"/>
                </a:solidFill>
                <a:latin typeface="等线"/>
                <a:ea typeface="等线"/>
                <a:cs typeface="等线"/>
              </a:defRPr>
            </a:pPr>
            <a:r>
              <a:rPr sz="1500" b="1">
                <a:solidFill>
                  <a:srgbClr val="5B1A6E"/>
                </a:solidFill>
                <a:latin typeface="等线"/>
                <a:ea typeface="等线"/>
                <a:cs typeface="等线"/>
              </a:rPr>
              <a:t>选择检测或实验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F6F4280-CF55-44E2-8E11-EE2BC3F89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85975"/>
            <a:ext cx="2171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5212A"/>
                </a:solidFill>
                <a:latin typeface="等线"/>
                <a:ea typeface="等线"/>
                <a:cs typeface="等线"/>
              </a:defRPr>
            </a:pPr>
            <a:r>
              <a:rPr sz="1500" b="1">
                <a:solidFill>
                  <a:srgbClr val="25212A"/>
                </a:solidFill>
                <a:latin typeface="等线"/>
                <a:ea typeface="等线"/>
                <a:cs typeface="等线"/>
              </a:rPr>
              <a:t>3</a:t>
            </a:r>
          </a:p>
          <a:p xmlns:a="http://schemas.openxmlformats.org/drawingml/2006/main">
            <a:pPr algn="ctr">
              <a:defRPr sz="1500" b="1">
                <a:solidFill>
                  <a:srgbClr val="25212A"/>
                </a:solidFill>
                <a:latin typeface="等线"/>
                <a:ea typeface="等线"/>
                <a:cs typeface="等线"/>
              </a:defRPr>
            </a:pPr>
            <a:r>
              <a:rPr sz="1500" b="1">
                <a:solidFill>
                  <a:srgbClr val="25212A"/>
                </a:solidFill>
                <a:latin typeface="等线"/>
                <a:ea typeface="等线"/>
                <a:cs typeface="等线"/>
              </a:rPr>
              <a:t>物理执行与测量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B2A71FD-7C51-4BAD-9214-F97EA9917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085975"/>
            <a:ext cx="2171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5212A"/>
                </a:solidFill>
                <a:latin typeface="等线"/>
                <a:ea typeface="等线"/>
                <a:cs typeface="等线"/>
              </a:defRPr>
            </a:pPr>
            <a:r>
              <a:rPr sz="1500" b="1">
                <a:solidFill>
                  <a:srgbClr val="25212A"/>
                </a:solidFill>
                <a:latin typeface="等线"/>
                <a:ea typeface="等线"/>
                <a:cs typeface="等线"/>
              </a:rPr>
              <a:t>4</a:t>
            </a:r>
          </a:p>
          <a:p xmlns:a="http://schemas.openxmlformats.org/drawingml/2006/main">
            <a:pPr algn="ctr">
              <a:defRPr sz="1500" b="1">
                <a:solidFill>
                  <a:srgbClr val="25212A"/>
                </a:solidFill>
                <a:latin typeface="等线"/>
                <a:ea typeface="等线"/>
                <a:cs typeface="等线"/>
              </a:defRPr>
            </a:pPr>
            <a:r>
              <a:rPr sz="1500" b="1">
                <a:solidFill>
                  <a:srgbClr val="25212A"/>
                </a:solidFill>
                <a:latin typeface="等线"/>
                <a:ea typeface="等线"/>
                <a:cs typeface="等线"/>
              </a:rPr>
              <a:t>结果→分流/复检/调参/停止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04DD4E3-4147-4632-938F-9FD72AF19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067050"/>
            <a:ext cx="8172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A3E8E"/>
            </a:solidFill>
            <a:prstDash val="dash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9882BA2-67B6-4D52-86F5-E62E831C6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00500"/>
            <a:ext cx="10325100" cy="1009650"/>
          </a:xfrm>
          <a:prstGeom xmlns:a="http://schemas.openxmlformats.org/drawingml/2006/main" prst="roundRect">
            <a:avLst>
              <a:gd name="adj" fmla="val 16981"/>
            </a:avLst>
          </a:prstGeom>
          <a:solidFill xmlns:a="http://schemas.openxmlformats.org/drawingml/2006/main">
            <a:srgbClr val="F4EDF7"/>
          </a:solidFill>
          <a:ln xmlns:a="http://schemas.openxmlformats.org/drawingml/2006/main" w="9525">
            <a:solidFill>
              <a:srgbClr val="7A3E8E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EC4464C-C9C5-4D93-8DB4-782F5D1E5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152900"/>
            <a:ext cx="9810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B1A6E"/>
                </a:solidFill>
                <a:latin typeface="等线"/>
                <a:ea typeface="等线"/>
                <a:cs typeface="等线"/>
              </a:defRPr>
            </a:pPr>
            <a:r>
              <a:rPr sz="1500" b="1">
                <a:solidFill>
                  <a:srgbClr val="5B1A6E"/>
                </a:solidFill>
                <a:latin typeface="等线"/>
                <a:ea typeface="等线"/>
                <a:cs typeface="等线"/>
              </a:rPr>
              <a:t>固定流水线属于自动化基础；跨仪器协调、异常恢复和结果驱动的协议优化才是关键具身能力。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205F34A-3DB7-4D5C-A7A2-880C6A6DE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381625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A23B55"/>
                </a:solidFill>
                <a:latin typeface="等线"/>
                <a:ea typeface="等线"/>
                <a:cs typeface="等线"/>
              </a:defRPr>
            </a:pPr>
            <a:r>
              <a:rPr sz="1575" b="1">
                <a:solidFill>
                  <a:srgbClr val="A23B55"/>
                </a:solidFill>
                <a:latin typeface="等线"/>
                <a:ea typeface="等线"/>
                <a:cs typeface="等线"/>
              </a:rPr>
              <a:t>反馈必须改变下一动作</a:t>
            </a:r>
          </a:p>
        </p:txBody>
      </p:sp>
    </p:spTree>
    <p:extLst>
      <p:ext uri="{BB962C8B-B14F-4D97-AF65-F5344CB8AC3E}">
        <p14:creationId xmlns:p14="http://schemas.microsoft.com/office/powerpoint/2010/main" val="2025121370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菱形 6">
            <a:extLst xmlns:a="http://schemas.openxmlformats.org/drawingml/2006/main">
              <a:ext uri="{FF2B5EF4-FFF2-40B4-BE49-F238E27FC236}">
                <a16:creationId xmlns:a16="http://schemas.microsoft.com/office/drawing/2014/main" id="{8825E84B-323B-49D9-8108-437BE039C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646273" y="6312273"/>
            <a:ext cx="545727" cy="545727"/>
          </a:xfrm>
          <a:prstGeom xmlns:a="http://schemas.openxmlformats.org/drawingml/2006/main" prst="diamond">
            <a:avLst/>
          </a:prstGeom>
          <a:gradFill xmlns:a="http://schemas.openxmlformats.org/drawingml/2006/main">
            <a:gsLst>
              <a:gs pos="100000">
                <a:srgbClr val="C8282A"/>
              </a:gs>
              <a:gs pos="0">
                <a:srgbClr val="194779"/>
              </a:gs>
            </a:gsLst>
            <a:lin ang="18900000" scaled="0"/>
          </a:gradFill>
          <a:ln xmlns:a="http://schemas.openxmlformats.org/drawingml/2006/main">
            <a:noFill/>
          </a:ln>
          <a:effectLst xmlns:a="http://schemas.openxmlformats.org/drawingml/2006/main">
            <a:outerShdw blurRad="127000" dist="38100" dir="2700000" algn="ctr">
              <a:srgbClr val="000000">
                <a:alpha val="45000"/>
              </a:srgb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DengXian"/>
              <a:ea typeface="DengXian"/>
              <a:cs typeface="DengXian"/>
            </a:endParaR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C092C980-ED75-4D29-A46B-D4C2D5D83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79448" y="6438719"/>
            <a:ext cx="320922" cy="338554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glow rad="63500">
              <a:schemeClr val="accent3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600">
                <a:solidFill>
                  <a:prstClr val="white"/>
                </a:solidFill>
                <a:latin typeface="Arial Black"/>
                <a:ea typeface="Arial Black"/>
                <a:cs typeface="Arial Black"/>
              </a:rPr>
              <a:t>17</a:t>
            </a:r>
            <a:endParaRPr sz="1600" b="0" i="0" u="none" kern="1200" cap="none" spc="0" baseline="0">
              <a:ln>
                <a:noFill/>
              </a:ln>
              <a:solidFill>
                <a:prstClr val="white"/>
              </a:solidFill>
              <a:latin typeface="Arial Black"/>
              <a:ea typeface="Arial Black"/>
              <a:cs typeface="Arial Black"/>
            </a:endParaRP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5E3D2DBA-49E9-4CCC-954E-E5F077021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7771"/>
            <a:ext cx="12192000" cy="58404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00000">
                <a:schemeClr val="bg1"/>
              </a:gs>
              <a:gs pos="18000">
                <a:srgbClr val="813789"/>
              </a:gs>
              <a:gs pos="0">
                <a:srgbClr val="813789"/>
              </a:gs>
            </a:gsLst>
            <a:lin ang="270000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65" name="图片 3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20731ac2ce453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73387" y="11991"/>
            <a:ext cx="1676015" cy="655780"/>
          </a:xfrm>
          <a:prstGeom xmlns:a="http://schemas.openxmlformats.org/drawingml/2006/main" prst="rect">
            <a:avLst/>
          </a:prstGeom>
        </p:spPr>
      </p:pic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CA205373-4581-4B3B-B4F7-9D33498BF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860" y="200660"/>
            <a:ext cx="5683885" cy="460375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25400" dist="25400" dir="2700000" algn="tl" rotWithShape="0">
              <a:prstClr val="black">
                <a:alpha val="46000"/>
              </a:prstClr>
            </a:outerShdw>
          </a:effectLst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>
                <a:solidFill>
                  <a:srgbClr val="813789"/>
                </a:solidFill>
                <a:latin typeface="Arial"/>
                <a:ea typeface="Arial"/>
                <a:cs typeface="Arial"/>
              </a:rPr>
              <a:t>Laboratory Diagnostics &amp; Assay</a:t>
            </a:r>
            <a:endParaRPr sz="2400" b="1" i="0" u="none" kern="1200" cap="none" spc="0" baseline="0">
              <a:ln>
                <a:noFill/>
              </a:ln>
              <a:solidFill>
                <a:srgbClr val="81378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77E6F11E-B04D-4DB9-982C-23761098E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76225"/>
            <a:ext cx="5599430" cy="398780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25400" dist="25400" dir="2700000" algn="tl" rotWithShape="0">
              <a:prstClr val="black">
                <a:alpha val="46000"/>
              </a:prstClr>
            </a:outerShdw>
          </a:effectLst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000" b="1">
                <a:ln>
                  <a:noFill/>
                </a:ln>
                <a:solidFill>
                  <a:srgbClr val="813789"/>
                </a:solidFill>
                <a:latin typeface="Arial"/>
                <a:ea typeface="Arial"/>
                <a:cs typeface="Arial"/>
              </a:rPr>
              <a:t>2.1 Result-driven workflows</a:t>
            </a:r>
            <a:endParaRPr sz="2000" b="1" i="0" u="none" kern="1200" cap="none" spc="0" baseline="0">
              <a:ln>
                <a:noFill/>
              </a:ln>
              <a:solidFill>
                <a:srgbClr val="81378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175DE5C-F790-403E-938C-FEB89577C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742950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5212A"/>
                </a:solidFill>
                <a:latin typeface="等线"/>
                <a:ea typeface="等线"/>
                <a:cs typeface="等线"/>
              </a:defRPr>
            </a:pPr>
            <a:r>
              <a:rPr sz="2100" b="1">
                <a:solidFill>
                  <a:srgbClr val="25212A"/>
                </a:solidFill>
                <a:latin typeface="等线"/>
                <a:ea typeface="等线"/>
                <a:cs typeface="等线"/>
              </a:rPr>
              <a:t>任务一：智能反射检测与异常恢复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45D2566-40E2-4F36-9E41-B9CC432A9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162050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B1A6E"/>
                </a:solidFill>
                <a:latin typeface="等线"/>
                <a:ea typeface="等线"/>
                <a:cs typeface="等线"/>
              </a:defRPr>
            </a:pPr>
            <a:r>
              <a:rPr sz="1500" b="1">
                <a:solidFill>
                  <a:srgbClr val="5B1A6E"/>
                </a:solidFill>
                <a:latin typeface="等线"/>
                <a:ea typeface="等线"/>
                <a:cs typeface="等线"/>
              </a:rPr>
              <a:t>将“异常结果后怎么办”编码为可审计、可回退的物理工作流。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F91C018-8ED8-4722-98BF-662187C56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3333750" cy="1476375"/>
          </a:xfrm>
          <a:prstGeom xmlns:a="http://schemas.openxmlformats.org/drawingml/2006/main" prst="roundRect">
            <a:avLst>
              <a:gd name="adj" fmla="val 116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DC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58A886D-A6F2-4112-BA6F-336CE47DD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5260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5B1A6E"/>
                </a:solidFill>
                <a:latin typeface="等线"/>
                <a:ea typeface="等线"/>
                <a:cs typeface="等线"/>
              </a:defRPr>
            </a:pPr>
            <a:r>
              <a:rPr sz="1575" b="1">
                <a:solidFill>
                  <a:srgbClr val="5B1A6E"/>
                </a:solidFill>
                <a:latin typeface="等线"/>
                <a:ea typeface="等线"/>
                <a:cs typeface="等线"/>
              </a:rPr>
              <a:t>触发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D6C1F16-D894-4CFD-939E-BF6533728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336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5212A"/>
                </a:solidFill>
                <a:latin typeface="等线"/>
                <a:ea typeface="等线"/>
                <a:cs typeface="等线"/>
              </a:defRPr>
            </a:pPr>
            <a:r>
              <a:rPr sz="1425" b="1">
                <a:solidFill>
                  <a:srgbClr val="25212A"/>
                </a:solidFill>
                <a:latin typeface="等线"/>
                <a:ea typeface="等线"/>
                <a:cs typeface="等线"/>
              </a:rPr>
              <a:t>初检异常 / 质控失败 / 样本不足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DF40E17-5608-4CC7-B535-263C8A4C9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908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D6672"/>
                </a:solidFill>
                <a:latin typeface="等线"/>
                <a:ea typeface="等线"/>
                <a:cs typeface="等线"/>
              </a:defRPr>
            </a:pPr>
            <a:r>
              <a:rPr sz="1200" b="0">
                <a:solidFill>
                  <a:srgbClr val="6D6672"/>
                </a:solidFill>
                <a:latin typeface="等线"/>
                <a:ea typeface="等线"/>
                <a:cs typeface="等线"/>
              </a:rPr>
              <a:t>结构化状态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72921CA-ECBF-453A-9AD5-52656EBB1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1619250"/>
            <a:ext cx="3333750" cy="1476375"/>
          </a:xfrm>
          <a:prstGeom xmlns:a="http://schemas.openxmlformats.org/drawingml/2006/main" prst="roundRect">
            <a:avLst>
              <a:gd name="adj" fmla="val 11613"/>
            </a:avLst>
          </a:prstGeom>
          <a:solidFill xmlns:a="http://schemas.openxmlformats.org/drawingml/2006/main">
            <a:srgbClr val="F4EDF7"/>
          </a:solidFill>
          <a:ln xmlns:a="http://schemas.openxmlformats.org/drawingml/2006/main" w="9525">
            <a:solidFill>
              <a:srgbClr val="7A3E8E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F971E88-0E44-4D89-919B-EE705A356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75260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5B1A6E"/>
                </a:solidFill>
                <a:latin typeface="等线"/>
                <a:ea typeface="等线"/>
                <a:cs typeface="等线"/>
              </a:defRPr>
            </a:pPr>
            <a:r>
              <a:rPr sz="1575" b="1">
                <a:solidFill>
                  <a:srgbClr val="5B1A6E"/>
                </a:solidFill>
                <a:latin typeface="等线"/>
                <a:ea typeface="等线"/>
                <a:cs typeface="等线"/>
              </a:rPr>
              <a:t>决策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B454469-54EE-45AD-B31E-370262A7F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1336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5212A"/>
                </a:solidFill>
                <a:latin typeface="等线"/>
                <a:ea typeface="等线"/>
                <a:cs typeface="等线"/>
              </a:defRPr>
            </a:pPr>
            <a:r>
              <a:rPr sz="1425" b="1">
                <a:solidFill>
                  <a:srgbClr val="25212A"/>
                </a:solidFill>
                <a:latin typeface="等线"/>
                <a:ea typeface="等线"/>
                <a:cs typeface="等线"/>
              </a:rPr>
              <a:t>复测 / 稀释 / 追加项目 / 转人工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996CDA0-AD56-4088-916E-5F0FF2F11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5908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D6672"/>
                </a:solidFill>
                <a:latin typeface="等线"/>
                <a:ea typeface="等线"/>
                <a:cs typeface="等线"/>
              </a:defRPr>
            </a:pPr>
            <a:r>
              <a:rPr sz="1200" b="0">
                <a:solidFill>
                  <a:srgbClr val="6D6672"/>
                </a:solidFill>
                <a:latin typeface="等线"/>
                <a:ea typeface="等线"/>
                <a:cs typeface="等线"/>
              </a:rPr>
              <a:t>规则 + 学习模型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25E4047-AE34-48E8-BCC6-9EBB46D01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619250"/>
            <a:ext cx="3333750" cy="1476375"/>
          </a:xfrm>
          <a:prstGeom xmlns:a="http://schemas.openxmlformats.org/drawingml/2006/main" prst="roundRect">
            <a:avLst>
              <a:gd name="adj" fmla="val 116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DC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E7266E4-0B1B-472B-8404-E005E6E79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5260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5B1A6E"/>
                </a:solidFill>
                <a:latin typeface="等线"/>
                <a:ea typeface="等线"/>
                <a:cs typeface="等线"/>
              </a:defRPr>
            </a:pPr>
            <a:r>
              <a:rPr sz="1575" b="1">
                <a:solidFill>
                  <a:srgbClr val="5B1A6E"/>
                </a:solidFill>
                <a:latin typeface="等线"/>
                <a:ea typeface="等线"/>
                <a:cs typeface="等线"/>
              </a:rPr>
              <a:t>执行与验证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8BFD2A9-7B35-4CA1-A517-AED7DCF3A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336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5212A"/>
                </a:solidFill>
                <a:latin typeface="等线"/>
                <a:ea typeface="等线"/>
                <a:cs typeface="等线"/>
              </a:defRPr>
            </a:pPr>
            <a:r>
              <a:rPr sz="1425" b="1">
                <a:solidFill>
                  <a:srgbClr val="25212A"/>
                </a:solidFill>
                <a:latin typeface="等线"/>
                <a:ea typeface="等线"/>
                <a:cs typeface="等线"/>
              </a:rPr>
              <a:t>跨仪器调度 / 结果一致性检查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D33861F-2A57-4E77-BDF8-906BF5652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5908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D6672"/>
                </a:solidFill>
                <a:latin typeface="等线"/>
                <a:ea typeface="等线"/>
                <a:cs typeface="等线"/>
              </a:defRPr>
            </a:pPr>
            <a:r>
              <a:rPr sz="1200" b="0">
                <a:solidFill>
                  <a:srgbClr val="6D6672"/>
                </a:solidFill>
                <a:latin typeface="等线"/>
                <a:ea typeface="等线"/>
                <a:cs typeface="等线"/>
              </a:rPr>
              <a:t>闭环日志</a:t>
            </a:r>
          </a:p>
        </p:txBody>
      </p:sp>
      <p:cxnSp>
        <p:nvCxnSpPr>
          <p:cNvPr id="82" name=""/>
          <p:cNvCxnSpPr>
            <a:stCxn xmlns:a="http://schemas.openxmlformats.org/drawingml/2006/main" id="38" idx="3"/>
            <a:endCxn xmlns:a="http://schemas.openxmlformats.org/drawingml/2006/main" id="42" idx="1"/>
          </p:cNvCxnSpPr>
          <p:nvPr/>
        </p:nvCxnSpPr>
        <p:spPr>
          <a:xfrm xmlns:a="http://schemas.openxmlformats.org/drawingml/2006/main">
            <a:off x="3790950" y="2357438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A3E8E"/>
            </a:solidFill>
            <a:prstDash val="solid"/>
            <a:headEnd type="triangle" w="sm" len="sm"/>
          </a:ln>
        </p:spPr>
      </p:cxnSp>
      <p:cxnSp>
        <p:nvCxnSpPr>
          <p:cNvPr id="83" name=""/>
          <p:cNvCxnSpPr>
            <a:stCxn xmlns:a="http://schemas.openxmlformats.org/drawingml/2006/main" id="42" idx="3"/>
            <a:endCxn xmlns:a="http://schemas.openxmlformats.org/drawingml/2006/main" id="46" idx="1"/>
          </p:cNvCxnSpPr>
          <p:nvPr/>
        </p:nvCxnSpPr>
        <p:spPr>
          <a:xfrm xmlns:a="http://schemas.openxmlformats.org/drawingml/2006/main">
            <a:off x="7467600" y="2357438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A3E8E"/>
            </a:solidFill>
            <a:prstDash val="solid"/>
            <a:headEnd type="triangle" w="sm" len="sm"/>
          </a:ln>
        </p:spPr>
      </p:cxn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31A2C2A-46C3-4CE4-BB14-7E357D696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0"/>
            <a:ext cx="1047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B1A6E"/>
          </a:solidFill>
          <a:ln xmlns:a="http://schemas.openxmlformats.org/drawingml/2006/main" w="9525">
            <a:solidFill>
              <a:srgbClr val="5B1A6E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9F68F4C-5714-4405-BE04-922953E81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等线"/>
                <a:ea typeface="等线"/>
                <a:cs typeface="等线"/>
              </a:defRPr>
            </a:pPr>
            <a:r>
              <a:rPr sz="1050" b="1">
                <a:solidFill>
                  <a:srgbClr val="FFFFFF"/>
                </a:solidFill>
                <a:latin typeface="等线"/>
                <a:ea typeface="等线"/>
                <a:cs typeface="等线"/>
              </a:rPr>
              <a:t>数据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93D2F1C-28C2-4FD1-B67D-9FB0A90B0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409950"/>
            <a:ext cx="9477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5212A"/>
                </a:solidFill>
                <a:latin typeface="等线"/>
                <a:ea typeface="等线"/>
                <a:cs typeface="等线"/>
              </a:defRPr>
            </a:pPr>
            <a:r>
              <a:rPr sz="1275" b="0">
                <a:solidFill>
                  <a:srgbClr val="25212A"/>
                </a:solidFill>
                <a:latin typeface="等线"/>
                <a:ea typeface="等线"/>
                <a:cs typeface="等线"/>
              </a:rPr>
              <a:t>LIS 事件日志、样本轨迹、质控与人工纠错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19178F2-55D5-4D20-A0D6-6CCF615FA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981450"/>
            <a:ext cx="1047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569A8"/>
          </a:solidFill>
          <a:ln xmlns:a="http://schemas.openxmlformats.org/drawingml/2006/main" w="9525">
            <a:solidFill>
              <a:srgbClr val="3569A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9F763F1-467C-4FC9-B4BC-BBFEB34A7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9814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等线"/>
                <a:ea typeface="等线"/>
                <a:cs typeface="等线"/>
              </a:defRPr>
            </a:pPr>
            <a:r>
              <a:rPr sz="1050" b="1">
                <a:solidFill>
                  <a:srgbClr val="FFFFFF"/>
                </a:solidFill>
                <a:latin typeface="等线"/>
                <a:ea typeface="等线"/>
                <a:cs typeface="等线"/>
              </a:rPr>
              <a:t>硬件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2D2072D-CF8F-4D1D-AA8F-3521855DE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962400"/>
            <a:ext cx="9477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5212A"/>
                </a:solidFill>
                <a:latin typeface="等线"/>
                <a:ea typeface="等线"/>
                <a:cs typeface="等线"/>
              </a:defRPr>
            </a:pPr>
            <a:r>
              <a:rPr sz="1275" b="0">
                <a:solidFill>
                  <a:srgbClr val="25212A"/>
                </a:solidFill>
                <a:latin typeface="等线"/>
                <a:ea typeface="等线"/>
                <a:cs typeface="等线"/>
              </a:rPr>
              <a:t>条码与分拣、自动移液、分析仪接口、缓存位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912E718-C149-44F5-B817-8B7309546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33900"/>
            <a:ext cx="1047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569A8"/>
          </a:solidFill>
          <a:ln xmlns:a="http://schemas.openxmlformats.org/drawingml/2006/main" w="9525">
            <a:solidFill>
              <a:srgbClr val="3569A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A800ECB-03FA-46B9-977E-E48A63EB5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339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等线"/>
                <a:ea typeface="等线"/>
                <a:cs typeface="等线"/>
              </a:defRPr>
            </a:pPr>
            <a:r>
              <a:rPr sz="1050" b="1">
                <a:solidFill>
                  <a:srgbClr val="FFFFFF"/>
                </a:solidFill>
                <a:latin typeface="等线"/>
                <a:ea typeface="等线"/>
                <a:cs typeface="等线"/>
              </a:rPr>
              <a:t>安全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6B0E888-D004-4046-B791-DCC14A092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514850"/>
            <a:ext cx="9477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5212A"/>
                </a:solidFill>
                <a:latin typeface="等线"/>
                <a:ea typeface="等线"/>
                <a:cs typeface="等线"/>
              </a:defRPr>
            </a:pPr>
            <a:r>
              <a:rPr sz="1275" b="0">
                <a:solidFill>
                  <a:srgbClr val="25212A"/>
                </a:solidFill>
                <a:latin typeface="等线"/>
                <a:ea typeface="等线"/>
                <a:cs typeface="等线"/>
              </a:rPr>
              <a:t>限定规则域；矛盾结果 abstain；人工备用流程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56F1E36-5781-4ADB-A27D-DB66D3013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53100"/>
            <a:ext cx="10810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D6672"/>
                </a:solidFill>
                <a:latin typeface="等线"/>
                <a:ea typeface="等线"/>
                <a:cs typeface="等线"/>
              </a:defRPr>
            </a:pPr>
            <a:r>
              <a:rPr sz="1200" b="0">
                <a:solidFill>
                  <a:srgbClr val="6D6672"/>
                </a:solidFill>
                <a:latin typeface="等线"/>
                <a:ea typeface="等线"/>
                <a:cs typeface="等线"/>
              </a:rPr>
              <a:t>机器学习“建议反射检测”不等于已部署闭环；需要前瞻性验证工作量、漏检、延迟与异常恢复。</a:t>
            </a:r>
          </a:p>
        </p:txBody>
      </p:sp>
    </p:spTree>
    <p:extLst>
      <p:ext uri="{BB962C8B-B14F-4D97-AF65-F5344CB8AC3E}">
        <p14:creationId xmlns:p14="http://schemas.microsoft.com/office/powerpoint/2010/main" val="2025121370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菱形 6">
            <a:extLst xmlns:a="http://schemas.openxmlformats.org/drawingml/2006/main">
              <a:ext uri="{FF2B5EF4-FFF2-40B4-BE49-F238E27FC236}">
                <a16:creationId xmlns:a16="http://schemas.microsoft.com/office/drawing/2014/main" id="{8825E84B-323B-49D9-8108-437BE039C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646273" y="6312273"/>
            <a:ext cx="545727" cy="545727"/>
          </a:xfrm>
          <a:prstGeom xmlns:a="http://schemas.openxmlformats.org/drawingml/2006/main" prst="diamond">
            <a:avLst/>
          </a:prstGeom>
          <a:gradFill xmlns:a="http://schemas.openxmlformats.org/drawingml/2006/main">
            <a:gsLst>
              <a:gs pos="100000">
                <a:srgbClr val="C8282A"/>
              </a:gs>
              <a:gs pos="0">
                <a:srgbClr val="194779"/>
              </a:gs>
            </a:gsLst>
            <a:lin ang="18900000" scaled="0"/>
          </a:gradFill>
          <a:ln xmlns:a="http://schemas.openxmlformats.org/drawingml/2006/main">
            <a:noFill/>
          </a:ln>
          <a:effectLst xmlns:a="http://schemas.openxmlformats.org/drawingml/2006/main">
            <a:outerShdw blurRad="127000" dist="38100" dir="2700000" algn="ctr">
              <a:srgbClr val="000000">
                <a:alpha val="45000"/>
              </a:srgb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DengXian"/>
              <a:ea typeface="DengXian"/>
              <a:cs typeface="DengXian"/>
            </a:endParaR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C092C980-ED75-4D29-A46B-D4C2D5D83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79448" y="6438719"/>
            <a:ext cx="320922" cy="338554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glow rad="63500">
              <a:schemeClr val="accent3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600">
                <a:solidFill>
                  <a:prstClr val="white"/>
                </a:solidFill>
                <a:latin typeface="Arial Black"/>
                <a:ea typeface="Arial Black"/>
                <a:cs typeface="Arial Black"/>
              </a:rPr>
              <a:t>18</a:t>
            </a:r>
            <a:endParaRPr sz="1600" b="0" i="0" u="none" kern="1200" cap="none" spc="0" baseline="0">
              <a:ln>
                <a:noFill/>
              </a:ln>
              <a:solidFill>
                <a:prstClr val="white"/>
              </a:solidFill>
              <a:latin typeface="Arial Black"/>
              <a:ea typeface="Arial Black"/>
              <a:cs typeface="Arial Black"/>
            </a:endParaRP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5E3D2DBA-49E9-4CCC-954E-E5F077021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7771"/>
            <a:ext cx="12192000" cy="58404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00000">
                <a:schemeClr val="bg1"/>
              </a:gs>
              <a:gs pos="18000">
                <a:srgbClr val="813789"/>
              </a:gs>
              <a:gs pos="0">
                <a:srgbClr val="813789"/>
              </a:gs>
            </a:gsLst>
            <a:lin ang="270000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69" name="图片 3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91413dc4214ad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73387" y="11991"/>
            <a:ext cx="1676015" cy="655780"/>
          </a:xfrm>
          <a:prstGeom xmlns:a="http://schemas.openxmlformats.org/drawingml/2006/main" prst="rect">
            <a:avLst/>
          </a:prstGeom>
        </p:spPr>
      </p:pic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CA205373-4581-4B3B-B4F7-9D33498BF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860" y="200660"/>
            <a:ext cx="5683885" cy="460375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25400" dist="25400" dir="2700000" algn="tl" rotWithShape="0">
              <a:prstClr val="black">
                <a:alpha val="46000"/>
              </a:prstClr>
            </a:outerShdw>
          </a:effectLst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>
                <a:solidFill>
                  <a:srgbClr val="813789"/>
                </a:solidFill>
                <a:latin typeface="Arial"/>
                <a:ea typeface="Arial"/>
                <a:cs typeface="Arial"/>
              </a:rPr>
              <a:t>Laboratory Diagnostics &amp; Assay</a:t>
            </a:r>
            <a:endParaRPr sz="2400" b="1" i="0" u="none" kern="1200" cap="none" spc="0" baseline="0">
              <a:ln>
                <a:noFill/>
              </a:ln>
              <a:solidFill>
                <a:srgbClr val="81378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77E6F11E-B04D-4DB9-982C-23761098E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76225"/>
            <a:ext cx="5599430" cy="398780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25400" dist="25400" dir="2700000" algn="tl" rotWithShape="0">
              <a:prstClr val="black">
                <a:alpha val="46000"/>
              </a:prstClr>
            </a:outerShdw>
          </a:effectLst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000" b="1">
                <a:ln>
                  <a:noFill/>
                </a:ln>
                <a:solidFill>
                  <a:srgbClr val="813789"/>
                </a:solidFill>
                <a:latin typeface="Arial"/>
                <a:ea typeface="Arial"/>
                <a:cs typeface="Arial"/>
              </a:rPr>
              <a:t>2.2 Programmable microfluidics</a:t>
            </a:r>
            <a:endParaRPr sz="2000" b="1" i="0" u="none" kern="1200" cap="none" spc="0" baseline="0">
              <a:ln>
                <a:noFill/>
              </a:ln>
              <a:solidFill>
                <a:srgbClr val="81378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5FC8BDB-5DCE-4020-9F8C-D902EA748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742950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5212A"/>
                </a:solidFill>
                <a:latin typeface="等线"/>
                <a:ea typeface="等线"/>
                <a:cs typeface="等线"/>
              </a:defRPr>
            </a:pPr>
            <a:r>
              <a:rPr sz="2100" b="1">
                <a:solidFill>
                  <a:srgbClr val="25212A"/>
                </a:solidFill>
                <a:latin typeface="等线"/>
                <a:ea typeface="等线"/>
                <a:cs typeface="等线"/>
              </a:rPr>
              <a:t>任务二：可编程微流控与样本分流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6CDB9E0-8307-4494-BB4D-9F54E4F36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162050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B1A6E"/>
                </a:solidFill>
                <a:latin typeface="等线"/>
                <a:ea typeface="等线"/>
                <a:cs typeface="等线"/>
              </a:defRPr>
            </a:pPr>
            <a:r>
              <a:rPr sz="1500" b="1">
                <a:solidFill>
                  <a:srgbClr val="5B1A6E"/>
                </a:solidFill>
                <a:latin typeface="等线"/>
                <a:ea typeface="等线"/>
                <a:cs typeface="等线"/>
              </a:rPr>
              <a:t>在液滴尺度执行移动、合并、分裂与反应，使检测协议能够根据中间结果重构。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07DE36D-48BE-435D-BC1E-5E9C55A4A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71625"/>
            <a:ext cx="23622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DC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088F0B3-8B64-4244-82E6-03BEE8930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571625"/>
            <a:ext cx="23622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DE3F1"/>
          </a:solidFill>
          <a:ln xmlns:a="http://schemas.openxmlformats.org/drawingml/2006/main" w="9525">
            <a:solidFill>
              <a:srgbClr val="7A3E8E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F1E890F-4D35-4923-9DCF-03D21136E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571625"/>
            <a:ext cx="23622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DC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C8CA32E-3030-48FD-9481-328DF9A07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571625"/>
            <a:ext cx="23622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DC"/>
            </a:solidFill>
            <a:prstDash val="solid"/>
          </a:ln>
        </p:spPr>
      </p:sp>
      <p:cxnSp>
        <p:nvCxnSpPr>
          <p:cNvPr id="78" name=""/>
          <p:cNvCxnSpPr>
            <a:stCxn xmlns:a="http://schemas.openxmlformats.org/drawingml/2006/main" id="38" idx="3"/>
            <a:endCxn xmlns:a="http://schemas.openxmlformats.org/drawingml/2006/main" id="39" idx="1"/>
          </p:cNvCxnSpPr>
          <p:nvPr/>
        </p:nvCxnSpPr>
        <p:spPr>
          <a:xfrm xmlns:a="http://schemas.openxmlformats.org/drawingml/2006/main">
            <a:off x="2914650" y="2009775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A3E8E"/>
            </a:solidFill>
            <a:prstDash val="solid"/>
            <a:headEnd type="triangle" w="sm" len="sm"/>
          </a:ln>
        </p:spPr>
      </p:cxnSp>
      <p:cxnSp>
        <p:nvCxnSpPr>
          <p:cNvPr id="79" name=""/>
          <p:cNvCxnSpPr>
            <a:stCxn xmlns:a="http://schemas.openxmlformats.org/drawingml/2006/main" id="39" idx="3"/>
            <a:endCxn xmlns:a="http://schemas.openxmlformats.org/drawingml/2006/main" id="40" idx="1"/>
          </p:cNvCxnSpPr>
          <p:nvPr/>
        </p:nvCxnSpPr>
        <p:spPr>
          <a:xfrm xmlns:a="http://schemas.openxmlformats.org/drawingml/2006/main">
            <a:off x="5638800" y="2009775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A3E8E"/>
            </a:solidFill>
            <a:prstDash val="solid"/>
            <a:headEnd type="triangle" w="sm" len="sm"/>
          </a:ln>
        </p:spPr>
      </p:cxnSp>
      <p:cxnSp>
        <p:nvCxnSpPr>
          <p:cNvPr id="80" name=""/>
          <p:cNvCxnSpPr>
            <a:stCxn xmlns:a="http://schemas.openxmlformats.org/drawingml/2006/main" id="40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>
            <a:off x="8362950" y="2009775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A3E8E"/>
            </a:solidFill>
            <a:prstDash val="solid"/>
            <a:headEnd type="triangle" w="sm" len="sm"/>
          </a:ln>
        </p:spPr>
      </p:cxn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15D8974-CD35-4D3D-A9FB-F2D33CBD6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57350"/>
            <a:ext cx="2171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5212A"/>
                </a:solidFill>
                <a:latin typeface="等线"/>
                <a:ea typeface="等线"/>
                <a:cs typeface="等线"/>
              </a:defRPr>
            </a:pPr>
            <a:r>
              <a:rPr sz="1500" b="1">
                <a:solidFill>
                  <a:srgbClr val="25212A"/>
                </a:solidFill>
                <a:latin typeface="等线"/>
                <a:ea typeface="等线"/>
                <a:cs typeface="等线"/>
              </a:rPr>
              <a:t>1</a:t>
            </a:r>
          </a:p>
          <a:p xmlns:a="http://schemas.openxmlformats.org/drawingml/2006/main">
            <a:pPr algn="ctr">
              <a:defRPr sz="1500" b="1">
                <a:solidFill>
                  <a:srgbClr val="25212A"/>
                </a:solidFill>
                <a:latin typeface="等线"/>
                <a:ea typeface="等线"/>
                <a:cs typeface="等线"/>
              </a:defRPr>
            </a:pPr>
            <a:r>
              <a:rPr sz="1500" b="1">
                <a:solidFill>
                  <a:srgbClr val="25212A"/>
                </a:solidFill>
                <a:latin typeface="等线"/>
                <a:ea typeface="等线"/>
                <a:cs typeface="等线"/>
              </a:rPr>
              <a:t>液滴视觉状态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E4792B0-31B6-4393-A20C-51B2347F9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657350"/>
            <a:ext cx="2171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B1A6E"/>
                </a:solidFill>
                <a:latin typeface="等线"/>
                <a:ea typeface="等线"/>
                <a:cs typeface="等线"/>
              </a:defRPr>
            </a:pPr>
            <a:r>
              <a:rPr sz="1500" b="1">
                <a:solidFill>
                  <a:srgbClr val="5B1A6E"/>
                </a:solidFill>
                <a:latin typeface="等线"/>
                <a:ea typeface="等线"/>
                <a:cs typeface="等线"/>
              </a:rPr>
              <a:t>2</a:t>
            </a:r>
          </a:p>
          <a:p xmlns:a="http://schemas.openxmlformats.org/drawingml/2006/main">
            <a:pPr algn="ctr">
              <a:defRPr sz="1500" b="1">
                <a:solidFill>
                  <a:srgbClr val="5B1A6E"/>
                </a:solidFill>
                <a:latin typeface="等线"/>
                <a:ea typeface="等线"/>
                <a:cs typeface="等线"/>
              </a:defRPr>
            </a:pPr>
            <a:r>
              <a:rPr sz="1500" b="1">
                <a:solidFill>
                  <a:srgbClr val="5B1A6E"/>
                </a:solidFill>
                <a:latin typeface="等线"/>
                <a:ea typeface="等线"/>
                <a:cs typeface="等线"/>
              </a:rPr>
              <a:t>选择路由/合并/分裂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810F6EF-C0C0-455D-8B2F-ACC4F3EB7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57350"/>
            <a:ext cx="2171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5212A"/>
                </a:solidFill>
                <a:latin typeface="等线"/>
                <a:ea typeface="等线"/>
                <a:cs typeface="等线"/>
              </a:defRPr>
            </a:pPr>
            <a:r>
              <a:rPr sz="1500" b="1">
                <a:solidFill>
                  <a:srgbClr val="25212A"/>
                </a:solidFill>
                <a:latin typeface="等线"/>
                <a:ea typeface="等线"/>
                <a:cs typeface="等线"/>
              </a:rPr>
              <a:t>3</a:t>
            </a:r>
          </a:p>
          <a:p xmlns:a="http://schemas.openxmlformats.org/drawingml/2006/main">
            <a:pPr algn="ctr">
              <a:defRPr sz="1500" b="1">
                <a:solidFill>
                  <a:srgbClr val="25212A"/>
                </a:solidFill>
                <a:latin typeface="等线"/>
                <a:ea typeface="等线"/>
                <a:cs typeface="等线"/>
              </a:defRPr>
            </a:pPr>
            <a:r>
              <a:rPr sz="1500" b="1">
                <a:solidFill>
                  <a:srgbClr val="25212A"/>
                </a:solidFill>
                <a:latin typeface="等线"/>
                <a:ea typeface="等线"/>
                <a:cs typeface="等线"/>
              </a:rPr>
              <a:t>电磁或数字微流控执行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D078F41-D5E1-41CD-8307-7DE66AC8A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657350"/>
            <a:ext cx="2171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5212A"/>
                </a:solidFill>
                <a:latin typeface="等线"/>
                <a:ea typeface="等线"/>
                <a:cs typeface="等线"/>
              </a:defRPr>
            </a:pPr>
            <a:r>
              <a:rPr sz="1500" b="1">
                <a:solidFill>
                  <a:srgbClr val="25212A"/>
                </a:solidFill>
                <a:latin typeface="等线"/>
                <a:ea typeface="等线"/>
                <a:cs typeface="等线"/>
              </a:rPr>
              <a:t>4</a:t>
            </a:r>
          </a:p>
          <a:p xmlns:a="http://schemas.openxmlformats.org/drawingml/2006/main">
            <a:pPr algn="ctr">
              <a:defRPr sz="1500" b="1">
                <a:solidFill>
                  <a:srgbClr val="25212A"/>
                </a:solidFill>
                <a:latin typeface="等线"/>
                <a:ea typeface="等线"/>
                <a:cs typeface="等线"/>
              </a:defRPr>
            </a:pPr>
            <a:r>
              <a:rPr sz="1500" b="1">
                <a:solidFill>
                  <a:srgbClr val="25212A"/>
                </a:solidFill>
                <a:latin typeface="等线"/>
                <a:ea typeface="等线"/>
                <a:cs typeface="等线"/>
              </a:rPr>
              <a:t>反应读出更新方案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45F46CB-DE16-4833-B1EC-B82AAB705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638425"/>
            <a:ext cx="8172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A3E8E"/>
            </a:solidFill>
            <a:prstDash val="dash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AD16CE9-6866-4691-8F82-85278F80B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95600"/>
            <a:ext cx="108966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DC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184D753-F09B-4C2C-9C03-7A6757A45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33700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B1A6E"/>
                </a:solidFill>
                <a:latin typeface="等线"/>
                <a:ea typeface="等线"/>
                <a:cs typeface="等线"/>
              </a:defRPr>
            </a:pPr>
            <a:r>
              <a:rPr sz="1350" b="1">
                <a:solidFill>
                  <a:srgbClr val="5B1A6E"/>
                </a:solidFill>
                <a:latin typeface="等线"/>
                <a:ea typeface="等线"/>
                <a:cs typeface="等线"/>
              </a:rPr>
              <a:t>Ferrobotic swarms 2022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40CF073-48CF-4BAE-98F8-F300CBD75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933700"/>
            <a:ext cx="485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12A"/>
                </a:solidFill>
                <a:latin typeface="等线"/>
                <a:ea typeface="等线"/>
                <a:cs typeface="等线"/>
              </a:defRPr>
            </a:pPr>
            <a:r>
              <a:rPr sz="1350" b="0">
                <a:solidFill>
                  <a:srgbClr val="25212A"/>
                </a:solidFill>
                <a:latin typeface="等线"/>
                <a:ea typeface="等线"/>
                <a:cs typeface="等线"/>
              </a:rPr>
              <a:t>PCB 线圈阵列 + RT-LAMP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5040B88-9BB4-416A-B9AC-DB6AA7E85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3370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E7D65"/>
                </a:solidFill>
                <a:latin typeface="等线"/>
                <a:ea typeface="等线"/>
                <a:cs typeface="等线"/>
              </a:defRPr>
            </a:pPr>
            <a:r>
              <a:rPr sz="1350" b="1">
                <a:solidFill>
                  <a:srgbClr val="2E7D65"/>
                </a:solidFill>
                <a:latin typeface="等线"/>
                <a:ea typeface="等线"/>
                <a:cs typeface="等线"/>
              </a:rPr>
              <a:t>展示患病率自适应 pooling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3066E09-0739-4AFD-AF6B-30F38FB72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81400"/>
            <a:ext cx="108966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4EDF7"/>
          </a:solidFill>
          <a:ln xmlns:a="http://schemas.openxmlformats.org/drawingml/2006/main" w="9525">
            <a:solidFill>
              <a:srgbClr val="EDE3F1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B67514D-CA26-4BC5-A73F-846C7C060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0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B1A6E"/>
                </a:solidFill>
                <a:latin typeface="等线"/>
                <a:ea typeface="等线"/>
                <a:cs typeface="等线"/>
              </a:defRPr>
            </a:pPr>
            <a:r>
              <a:rPr sz="1350" b="1">
                <a:solidFill>
                  <a:srgbClr val="5B1A6E"/>
                </a:solidFill>
                <a:latin typeface="等线"/>
                <a:ea typeface="等线"/>
                <a:cs typeface="等线"/>
              </a:rPr>
              <a:t>图像反馈 DMF 2023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030B33A-2B02-4119-942C-74E0B8B9C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619500"/>
            <a:ext cx="485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12A"/>
                </a:solidFill>
                <a:latin typeface="等线"/>
                <a:ea typeface="等线"/>
                <a:cs typeface="等线"/>
              </a:defRPr>
            </a:pPr>
            <a:r>
              <a:rPr sz="1350" b="0">
                <a:solidFill>
                  <a:srgbClr val="25212A"/>
                </a:solidFill>
                <a:latin typeface="等线"/>
                <a:ea typeface="等线"/>
                <a:cs typeface="等线"/>
              </a:rPr>
              <a:t>相机实时定位液滴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D14246A-B186-4A0F-9ED5-30D41577C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1950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7A3E8E"/>
                </a:solidFill>
                <a:latin typeface="等线"/>
                <a:ea typeface="等线"/>
                <a:cs typeface="等线"/>
              </a:defRPr>
            </a:pPr>
            <a:r>
              <a:rPr sz="1350" b="1">
                <a:solidFill>
                  <a:srgbClr val="7A3E8E"/>
                </a:solidFill>
                <a:latin typeface="等线"/>
                <a:ea typeface="等线"/>
                <a:cs typeface="等线"/>
              </a:rPr>
              <a:t>支持自动 IVD 控制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56C3808-8DF4-4C20-A389-B2609BEDF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67200"/>
            <a:ext cx="108966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DC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6056A26-EEFD-452A-9C42-BBB05D94A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05300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B1A6E"/>
                </a:solidFill>
                <a:latin typeface="等线"/>
                <a:ea typeface="等线"/>
                <a:cs typeface="等线"/>
              </a:defRPr>
            </a:pPr>
            <a:r>
              <a:rPr sz="1350" b="1">
                <a:solidFill>
                  <a:srgbClr val="5B1A6E"/>
                </a:solidFill>
                <a:latin typeface="等线"/>
                <a:ea typeface="等线"/>
                <a:cs typeface="等线"/>
              </a:rPr>
              <a:t>证据边界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689FB11-C1AA-41D8-86EC-80A8769BC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305300"/>
            <a:ext cx="485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12A"/>
                </a:solidFill>
                <a:latin typeface="等线"/>
                <a:ea typeface="等线"/>
                <a:cs typeface="等线"/>
              </a:defRPr>
            </a:pPr>
            <a:r>
              <a:rPr sz="1350" b="0">
                <a:solidFill>
                  <a:srgbClr val="25212A"/>
                </a:solidFill>
                <a:latin typeface="等线"/>
                <a:ea typeface="等线"/>
                <a:cs typeface="等线"/>
              </a:rPr>
              <a:t>器件/临床样本演示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403F787-DCE9-401F-827C-EA83F263A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30530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7A3E8E"/>
                </a:solidFill>
                <a:latin typeface="等线"/>
                <a:ea typeface="等线"/>
                <a:cs typeface="等线"/>
              </a:defRPr>
            </a:pPr>
            <a:r>
              <a:rPr sz="1350" b="1">
                <a:solidFill>
                  <a:srgbClr val="7A3E8E"/>
                </a:solidFill>
                <a:latin typeface="等线"/>
                <a:ea typeface="等线"/>
                <a:cs typeface="等线"/>
              </a:rPr>
              <a:t>尚非日常检验科部署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44E8F29-41D8-406C-A312-0D8B99DB7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95875"/>
            <a:ext cx="1428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B1A6E"/>
          </a:solidFill>
          <a:ln xmlns:a="http://schemas.openxmlformats.org/drawingml/2006/main" w="9525">
            <a:solidFill>
              <a:srgbClr val="5B1A6E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69B8E06-1521-4317-8448-99D39F43E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958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等线"/>
                <a:ea typeface="等线"/>
                <a:cs typeface="等线"/>
              </a:defRPr>
            </a:pPr>
            <a:r>
              <a:rPr sz="1050" b="1">
                <a:solidFill>
                  <a:srgbClr val="FFFFFF"/>
                </a:solidFill>
                <a:latin typeface="等线"/>
                <a:ea typeface="等线"/>
                <a:cs typeface="等线"/>
              </a:rPr>
              <a:t>硬件 / 数据条件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3FF79B5-D03E-4D8C-B3FF-DEE35C5C6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048250"/>
            <a:ext cx="9315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5212A"/>
                </a:solidFill>
                <a:latin typeface="等线"/>
                <a:ea typeface="等线"/>
                <a:cs typeface="等线"/>
              </a:defRPr>
            </a:pPr>
            <a:r>
              <a:rPr sz="1275" b="0">
                <a:solidFill>
                  <a:srgbClr val="25212A"/>
                </a:solidFill>
                <a:latin typeface="等线"/>
                <a:ea typeface="等线"/>
                <a:cs typeface="等线"/>
              </a:rPr>
              <a:t>低成本 PCB 阵列 / DMF 芯片 · 相机 · 温控与荧光读出 · 污染控制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BE2C0A5-EE36-4D7B-914A-B1CF9AB47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53100"/>
            <a:ext cx="10810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D6672"/>
                </a:solidFill>
                <a:latin typeface="等线"/>
                <a:ea typeface="等线"/>
                <a:cs typeface="等线"/>
              </a:defRPr>
            </a:pPr>
            <a:r>
              <a:rPr sz="1200" b="0">
                <a:solidFill>
                  <a:srgbClr val="6D6672"/>
                </a:solidFill>
                <a:latin typeface="等线"/>
                <a:ea typeface="等线"/>
                <a:cs typeface="等线"/>
              </a:rPr>
              <a:t>最有价值的医学任务：样本稀缺时的分流、阳性后反射检测、失败反应的在线恢复。</a:t>
            </a:r>
          </a:p>
        </p:txBody>
      </p:sp>
    </p:spTree>
    <p:extLst>
      <p:ext uri="{BB962C8B-B14F-4D97-AF65-F5344CB8AC3E}">
        <p14:creationId xmlns:p14="http://schemas.microsoft.com/office/powerpoint/2010/main" val="2025121370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菱形 6">
            <a:extLst xmlns:a="http://schemas.openxmlformats.org/drawingml/2006/main">
              <a:ext uri="{FF2B5EF4-FFF2-40B4-BE49-F238E27FC236}">
                <a16:creationId xmlns:a16="http://schemas.microsoft.com/office/drawing/2014/main" id="{8825E84B-323B-49D9-8108-437BE039C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646273" y="6312273"/>
            <a:ext cx="545727" cy="545727"/>
          </a:xfrm>
          <a:prstGeom xmlns:a="http://schemas.openxmlformats.org/drawingml/2006/main" prst="diamond">
            <a:avLst/>
          </a:prstGeom>
          <a:gradFill xmlns:a="http://schemas.openxmlformats.org/drawingml/2006/main">
            <a:gsLst>
              <a:gs pos="100000">
                <a:srgbClr val="C8282A"/>
              </a:gs>
              <a:gs pos="0">
                <a:srgbClr val="194779"/>
              </a:gs>
            </a:gsLst>
            <a:lin ang="18900000" scaled="0"/>
          </a:gradFill>
          <a:ln xmlns:a="http://schemas.openxmlformats.org/drawingml/2006/main">
            <a:noFill/>
          </a:ln>
          <a:effectLst xmlns:a="http://schemas.openxmlformats.org/drawingml/2006/main">
            <a:outerShdw blurRad="127000" dist="38100" dir="2700000" algn="ctr">
              <a:srgbClr val="000000">
                <a:alpha val="45000"/>
              </a:srgb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DengXian"/>
              <a:ea typeface="DengXian"/>
              <a:cs typeface="DengXian"/>
            </a:endParaR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C092C980-ED75-4D29-A46B-D4C2D5D83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79448" y="6438719"/>
            <a:ext cx="320922" cy="338554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glow rad="63500">
              <a:schemeClr val="accent3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600">
                <a:solidFill>
                  <a:prstClr val="white"/>
                </a:solidFill>
                <a:latin typeface="Arial Black"/>
                <a:ea typeface="Arial Black"/>
                <a:cs typeface="Arial Black"/>
              </a:rPr>
              <a:t>19</a:t>
            </a:r>
            <a:endParaRPr sz="1600" b="0" i="0" u="none" kern="1200" cap="none" spc="0" baseline="0">
              <a:ln>
                <a:noFill/>
              </a:ln>
              <a:solidFill>
                <a:prstClr val="white"/>
              </a:solidFill>
              <a:latin typeface="Arial Black"/>
              <a:ea typeface="Arial Black"/>
              <a:cs typeface="Arial Black"/>
            </a:endParaRP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5E3D2DBA-49E9-4CCC-954E-E5F077021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7771"/>
            <a:ext cx="12192000" cy="58404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00000">
                <a:schemeClr val="bg1"/>
              </a:gs>
              <a:gs pos="18000">
                <a:srgbClr val="813789"/>
              </a:gs>
              <a:gs pos="0">
                <a:srgbClr val="813789"/>
              </a:gs>
            </a:gsLst>
            <a:lin ang="270000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56" name="图片 3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3b24ac128442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73387" y="11991"/>
            <a:ext cx="1676015" cy="655780"/>
          </a:xfrm>
          <a:prstGeom xmlns:a="http://schemas.openxmlformats.org/drawingml/2006/main" prst="rect">
            <a:avLst/>
          </a:prstGeom>
        </p:spPr>
      </p:pic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CA205373-4581-4B3B-B4F7-9D33498BF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860" y="200660"/>
            <a:ext cx="5683885" cy="460375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25400" dist="25400" dir="2700000" algn="tl" rotWithShape="0">
              <a:prstClr val="black">
                <a:alpha val="46000"/>
              </a:prstClr>
            </a:outerShdw>
          </a:effectLst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>
                <a:solidFill>
                  <a:srgbClr val="813789"/>
                </a:solidFill>
                <a:latin typeface="Arial"/>
                <a:ea typeface="Arial"/>
                <a:cs typeface="Arial"/>
              </a:rPr>
              <a:t>Laboratory Diagnostics &amp; Assay</a:t>
            </a:r>
            <a:endParaRPr sz="2400" b="1" i="0" u="none" kern="1200" cap="none" spc="0" baseline="0">
              <a:ln>
                <a:noFill/>
              </a:ln>
              <a:solidFill>
                <a:srgbClr val="81378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77E6F11E-B04D-4DB9-982C-23761098E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76225"/>
            <a:ext cx="5599430" cy="398780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25400" dist="25400" dir="2700000" algn="tl" rotWithShape="0">
              <a:prstClr val="black">
                <a:alpha val="46000"/>
              </a:prstClr>
            </a:outerShdw>
          </a:effectLst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000" b="1">
                <a:ln>
                  <a:noFill/>
                </a:ln>
                <a:solidFill>
                  <a:srgbClr val="813789"/>
                </a:solidFill>
                <a:latin typeface="Arial"/>
                <a:ea typeface="Arial"/>
                <a:cs typeface="Arial"/>
              </a:rPr>
              <a:t>2.3 Self-driving assay development</a:t>
            </a:r>
            <a:endParaRPr sz="2000" b="1" i="0" u="none" kern="1200" cap="none" spc="0" baseline="0">
              <a:ln>
                <a:noFill/>
              </a:ln>
              <a:solidFill>
                <a:srgbClr val="81378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C19F85A-2B13-4427-862D-25AD3EF6B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742950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5212A"/>
                </a:solidFill>
                <a:latin typeface="等线"/>
                <a:ea typeface="等线"/>
                <a:cs typeface="等线"/>
              </a:defRPr>
            </a:pPr>
            <a:r>
              <a:rPr sz="2100" b="1">
                <a:solidFill>
                  <a:srgbClr val="25212A"/>
                </a:solidFill>
                <a:latin typeface="等线"/>
                <a:ea typeface="等线"/>
                <a:cs typeface="等线"/>
              </a:rPr>
              <a:t>任务三：自驱动检测与分析方法开发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0BF4F67-E405-4519-BF2C-03AC08594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162050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B1A6E"/>
                </a:solidFill>
                <a:latin typeface="等线"/>
                <a:ea typeface="等线"/>
                <a:cs typeface="等线"/>
              </a:defRPr>
            </a:pPr>
            <a:r>
              <a:rPr sz="1500" b="1">
                <a:solidFill>
                  <a:srgbClr val="5B1A6E"/>
                </a:solidFill>
                <a:latin typeface="等线"/>
                <a:ea typeface="等线"/>
                <a:cs typeface="等线"/>
              </a:rPr>
              <a:t>目标—实验—测量—学习—下一实验：把试剂和仪器当作主动获取证据的身体。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F5FBACD-86CE-4419-8DB3-8E6633447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00250"/>
            <a:ext cx="23622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DC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6D57EAC-13BC-4410-94CA-9174E69E6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000250"/>
            <a:ext cx="23622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DE3F1"/>
          </a:solidFill>
          <a:ln xmlns:a="http://schemas.openxmlformats.org/drawingml/2006/main" w="9525">
            <a:solidFill>
              <a:srgbClr val="7A3E8E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A0991B4-12D3-4ED2-983B-1C02D27B1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000250"/>
            <a:ext cx="23622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DC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A84A5A3-DC71-49C0-A700-B52CCDA17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000250"/>
            <a:ext cx="23622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DC"/>
            </a:solidFill>
            <a:prstDash val="solid"/>
          </a:ln>
        </p:spPr>
      </p:sp>
      <p:cxnSp>
        <p:nvCxnSpPr>
          <p:cNvPr id="65" name=""/>
          <p:cNvCxnSpPr>
            <a:stCxn xmlns:a="http://schemas.openxmlformats.org/drawingml/2006/main" id="38" idx="3"/>
            <a:endCxn xmlns:a="http://schemas.openxmlformats.org/drawingml/2006/main" id="39" idx="1"/>
          </p:cNvCxnSpPr>
          <p:nvPr/>
        </p:nvCxnSpPr>
        <p:spPr>
          <a:xfrm xmlns:a="http://schemas.openxmlformats.org/drawingml/2006/main">
            <a:off x="2914650" y="243840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A3E8E"/>
            </a:solidFill>
            <a:prstDash val="solid"/>
            <a:headEnd type="triangle" w="sm" len="sm"/>
          </a:ln>
        </p:spPr>
      </p:cxnSp>
      <p:cxnSp>
        <p:nvCxnSpPr>
          <p:cNvPr id="66" name=""/>
          <p:cNvCxnSpPr>
            <a:stCxn xmlns:a="http://schemas.openxmlformats.org/drawingml/2006/main" id="39" idx="3"/>
            <a:endCxn xmlns:a="http://schemas.openxmlformats.org/drawingml/2006/main" id="40" idx="1"/>
          </p:cNvCxnSpPr>
          <p:nvPr/>
        </p:nvCxnSpPr>
        <p:spPr>
          <a:xfrm xmlns:a="http://schemas.openxmlformats.org/drawingml/2006/main">
            <a:off x="5638800" y="243840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A3E8E"/>
            </a:solidFill>
            <a:prstDash val="solid"/>
            <a:headEnd type="triangle" w="sm" len="sm"/>
          </a:ln>
        </p:spPr>
      </p:cxnSp>
      <p:cxnSp>
        <p:nvCxnSpPr>
          <p:cNvPr id="67" name=""/>
          <p:cNvCxnSpPr>
            <a:stCxn xmlns:a="http://schemas.openxmlformats.org/drawingml/2006/main" id="40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>
            <a:off x="8362950" y="243840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A3E8E"/>
            </a:solidFill>
            <a:prstDash val="solid"/>
            <a:headEnd type="triangle" w="sm" len="sm"/>
          </a:ln>
        </p:spPr>
      </p:cxn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9D09796-5248-41BC-A6AD-CE478E0F1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85975"/>
            <a:ext cx="2171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5212A"/>
                </a:solidFill>
                <a:latin typeface="等线"/>
                <a:ea typeface="等线"/>
                <a:cs typeface="等线"/>
              </a:defRPr>
            </a:pPr>
            <a:r>
              <a:rPr sz="1500" b="1">
                <a:solidFill>
                  <a:srgbClr val="25212A"/>
                </a:solidFill>
                <a:latin typeface="等线"/>
                <a:ea typeface="等线"/>
                <a:cs typeface="等线"/>
              </a:rPr>
              <a:t>1</a:t>
            </a:r>
          </a:p>
          <a:p xmlns:a="http://schemas.openxmlformats.org/drawingml/2006/main">
            <a:pPr algn="ctr">
              <a:defRPr sz="1500" b="1">
                <a:solidFill>
                  <a:srgbClr val="25212A"/>
                </a:solidFill>
                <a:latin typeface="等线"/>
                <a:ea typeface="等线"/>
                <a:cs typeface="等线"/>
              </a:defRPr>
            </a:pPr>
            <a:r>
              <a:rPr sz="1500" b="1">
                <a:solidFill>
                  <a:srgbClr val="25212A"/>
                </a:solidFill>
                <a:latin typeface="等线"/>
                <a:ea typeface="等线"/>
                <a:cs typeface="等线"/>
              </a:rPr>
              <a:t>定义性能目标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299A659-521E-42B8-896B-D9F43DD67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085975"/>
            <a:ext cx="2171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B1A6E"/>
                </a:solidFill>
                <a:latin typeface="等线"/>
                <a:ea typeface="等线"/>
                <a:cs typeface="等线"/>
              </a:defRPr>
            </a:pPr>
            <a:r>
              <a:rPr sz="1500" b="1">
                <a:solidFill>
                  <a:srgbClr val="5B1A6E"/>
                </a:solidFill>
                <a:latin typeface="等线"/>
                <a:ea typeface="等线"/>
                <a:cs typeface="等线"/>
              </a:rPr>
              <a:t>2</a:t>
            </a:r>
          </a:p>
          <a:p xmlns:a="http://schemas.openxmlformats.org/drawingml/2006/main">
            <a:pPr algn="ctr">
              <a:defRPr sz="1500" b="1">
                <a:solidFill>
                  <a:srgbClr val="5B1A6E"/>
                </a:solidFill>
                <a:latin typeface="等线"/>
                <a:ea typeface="等线"/>
                <a:cs typeface="等线"/>
              </a:defRPr>
            </a:pPr>
            <a:r>
              <a:rPr sz="1500" b="1">
                <a:solidFill>
                  <a:srgbClr val="5B1A6E"/>
                </a:solidFill>
                <a:latin typeface="等线"/>
                <a:ea typeface="等线"/>
                <a:cs typeface="等线"/>
              </a:rPr>
              <a:t>选择下一实验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61DC04B-ADFA-4786-BC2E-4E5BD2F4F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85975"/>
            <a:ext cx="2171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5212A"/>
                </a:solidFill>
                <a:latin typeface="等线"/>
                <a:ea typeface="等线"/>
                <a:cs typeface="等线"/>
              </a:defRPr>
            </a:pPr>
            <a:r>
              <a:rPr sz="1500" b="1">
                <a:solidFill>
                  <a:srgbClr val="25212A"/>
                </a:solidFill>
                <a:latin typeface="等线"/>
                <a:ea typeface="等线"/>
                <a:cs typeface="等线"/>
              </a:rPr>
              <a:t>3</a:t>
            </a:r>
          </a:p>
          <a:p xmlns:a="http://schemas.openxmlformats.org/drawingml/2006/main">
            <a:pPr algn="ctr">
              <a:defRPr sz="1500" b="1">
                <a:solidFill>
                  <a:srgbClr val="25212A"/>
                </a:solidFill>
                <a:latin typeface="等线"/>
                <a:ea typeface="等线"/>
                <a:cs typeface="等线"/>
              </a:defRPr>
            </a:pPr>
            <a:r>
              <a:rPr sz="1500" b="1">
                <a:solidFill>
                  <a:srgbClr val="25212A"/>
                </a:solidFill>
                <a:latin typeface="等线"/>
                <a:ea typeface="等线"/>
                <a:cs typeface="等线"/>
              </a:rPr>
              <a:t>机器人执行 + QC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0934748-0899-420C-89A4-122FFD08C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085975"/>
            <a:ext cx="2171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5212A"/>
                </a:solidFill>
                <a:latin typeface="等线"/>
                <a:ea typeface="等线"/>
                <a:cs typeface="等线"/>
              </a:defRPr>
            </a:pPr>
            <a:r>
              <a:rPr sz="1500" b="1">
                <a:solidFill>
                  <a:srgbClr val="25212A"/>
                </a:solidFill>
                <a:latin typeface="等线"/>
                <a:ea typeface="等线"/>
                <a:cs typeface="等线"/>
              </a:rPr>
              <a:t>4</a:t>
            </a:r>
          </a:p>
          <a:p xmlns:a="http://schemas.openxmlformats.org/drawingml/2006/main">
            <a:pPr algn="ctr">
              <a:defRPr sz="1500" b="1">
                <a:solidFill>
                  <a:srgbClr val="25212A"/>
                </a:solidFill>
                <a:latin typeface="等线"/>
                <a:ea typeface="等线"/>
                <a:cs typeface="等线"/>
              </a:defRPr>
            </a:pPr>
            <a:r>
              <a:rPr sz="1500" b="1">
                <a:solidFill>
                  <a:srgbClr val="25212A"/>
                </a:solidFill>
                <a:latin typeface="等线"/>
                <a:ea typeface="等线"/>
                <a:cs typeface="等线"/>
              </a:rPr>
              <a:t>模型更新并停止/继续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1A9554F-D9BD-4676-951E-3FF58A42F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067050"/>
            <a:ext cx="8172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A3E8E"/>
            </a:solidFill>
            <a:prstDash val="dash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E4685AB-E6E6-4138-A1A9-779C20089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00500"/>
            <a:ext cx="10325100" cy="1009650"/>
          </a:xfrm>
          <a:prstGeom xmlns:a="http://schemas.openxmlformats.org/drawingml/2006/main" prst="roundRect">
            <a:avLst>
              <a:gd name="adj" fmla="val 16981"/>
            </a:avLst>
          </a:prstGeom>
          <a:solidFill xmlns:a="http://schemas.openxmlformats.org/drawingml/2006/main">
            <a:srgbClr val="F4EDF7"/>
          </a:solidFill>
          <a:ln xmlns:a="http://schemas.openxmlformats.org/drawingml/2006/main" w="9525">
            <a:solidFill>
              <a:srgbClr val="7A3E8E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0AC77AC-5A34-4A22-A758-8CB0F1B32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152900"/>
            <a:ext cx="9810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B1A6E"/>
                </a:solidFill>
                <a:latin typeface="等线"/>
                <a:ea typeface="等线"/>
                <a:cs typeface="等线"/>
              </a:defRPr>
            </a:pPr>
            <a:r>
              <a:rPr sz="1500" b="1">
                <a:solidFill>
                  <a:srgbClr val="5B1A6E"/>
                </a:solidFill>
                <a:latin typeface="等线"/>
                <a:ea typeface="等线"/>
                <a:cs typeface="等线"/>
              </a:rPr>
              <a:t>SAMPLE 等平台证明架构可行；迁移到临床检测需加入基质效应、批间差、可追溯性和临床效用终点。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8A4A4A8-70F5-42B7-8296-1E32A1E89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381625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A23B55"/>
                </a:solidFill>
                <a:latin typeface="等线"/>
                <a:ea typeface="等线"/>
                <a:cs typeface="等线"/>
              </a:defRPr>
            </a:pPr>
            <a:r>
              <a:rPr sz="1575" b="1">
                <a:solidFill>
                  <a:srgbClr val="A23B55"/>
                </a:solidFill>
                <a:latin typeface="等线"/>
                <a:ea typeface="等线"/>
                <a:cs typeface="等线"/>
              </a:rPr>
              <a:t>反馈必须改变下一动作</a:t>
            </a:r>
          </a:p>
        </p:txBody>
      </p:sp>
    </p:spTree>
    <p:extLst>
      <p:ext uri="{BB962C8B-B14F-4D97-AF65-F5344CB8AC3E}">
        <p14:creationId xmlns:p14="http://schemas.microsoft.com/office/powerpoint/2010/main" val="2025121370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菱形 6">
            <a:extLst xmlns:a="http://schemas.openxmlformats.org/drawingml/2006/main">
              <a:ext uri="{FF2B5EF4-FFF2-40B4-BE49-F238E27FC236}">
                <a16:creationId xmlns:a16="http://schemas.microsoft.com/office/drawing/2014/main" id="{8825E84B-323B-49D9-8108-437BE039C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646273" y="6312273"/>
            <a:ext cx="545727" cy="545727"/>
          </a:xfrm>
          <a:prstGeom xmlns:a="http://schemas.openxmlformats.org/drawingml/2006/main" prst="diamond">
            <a:avLst/>
          </a:prstGeom>
          <a:gradFill xmlns:a="http://schemas.openxmlformats.org/drawingml/2006/main">
            <a:gsLst>
              <a:gs pos="100000">
                <a:srgbClr val="C8282A"/>
              </a:gs>
              <a:gs pos="0">
                <a:srgbClr val="194779"/>
              </a:gs>
            </a:gsLst>
            <a:lin ang="18900000" scaled="0"/>
          </a:gradFill>
          <a:ln xmlns:a="http://schemas.openxmlformats.org/drawingml/2006/main">
            <a:noFill/>
          </a:ln>
          <a:effectLst xmlns:a="http://schemas.openxmlformats.org/drawingml/2006/main">
            <a:outerShdw blurRad="127000" dist="38100" dir="2700000" algn="ctr">
              <a:srgbClr val="000000">
                <a:alpha val="45000"/>
              </a:srgb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DengXian"/>
              <a:ea typeface="DengXian"/>
              <a:cs typeface="DengXian"/>
            </a:endParaR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C092C980-ED75-4D29-A46B-D4C2D5D83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79448" y="6438719"/>
            <a:ext cx="320922" cy="338554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glow rad="63500">
              <a:schemeClr val="accent3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600">
                <a:solidFill>
                  <a:prstClr val="white"/>
                </a:solidFill>
                <a:latin typeface="Arial Black"/>
                <a:ea typeface="Arial Black"/>
                <a:cs typeface="Arial Black"/>
              </a:rPr>
              <a:t>20</a:t>
            </a:r>
            <a:endParaRPr sz="1600" b="0" i="0" u="none" kern="1200" cap="none" spc="0" baseline="0">
              <a:ln>
                <a:noFill/>
              </a:ln>
              <a:solidFill>
                <a:prstClr val="white"/>
              </a:solidFill>
              <a:latin typeface="Arial Black"/>
              <a:ea typeface="Arial Black"/>
              <a:cs typeface="Arial Black"/>
            </a:endParaRP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5E3D2DBA-49E9-4CCC-954E-E5F077021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7771"/>
            <a:ext cx="12192000" cy="58404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00000">
                <a:schemeClr val="bg1"/>
              </a:gs>
              <a:gs pos="18000">
                <a:srgbClr val="813789"/>
              </a:gs>
              <a:gs pos="0">
                <a:srgbClr val="813789"/>
              </a:gs>
            </a:gsLst>
            <a:lin ang="270000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60" name="图片 3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345afb2613489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73387" y="11991"/>
            <a:ext cx="1676015" cy="655780"/>
          </a:xfrm>
          <a:prstGeom xmlns:a="http://schemas.openxmlformats.org/drawingml/2006/main" prst="rect">
            <a:avLst/>
          </a:prstGeom>
        </p:spPr>
      </p:pic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CA205373-4581-4B3B-B4F7-9D33498BF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860" y="200660"/>
            <a:ext cx="5683885" cy="460375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25400" dist="25400" dir="2700000" algn="tl" rotWithShape="0">
              <a:prstClr val="black">
                <a:alpha val="46000"/>
              </a:prstClr>
            </a:outerShdw>
          </a:effectLst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>
                <a:solidFill>
                  <a:srgbClr val="813789"/>
                </a:solidFill>
                <a:latin typeface="Arial"/>
                <a:ea typeface="Arial"/>
                <a:cs typeface="Arial"/>
              </a:rPr>
              <a:t>Laboratory Diagnostics &amp; Assay</a:t>
            </a:r>
            <a:endParaRPr sz="2400" b="1" i="0" u="none" kern="1200" cap="none" spc="0" baseline="0">
              <a:ln>
                <a:noFill/>
              </a:ln>
              <a:solidFill>
                <a:srgbClr val="81378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77E6F11E-B04D-4DB9-982C-23761098E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76225"/>
            <a:ext cx="5599430" cy="398780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25400" dist="25400" dir="2700000" algn="tl" rotWithShape="0">
              <a:prstClr val="black">
                <a:alpha val="46000"/>
              </a:prstClr>
            </a:outerShdw>
          </a:effectLst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000" b="1">
                <a:ln>
                  <a:noFill/>
                </a:ln>
                <a:solidFill>
                  <a:srgbClr val="813789"/>
                </a:solidFill>
                <a:latin typeface="Arial"/>
                <a:ea typeface="Arial"/>
                <a:cs typeface="Arial"/>
              </a:rPr>
              <a:t>2.4 Prioritization</a:t>
            </a:r>
            <a:endParaRPr sz="2000" b="1" i="0" u="none" kern="1200" cap="none" spc="0" baseline="0">
              <a:ln>
                <a:noFill/>
              </a:ln>
              <a:solidFill>
                <a:srgbClr val="81378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9BE8E01-71BF-4FAD-B555-403126A20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742950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5212A"/>
                </a:solidFill>
                <a:latin typeface="等线"/>
                <a:ea typeface="等线"/>
                <a:cs typeface="等线"/>
              </a:defRPr>
            </a:pPr>
            <a:r>
              <a:rPr sz="2100" b="1">
                <a:solidFill>
                  <a:srgbClr val="25212A"/>
                </a:solidFill>
                <a:latin typeface="等线"/>
                <a:ea typeface="等线"/>
                <a:cs typeface="等线"/>
              </a:rPr>
              <a:t>实验室方向优先级：从固定自动化到价值驱动闭环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88BA927-CA7D-4979-9C73-107FFC3DD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162050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B1A6E"/>
                </a:solidFill>
                <a:latin typeface="等线"/>
                <a:ea typeface="等线"/>
                <a:cs typeface="等线"/>
              </a:defRPr>
            </a:pPr>
            <a:r>
              <a:rPr sz="1500" b="1">
                <a:solidFill>
                  <a:srgbClr val="5B1A6E"/>
                </a:solidFill>
                <a:latin typeface="等线"/>
                <a:ea typeface="等线"/>
                <a:cs typeface="等线"/>
              </a:rPr>
              <a:t>近期优先选择可在现有实验室硬件上验证、且反馈价值明确的任务。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467BE9D-B9BA-48A8-A2B4-92925D055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904875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D65"/>
          </a:solidFill>
          <a:ln xmlns:a="http://schemas.openxmlformats.org/drawingml/2006/main" w="9525">
            <a:solidFill>
              <a:srgbClr val="2E7D6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E278374-4822-4593-B80F-E13639AF2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904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等线"/>
                <a:ea typeface="等线"/>
                <a:cs typeface="等线"/>
              </a:defRPr>
            </a:pPr>
            <a:r>
              <a:rPr sz="1050" b="1">
                <a:solidFill>
                  <a:srgbClr val="FFFFFF"/>
                </a:solidFill>
                <a:latin typeface="等线"/>
                <a:ea typeface="等线"/>
                <a:cs typeface="等线"/>
              </a:rPr>
              <a:t>先做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597792B-C932-4CCB-A76E-D66D6E59A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609725"/>
            <a:ext cx="323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B1A6E"/>
                </a:solidFill>
                <a:latin typeface="等线"/>
                <a:ea typeface="等线"/>
                <a:cs typeface="等线"/>
              </a:defRPr>
            </a:pPr>
            <a:r>
              <a:rPr sz="1575" b="1">
                <a:solidFill>
                  <a:srgbClr val="5B1A6E"/>
                </a:solidFill>
                <a:latin typeface="等线"/>
                <a:ea typeface="等线"/>
                <a:cs typeface="等线"/>
              </a:rPr>
              <a:t>智能反射 + 异常恢复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6A782C4-EC1D-4820-ABF2-343341F4F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609725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5212A"/>
                </a:solidFill>
                <a:latin typeface="等线"/>
                <a:ea typeface="等线"/>
                <a:cs typeface="等线"/>
              </a:defRPr>
            </a:pPr>
            <a:r>
              <a:rPr sz="1275" b="0">
                <a:solidFill>
                  <a:srgbClr val="25212A"/>
                </a:solidFill>
                <a:latin typeface="等线"/>
                <a:ea typeface="等线"/>
                <a:cs typeface="等线"/>
              </a:rPr>
              <a:t>高临床价值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C9A988C-4271-4CDD-8EFD-0F599190C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0972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D6672"/>
                </a:solidFill>
                <a:latin typeface="等线"/>
                <a:ea typeface="等线"/>
                <a:cs typeface="等线"/>
              </a:defRPr>
            </a:pPr>
            <a:r>
              <a:rPr sz="1275" b="0">
                <a:solidFill>
                  <a:srgbClr val="6D6672"/>
                </a:solidFill>
                <a:latin typeface="等线"/>
                <a:ea typeface="等线"/>
                <a:cs typeface="等线"/>
              </a:rPr>
              <a:t>高可实施性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3357A36-6D2C-4841-8C19-92544B76D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190750"/>
            <a:ext cx="95821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B1A6E"/>
          </a:solidFill>
          <a:ln xmlns:a="http://schemas.openxmlformats.org/drawingml/2006/main" w="9525">
            <a:solidFill>
              <a:srgbClr val="5B1A6E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E50C433-573E-4509-AC69-D58AA635B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47975"/>
            <a:ext cx="904875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A3E8E"/>
          </a:solidFill>
          <a:ln xmlns:a="http://schemas.openxmlformats.org/drawingml/2006/main" w="9525">
            <a:solidFill>
              <a:srgbClr val="7A3E8E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0CAF78C-28FA-4292-B2D2-93AA1F4A7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47975"/>
            <a:ext cx="904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等线"/>
                <a:ea typeface="等线"/>
                <a:cs typeface="等线"/>
              </a:defRPr>
            </a:pPr>
            <a:r>
              <a:rPr sz="1050" b="1">
                <a:solidFill>
                  <a:srgbClr val="FFFFFF"/>
                </a:solidFill>
                <a:latin typeface="等线"/>
                <a:ea typeface="等线"/>
                <a:cs typeface="等线"/>
              </a:rPr>
              <a:t>联合做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DAD73D6-A29B-42B6-8FE7-0D46EB0F3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800350"/>
            <a:ext cx="323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B1A6E"/>
                </a:solidFill>
                <a:latin typeface="等线"/>
                <a:ea typeface="等线"/>
                <a:cs typeface="等线"/>
              </a:defRPr>
            </a:pPr>
            <a:r>
              <a:rPr sz="1575" b="1">
                <a:solidFill>
                  <a:srgbClr val="5B1A6E"/>
                </a:solidFill>
                <a:latin typeface="等线"/>
                <a:ea typeface="等线"/>
                <a:cs typeface="等线"/>
              </a:rPr>
              <a:t>可编程样本分流/DMF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8CBAD1E-D276-434B-A812-90EAC21B2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0035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5212A"/>
                </a:solidFill>
                <a:latin typeface="等线"/>
                <a:ea typeface="等线"/>
                <a:cs typeface="等线"/>
              </a:defRPr>
            </a:pPr>
            <a:r>
              <a:rPr sz="1275" b="0">
                <a:solidFill>
                  <a:srgbClr val="25212A"/>
                </a:solidFill>
                <a:latin typeface="等线"/>
                <a:ea typeface="等线"/>
                <a:cs typeface="等线"/>
              </a:rPr>
              <a:t>中高价值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AD547B8-CE15-4DCC-AF56-55D4A7A55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003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D6672"/>
                </a:solidFill>
                <a:latin typeface="等线"/>
                <a:ea typeface="等线"/>
                <a:cs typeface="等线"/>
              </a:defRPr>
            </a:pPr>
            <a:r>
              <a:rPr sz="1275" b="0">
                <a:solidFill>
                  <a:srgbClr val="6D6672"/>
                </a:solidFill>
                <a:latin typeface="等线"/>
                <a:ea typeface="等线"/>
                <a:cs typeface="等线"/>
              </a:rPr>
              <a:t>中等硬件门槛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D36956A-4898-44FF-81DF-2BCEDA983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381375"/>
            <a:ext cx="95821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A3E8E"/>
          </a:solidFill>
          <a:ln xmlns:a="http://schemas.openxmlformats.org/drawingml/2006/main" w="9525">
            <a:solidFill>
              <a:srgbClr val="7A3E8E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97AD473-D49A-42A5-8CF8-C5D808554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38600"/>
            <a:ext cx="904875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A3E8E"/>
          </a:solidFill>
          <a:ln xmlns:a="http://schemas.openxmlformats.org/drawingml/2006/main" w="9525">
            <a:solidFill>
              <a:srgbClr val="7A3E8E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601379D-BAC7-46FF-A379-8D28A9497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38600"/>
            <a:ext cx="904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等线"/>
                <a:ea typeface="等线"/>
                <a:cs typeface="等线"/>
              </a:defRPr>
            </a:pPr>
            <a:r>
              <a:rPr sz="1050" b="1">
                <a:solidFill>
                  <a:srgbClr val="FFFFFF"/>
                </a:solidFill>
                <a:latin typeface="等线"/>
                <a:ea typeface="等线"/>
                <a:cs typeface="等线"/>
              </a:rPr>
              <a:t>布局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33434BC-59CE-4147-B685-B550462CF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990975"/>
            <a:ext cx="323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B1A6E"/>
                </a:solidFill>
                <a:latin typeface="等线"/>
                <a:ea typeface="等线"/>
                <a:cs typeface="等线"/>
              </a:defRPr>
            </a:pPr>
            <a:r>
              <a:rPr sz="1575" b="1">
                <a:solidFill>
                  <a:srgbClr val="5B1A6E"/>
                </a:solidFill>
                <a:latin typeface="等线"/>
                <a:ea typeface="等线"/>
                <a:cs typeface="等线"/>
              </a:rPr>
              <a:t>自驱动 assay 开发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B9E42FA-85F7-4AC0-99FF-933D9D239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990975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5212A"/>
                </a:solidFill>
                <a:latin typeface="等线"/>
                <a:ea typeface="等线"/>
                <a:cs typeface="等线"/>
              </a:defRPr>
            </a:pPr>
            <a:r>
              <a:rPr sz="1275" b="0">
                <a:solidFill>
                  <a:srgbClr val="25212A"/>
                </a:solidFill>
                <a:latin typeface="等线"/>
                <a:ea typeface="等线"/>
                <a:cs typeface="等线"/>
              </a:rPr>
              <a:t>长期平台价值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07C1C76-FE20-4456-8A11-C993C28BD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99097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D6672"/>
                </a:solidFill>
                <a:latin typeface="等线"/>
                <a:ea typeface="等线"/>
                <a:cs typeface="等线"/>
              </a:defRPr>
            </a:pPr>
            <a:r>
              <a:rPr sz="1275" b="0">
                <a:solidFill>
                  <a:srgbClr val="6D6672"/>
                </a:solidFill>
                <a:latin typeface="等线"/>
                <a:ea typeface="等线"/>
                <a:cs typeface="等线"/>
              </a:rPr>
              <a:t>高验证门槛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D551886-07D1-44AD-9990-FC01859B1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572000"/>
            <a:ext cx="95821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D2DC"/>
          </a:solidFill>
          <a:ln xmlns:a="http://schemas.openxmlformats.org/drawingml/2006/main" w="9525">
            <a:solidFill>
              <a:srgbClr val="D9D2DC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E0596EB-CEA1-43DB-A935-BC28D82E4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53100"/>
            <a:ext cx="10810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D6672"/>
                </a:solidFill>
                <a:latin typeface="等线"/>
                <a:ea typeface="等线"/>
                <a:cs typeface="等线"/>
              </a:defRPr>
            </a:pPr>
            <a:r>
              <a:rPr sz="1200" b="0">
                <a:solidFill>
                  <a:srgbClr val="6D6672"/>
                </a:solidFill>
                <a:latin typeface="等线"/>
                <a:ea typeface="等线"/>
                <a:cs typeface="等线"/>
              </a:rPr>
              <a:t>推荐指标：turnaround time、无效复检、样本浪费、人员介入、恢复成功率、最终决策改变。</a:t>
            </a:r>
          </a:p>
        </p:txBody>
      </p:sp>
    </p:spTree>
    <p:extLst>
      <p:ext uri="{BB962C8B-B14F-4D97-AF65-F5344CB8AC3E}">
        <p14:creationId xmlns:p14="http://schemas.microsoft.com/office/powerpoint/2010/main" val="2025121370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菱形 6">
            <a:extLst xmlns:a="http://schemas.openxmlformats.org/drawingml/2006/main">
              <a:ext uri="{FF2B5EF4-FFF2-40B4-BE49-F238E27FC236}">
                <a16:creationId xmlns:a16="http://schemas.microsoft.com/office/drawing/2014/main" id="{8825E84B-323B-49D9-8108-437BE039C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646273" y="6312273"/>
            <a:ext cx="545727" cy="545727"/>
          </a:xfrm>
          <a:prstGeom xmlns:a="http://schemas.openxmlformats.org/drawingml/2006/main" prst="diamond">
            <a:avLst/>
          </a:prstGeom>
          <a:gradFill xmlns:a="http://schemas.openxmlformats.org/drawingml/2006/main">
            <a:gsLst>
              <a:gs pos="100000">
                <a:srgbClr val="C8282A"/>
              </a:gs>
              <a:gs pos="0">
                <a:srgbClr val="194779"/>
              </a:gs>
            </a:gsLst>
            <a:lin ang="18900000" scaled="0"/>
          </a:gradFill>
          <a:ln xmlns:a="http://schemas.openxmlformats.org/drawingml/2006/main">
            <a:noFill/>
          </a:ln>
          <a:effectLst xmlns:a="http://schemas.openxmlformats.org/drawingml/2006/main">
            <a:outerShdw blurRad="127000" dist="38100" dir="2700000" algn="ctr">
              <a:srgbClr val="000000">
                <a:alpha val="45000"/>
              </a:srgb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DengXian"/>
              <a:ea typeface="DengXian"/>
              <a:cs typeface="DengXian"/>
            </a:endParaR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C092C980-ED75-4D29-A46B-D4C2D5D83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79448" y="6438719"/>
            <a:ext cx="320922" cy="338554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glow rad="63500">
              <a:schemeClr val="accent3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600">
                <a:solidFill>
                  <a:prstClr val="white"/>
                </a:solidFill>
                <a:latin typeface="Arial Black"/>
                <a:ea typeface="Arial Black"/>
                <a:cs typeface="Arial Black"/>
              </a:rPr>
              <a:t>21</a:t>
            </a:r>
            <a:endParaRPr sz="1600" b="0" i="0" u="none" kern="1200" cap="none" spc="0" baseline="0">
              <a:ln>
                <a:noFill/>
              </a:ln>
              <a:solidFill>
                <a:prstClr val="white"/>
              </a:solidFill>
              <a:latin typeface="Arial Black"/>
              <a:ea typeface="Arial Black"/>
              <a:cs typeface="Arial Black"/>
            </a:endParaRP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5E3D2DBA-49E9-4CCC-954E-E5F077021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7771"/>
            <a:ext cx="12192000" cy="58404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00000">
                <a:schemeClr val="bg1"/>
              </a:gs>
              <a:gs pos="18000">
                <a:srgbClr val="813789"/>
              </a:gs>
              <a:gs pos="0">
                <a:srgbClr val="813789"/>
              </a:gs>
            </a:gsLst>
            <a:lin ang="270000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56" name="图片 3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ee7076660d41d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73387" y="11991"/>
            <a:ext cx="1676015" cy="655780"/>
          </a:xfrm>
          <a:prstGeom xmlns:a="http://schemas.openxmlformats.org/drawingml/2006/main" prst="rect">
            <a:avLst/>
          </a:prstGeom>
        </p:spPr>
      </p:pic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CA205373-4581-4B3B-B4F7-9D33498BF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860" y="200660"/>
            <a:ext cx="5683885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25400" dist="25400" dir="2700000" algn="tl" rotWithShape="0">
              <a:prstClr val="black">
                <a:alpha val="46000"/>
              </a:prstClr>
            </a:outerShdw>
          </a:effectLst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>
                <a:solidFill>
                  <a:srgbClr val="813789"/>
                </a:solidFill>
                <a:latin typeface="Arial"/>
                <a:ea typeface="Arial"/>
                <a:cs typeface="Arial"/>
              </a:rPr>
              <a:t>Everyday Monitoring &amp; Adaptive Support</a:t>
            </a:r>
            <a:endParaRPr sz="2400" b="1" i="0" u="none" kern="1200" cap="none" spc="0" baseline="0">
              <a:ln>
                <a:noFill/>
              </a:ln>
              <a:solidFill>
                <a:srgbClr val="81378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77E6F11E-B04D-4DB9-982C-23761098E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76225"/>
            <a:ext cx="5599430" cy="398780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25400" dist="25400" dir="2700000" algn="tl" rotWithShape="0">
              <a:prstClr val="black">
                <a:alpha val="46000"/>
              </a:prstClr>
            </a:outerShdw>
          </a:effectLst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000" b="1">
                <a:ln>
                  <a:noFill/>
                </a:ln>
                <a:solidFill>
                  <a:srgbClr val="813789"/>
                </a:solidFill>
                <a:latin typeface="Arial"/>
                <a:ea typeface="Arial"/>
                <a:cs typeface="Arial"/>
              </a:rPr>
              <a:t>3.0 Meaning and loop</a:t>
            </a:r>
            <a:endParaRPr sz="2000" b="1" i="0" u="none" kern="1200" cap="none" spc="0" baseline="0">
              <a:ln>
                <a:noFill/>
              </a:ln>
              <a:solidFill>
                <a:srgbClr val="81378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34F4499-80B5-472D-A2A2-7B00C0054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742950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5212A"/>
                </a:solidFill>
                <a:latin typeface="等线"/>
                <a:ea typeface="等线"/>
                <a:cs typeface="等线"/>
              </a:defRPr>
            </a:pPr>
            <a:r>
              <a:rPr sz="2100" b="1">
                <a:solidFill>
                  <a:srgbClr val="25212A"/>
                </a:solidFill>
                <a:latin typeface="等线"/>
                <a:ea typeface="等线"/>
                <a:cs typeface="等线"/>
              </a:rPr>
              <a:t>日常具身监测：从连续感知到主动确认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0EAF1F2-5BB1-48A8-8C37-081F3BAC8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162050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B1A6E"/>
                </a:solidFill>
                <a:latin typeface="等线"/>
                <a:ea typeface="等线"/>
                <a:cs typeface="等线"/>
              </a:defRPr>
            </a:pPr>
            <a:r>
              <a:rPr sz="1500" b="1">
                <a:solidFill>
                  <a:srgbClr val="5B1A6E"/>
                </a:solidFill>
                <a:latin typeface="等线"/>
                <a:ea typeface="等线"/>
                <a:cs typeface="等线"/>
              </a:rPr>
              <a:t>连续感知只有在异常能触发新的测量、询问、设备调整或升级时，才接近具身诊断。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D5847BB-3288-49DE-85A4-A982477C8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00250"/>
            <a:ext cx="23622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DC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DC1DDCD-FD45-4CA6-B58D-979505F11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000250"/>
            <a:ext cx="23622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DE3F1"/>
          </a:solidFill>
          <a:ln xmlns:a="http://schemas.openxmlformats.org/drawingml/2006/main" w="9525">
            <a:solidFill>
              <a:srgbClr val="7A3E8E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9B2B390-C373-4F7C-8C95-AD730663F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000250"/>
            <a:ext cx="23622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DC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731AD96-50F0-48FC-B916-3F6F1432F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000250"/>
            <a:ext cx="23622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DC"/>
            </a:solidFill>
            <a:prstDash val="solid"/>
          </a:ln>
        </p:spPr>
      </p:sp>
      <p:cxnSp>
        <p:nvCxnSpPr>
          <p:cNvPr id="65" name=""/>
          <p:cNvCxnSpPr>
            <a:stCxn xmlns:a="http://schemas.openxmlformats.org/drawingml/2006/main" id="38" idx="3"/>
            <a:endCxn xmlns:a="http://schemas.openxmlformats.org/drawingml/2006/main" id="39" idx="1"/>
          </p:cNvCxnSpPr>
          <p:nvPr/>
        </p:nvCxnSpPr>
        <p:spPr>
          <a:xfrm xmlns:a="http://schemas.openxmlformats.org/drawingml/2006/main">
            <a:off x="2914650" y="243840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A3E8E"/>
            </a:solidFill>
            <a:prstDash val="solid"/>
            <a:headEnd type="triangle" w="sm" len="sm"/>
          </a:ln>
        </p:spPr>
      </p:cxnSp>
      <p:cxnSp>
        <p:nvCxnSpPr>
          <p:cNvPr id="66" name=""/>
          <p:cNvCxnSpPr>
            <a:stCxn xmlns:a="http://schemas.openxmlformats.org/drawingml/2006/main" id="39" idx="3"/>
            <a:endCxn xmlns:a="http://schemas.openxmlformats.org/drawingml/2006/main" id="40" idx="1"/>
          </p:cNvCxnSpPr>
          <p:nvPr/>
        </p:nvCxnSpPr>
        <p:spPr>
          <a:xfrm xmlns:a="http://schemas.openxmlformats.org/drawingml/2006/main">
            <a:off x="5638800" y="243840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A3E8E"/>
            </a:solidFill>
            <a:prstDash val="solid"/>
            <a:headEnd type="triangle" w="sm" len="sm"/>
          </a:ln>
        </p:spPr>
      </p:cxnSp>
      <p:cxnSp>
        <p:nvCxnSpPr>
          <p:cNvPr id="67" name=""/>
          <p:cNvCxnSpPr>
            <a:stCxn xmlns:a="http://schemas.openxmlformats.org/drawingml/2006/main" id="40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>
            <a:off x="8362950" y="243840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A3E8E"/>
            </a:solidFill>
            <a:prstDash val="solid"/>
            <a:headEnd type="triangle" w="sm" len="sm"/>
          </a:ln>
        </p:spPr>
      </p:cxn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9D05DBB-5543-4F2F-890A-E61476A7A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85975"/>
            <a:ext cx="2171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5212A"/>
                </a:solidFill>
                <a:latin typeface="等线"/>
                <a:ea typeface="等线"/>
                <a:cs typeface="等线"/>
              </a:defRPr>
            </a:pPr>
            <a:r>
              <a:rPr sz="1500" b="1">
                <a:solidFill>
                  <a:srgbClr val="25212A"/>
                </a:solidFill>
                <a:latin typeface="等线"/>
                <a:ea typeface="等线"/>
                <a:cs typeface="等线"/>
              </a:rPr>
              <a:t>1</a:t>
            </a:r>
          </a:p>
          <a:p xmlns:a="http://schemas.openxmlformats.org/drawingml/2006/main">
            <a:pPr algn="ctr">
              <a:defRPr sz="1500" b="1">
                <a:solidFill>
                  <a:srgbClr val="25212A"/>
                </a:solidFill>
                <a:latin typeface="等线"/>
                <a:ea typeface="等线"/>
                <a:cs typeface="等线"/>
              </a:defRPr>
            </a:pPr>
            <a:r>
              <a:rPr sz="1500" b="1">
                <a:solidFill>
                  <a:srgbClr val="25212A"/>
                </a:solidFill>
                <a:latin typeface="等线"/>
                <a:ea typeface="等线"/>
                <a:cs typeface="等线"/>
              </a:rPr>
              <a:t>家庭/可穿戴连续感知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974DE69-0925-4D68-875A-B2114869C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085975"/>
            <a:ext cx="2171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B1A6E"/>
                </a:solidFill>
                <a:latin typeface="等线"/>
                <a:ea typeface="等线"/>
                <a:cs typeface="等线"/>
              </a:defRPr>
            </a:pPr>
            <a:r>
              <a:rPr sz="1500" b="1">
                <a:solidFill>
                  <a:srgbClr val="5B1A6E"/>
                </a:solidFill>
                <a:latin typeface="等线"/>
                <a:ea typeface="等线"/>
                <a:cs typeface="等线"/>
              </a:rPr>
              <a:t>2</a:t>
            </a:r>
          </a:p>
          <a:p xmlns:a="http://schemas.openxmlformats.org/drawingml/2006/main">
            <a:pPr algn="ctr">
              <a:defRPr sz="1500" b="1">
                <a:solidFill>
                  <a:srgbClr val="5B1A6E"/>
                </a:solidFill>
                <a:latin typeface="等线"/>
                <a:ea typeface="等线"/>
                <a:cs typeface="等线"/>
              </a:defRPr>
            </a:pPr>
            <a:r>
              <a:rPr sz="1500" b="1">
                <a:solidFill>
                  <a:srgbClr val="5B1A6E"/>
                </a:solidFill>
                <a:latin typeface="等线"/>
                <a:ea typeface="等线"/>
                <a:cs typeface="等线"/>
              </a:rPr>
              <a:t>个体状态与不确定性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E20ADB5-0B1F-4706-B03A-1E01ECA8D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85975"/>
            <a:ext cx="2171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5212A"/>
                </a:solidFill>
                <a:latin typeface="等线"/>
                <a:ea typeface="等线"/>
                <a:cs typeface="等线"/>
              </a:defRPr>
            </a:pPr>
            <a:r>
              <a:rPr sz="1500" b="1">
                <a:solidFill>
                  <a:srgbClr val="25212A"/>
                </a:solidFill>
                <a:latin typeface="等线"/>
                <a:ea typeface="等线"/>
                <a:cs typeface="等线"/>
              </a:rPr>
              <a:t>3</a:t>
            </a:r>
          </a:p>
          <a:p xmlns:a="http://schemas.openxmlformats.org/drawingml/2006/main">
            <a:pPr algn="ctr">
              <a:defRPr sz="1500" b="1">
                <a:solidFill>
                  <a:srgbClr val="25212A"/>
                </a:solidFill>
                <a:latin typeface="等线"/>
                <a:ea typeface="等线"/>
                <a:cs typeface="等线"/>
              </a:defRPr>
            </a:pPr>
            <a:r>
              <a:rPr sz="1500" b="1">
                <a:solidFill>
                  <a:srgbClr val="25212A"/>
                </a:solidFill>
                <a:latin typeface="等线"/>
                <a:ea typeface="等线"/>
                <a:cs typeface="等线"/>
              </a:rPr>
              <a:t>主动确认/改变采样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61B0751-C601-4AD4-89B5-5459DDDAE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085975"/>
            <a:ext cx="2171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5212A"/>
                </a:solidFill>
                <a:latin typeface="等线"/>
                <a:ea typeface="等线"/>
                <a:cs typeface="等线"/>
              </a:defRPr>
            </a:pPr>
            <a:r>
              <a:rPr sz="1500" b="1">
                <a:solidFill>
                  <a:srgbClr val="25212A"/>
                </a:solidFill>
                <a:latin typeface="等线"/>
                <a:ea typeface="等线"/>
                <a:cs typeface="等线"/>
              </a:rPr>
              <a:t>4</a:t>
            </a:r>
          </a:p>
          <a:p xmlns:a="http://schemas.openxmlformats.org/drawingml/2006/main">
            <a:pPr algn="ctr">
              <a:defRPr sz="1500" b="1">
                <a:solidFill>
                  <a:srgbClr val="25212A"/>
                </a:solidFill>
                <a:latin typeface="等线"/>
                <a:ea typeface="等线"/>
                <a:cs typeface="等线"/>
              </a:defRPr>
            </a:pPr>
            <a:r>
              <a:rPr sz="1500" b="1">
                <a:solidFill>
                  <a:srgbClr val="25212A"/>
                </a:solidFill>
                <a:latin typeface="等线"/>
                <a:ea typeface="等线"/>
                <a:cs typeface="等线"/>
              </a:rPr>
              <a:t>新证据→继续监测或升级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EC7E586-93A6-4731-8A4A-D047904A9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067050"/>
            <a:ext cx="8172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A3E8E"/>
            </a:solidFill>
            <a:prstDash val="dash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9391FE2-8C9E-43FD-AE63-91E31046D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00500"/>
            <a:ext cx="10325100" cy="1009650"/>
          </a:xfrm>
          <a:prstGeom xmlns:a="http://schemas.openxmlformats.org/drawingml/2006/main" prst="roundRect">
            <a:avLst>
              <a:gd name="adj" fmla="val 16981"/>
            </a:avLst>
          </a:prstGeom>
          <a:solidFill xmlns:a="http://schemas.openxmlformats.org/drawingml/2006/main">
            <a:srgbClr val="F4EDF7"/>
          </a:solidFill>
          <a:ln xmlns:a="http://schemas.openxmlformats.org/drawingml/2006/main" w="9525">
            <a:solidFill>
              <a:srgbClr val="7A3E8E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02A9325-10D9-4CED-B53F-19B50940E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152900"/>
            <a:ext cx="9810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B1A6E"/>
                </a:solidFill>
                <a:latin typeface="等线"/>
                <a:ea typeface="等线"/>
                <a:cs typeface="等线"/>
              </a:defRPr>
            </a:pPr>
            <a:r>
              <a:rPr sz="1500" b="1">
                <a:solidFill>
                  <a:srgbClr val="5B1A6E"/>
                </a:solidFill>
                <a:latin typeface="等线"/>
                <a:ea typeface="等线"/>
                <a:cs typeface="等线"/>
              </a:rPr>
              <a:t>静态风险评分与报警仍是支撑技术；行动多由患者或临床人员执行，应如实标注人类角色。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80E89B6-57FE-401E-8FCC-BE84352CC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381625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A23B55"/>
                </a:solidFill>
                <a:latin typeface="等线"/>
                <a:ea typeface="等线"/>
                <a:cs typeface="等线"/>
              </a:defRPr>
            </a:pPr>
            <a:r>
              <a:rPr sz="1575" b="1">
                <a:solidFill>
                  <a:srgbClr val="A23B55"/>
                </a:solidFill>
                <a:latin typeface="等线"/>
                <a:ea typeface="等线"/>
                <a:cs typeface="等线"/>
              </a:rPr>
              <a:t>反馈必须改变下一动作</a:t>
            </a:r>
          </a:p>
        </p:txBody>
      </p:sp>
    </p:spTree>
    <p:extLst>
      <p:ext uri="{BB962C8B-B14F-4D97-AF65-F5344CB8AC3E}">
        <p14:creationId xmlns:p14="http://schemas.microsoft.com/office/powerpoint/2010/main" val="2025121370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菱形 6">
            <a:extLst xmlns:a="http://schemas.openxmlformats.org/drawingml/2006/main">
              <a:ext uri="{FF2B5EF4-FFF2-40B4-BE49-F238E27FC236}">
                <a16:creationId xmlns:a16="http://schemas.microsoft.com/office/drawing/2014/main" id="{8825E84B-323B-49D9-8108-437BE039C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646273" y="6312273"/>
            <a:ext cx="545727" cy="545727"/>
          </a:xfrm>
          <a:prstGeom xmlns:a="http://schemas.openxmlformats.org/drawingml/2006/main" prst="diamond">
            <a:avLst/>
          </a:prstGeom>
          <a:gradFill xmlns:a="http://schemas.openxmlformats.org/drawingml/2006/main">
            <a:gsLst>
              <a:gs pos="100000">
                <a:srgbClr val="C8282A"/>
              </a:gs>
              <a:gs pos="0">
                <a:srgbClr val="194779"/>
              </a:gs>
            </a:gsLst>
            <a:lin ang="18900000" scaled="0"/>
          </a:gradFill>
          <a:ln xmlns:a="http://schemas.openxmlformats.org/drawingml/2006/main">
            <a:noFill/>
          </a:ln>
          <a:effectLst xmlns:a="http://schemas.openxmlformats.org/drawingml/2006/main">
            <a:outerShdw blurRad="127000" dist="38100" dir="2700000" algn="ctr">
              <a:srgbClr val="000000">
                <a:alpha val="45000"/>
              </a:srgb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DengXian"/>
              <a:ea typeface="DengXian"/>
              <a:cs typeface="DengXian"/>
            </a:endParaR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C092C980-ED75-4D29-A46B-D4C2D5D83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79448" y="6438719"/>
            <a:ext cx="320922" cy="338554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glow rad="63500">
              <a:schemeClr val="accent3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600">
                <a:solidFill>
                  <a:prstClr val="white"/>
                </a:solidFill>
                <a:latin typeface="Arial Black"/>
                <a:ea typeface="Arial Black"/>
                <a:cs typeface="Arial Black"/>
              </a:rPr>
              <a:t>22</a:t>
            </a:r>
            <a:endParaRPr sz="1600" b="0" i="0" u="none" kern="1200" cap="none" spc="0" baseline="0">
              <a:ln>
                <a:noFill/>
              </a:ln>
              <a:solidFill>
                <a:prstClr val="white"/>
              </a:solidFill>
              <a:latin typeface="Arial Black"/>
              <a:ea typeface="Arial Black"/>
              <a:cs typeface="Arial Black"/>
            </a:endParaRP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5E3D2DBA-49E9-4CCC-954E-E5F077021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7771"/>
            <a:ext cx="12192000" cy="58404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00000">
                <a:schemeClr val="bg1"/>
              </a:gs>
              <a:gs pos="18000">
                <a:srgbClr val="813789"/>
              </a:gs>
              <a:gs pos="0">
                <a:srgbClr val="813789"/>
              </a:gs>
            </a:gsLst>
            <a:lin ang="270000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60" name="图片 3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cceae1114c414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73387" y="11991"/>
            <a:ext cx="1676015" cy="655780"/>
          </a:xfrm>
          <a:prstGeom xmlns:a="http://schemas.openxmlformats.org/drawingml/2006/main" prst="rect">
            <a:avLst/>
          </a:prstGeom>
        </p:spPr>
      </p:pic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CA205373-4581-4B3B-B4F7-9D33498BF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860" y="200660"/>
            <a:ext cx="5683885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25400" dist="25400" dir="2700000" algn="tl" rotWithShape="0">
              <a:prstClr val="black">
                <a:alpha val="46000"/>
              </a:prstClr>
            </a:outerShdw>
          </a:effectLst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>
                <a:solidFill>
                  <a:srgbClr val="813789"/>
                </a:solidFill>
                <a:latin typeface="Arial"/>
                <a:ea typeface="Arial"/>
                <a:cs typeface="Arial"/>
              </a:rPr>
              <a:t>Everyday Monitoring &amp; Adaptive Support</a:t>
            </a:r>
            <a:endParaRPr sz="2400" b="1" i="0" u="none" kern="1200" cap="none" spc="0" baseline="0">
              <a:ln>
                <a:noFill/>
              </a:ln>
              <a:solidFill>
                <a:srgbClr val="81378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77E6F11E-B04D-4DB9-982C-23761098E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76225"/>
            <a:ext cx="5599430" cy="398780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25400" dist="25400" dir="2700000" algn="tl" rotWithShape="0">
              <a:prstClr val="black">
                <a:alpha val="46000"/>
              </a:prstClr>
            </a:outerShdw>
          </a:effectLst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000" b="1">
                <a:ln>
                  <a:noFill/>
                </a:ln>
                <a:solidFill>
                  <a:srgbClr val="813789"/>
                </a:solidFill>
                <a:latin typeface="Arial"/>
                <a:ea typeface="Arial"/>
                <a:cs typeface="Arial"/>
              </a:rPr>
              <a:t>3.1 Evidence landscape</a:t>
            </a:r>
            <a:endParaRPr sz="2000" b="1" i="0" u="none" kern="1200" cap="none" spc="0" baseline="0">
              <a:ln>
                <a:noFill/>
              </a:ln>
              <a:solidFill>
                <a:srgbClr val="81378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24B6584-3C5D-4842-A09F-ED7BF6548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742950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5212A"/>
                </a:solidFill>
                <a:latin typeface="等线"/>
                <a:ea typeface="等线"/>
                <a:cs typeface="等线"/>
              </a:defRPr>
            </a:pPr>
            <a:r>
              <a:rPr sz="2100" b="1">
                <a:solidFill>
                  <a:srgbClr val="25212A"/>
                </a:solidFill>
                <a:latin typeface="等线"/>
                <a:ea typeface="等线"/>
                <a:cs typeface="等线"/>
              </a:rPr>
              <a:t>日常监测：已有证据与闭环缺口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8918ED8-7439-4230-9724-9C4CDD596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162050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B1A6E"/>
                </a:solidFill>
                <a:latin typeface="等线"/>
                <a:ea typeface="等线"/>
                <a:cs typeface="等线"/>
              </a:defRPr>
            </a:pPr>
            <a:r>
              <a:rPr sz="1500" b="1">
                <a:solidFill>
                  <a:srgbClr val="5B1A6E"/>
                </a:solidFill>
                <a:latin typeface="等线"/>
                <a:ea typeface="等线"/>
                <a:cs typeface="等线"/>
              </a:rPr>
              <a:t>大规模纵向研究证明“可感知”，但大多数闭环仍停在通知与人工确认。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B61564D-5BE9-4040-A4F5-033E1086F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66875"/>
            <a:ext cx="10687050" cy="942975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4EDF7"/>
          </a:solidFill>
          <a:ln xmlns:a="http://schemas.openxmlformats.org/drawingml/2006/main" w="9525">
            <a:solidFill>
              <a:srgbClr val="7A3E8E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45E910C-7769-4CAE-A0E0-BAF662924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1952625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B1A6E"/>
          </a:solidFill>
          <a:ln xmlns:a="http://schemas.openxmlformats.org/drawingml/2006/main" w="9525">
            <a:solidFill>
              <a:srgbClr val="5B1A6E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721EEB9-7B0C-4862-94E7-57F24404A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等线"/>
                <a:ea typeface="等线"/>
                <a:cs typeface="等线"/>
              </a:defRPr>
            </a:pPr>
            <a:r>
              <a:rPr sz="1050" b="1">
                <a:solidFill>
                  <a:srgbClr val="FFFFFF"/>
                </a:solidFill>
                <a:latin typeface="等线"/>
                <a:ea typeface="等线"/>
                <a:cs typeface="等线"/>
              </a:rPr>
              <a:t>Apple Heart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662E939-43B4-4BCA-8EEA-115BB6B1D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762125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5B1A6E"/>
                </a:solidFill>
                <a:latin typeface="等线"/>
                <a:ea typeface="等线"/>
                <a:cs typeface="等线"/>
              </a:defRPr>
            </a:pPr>
            <a:r>
              <a:rPr sz="1725" b="1">
                <a:solidFill>
                  <a:srgbClr val="5B1A6E"/>
                </a:solidFill>
                <a:latin typeface="等线"/>
                <a:ea typeface="等线"/>
                <a:cs typeface="等线"/>
              </a:rPr>
              <a:t>419,297 人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3099A4B-6BD7-40B1-81DA-8CC023C2D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62125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212A"/>
                </a:solidFill>
                <a:latin typeface="等线"/>
                <a:ea typeface="等线"/>
                <a:cs typeface="等线"/>
              </a:defRPr>
            </a:pPr>
            <a:r>
              <a:rPr sz="1350" b="1">
                <a:solidFill>
                  <a:srgbClr val="25212A"/>
                </a:solidFill>
                <a:latin typeface="等线"/>
                <a:ea typeface="等线"/>
                <a:cs typeface="等线"/>
              </a:rPr>
              <a:t>0.52% 收到通知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CC694E1-949F-435D-93A4-7B844ABA8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762125"/>
            <a:ext cx="371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D6672"/>
                </a:solidFill>
                <a:latin typeface="等线"/>
                <a:ea typeface="等线"/>
                <a:cs typeface="等线"/>
              </a:defRPr>
            </a:pPr>
            <a:r>
              <a:rPr sz="1275" b="0">
                <a:solidFill>
                  <a:srgbClr val="6D6672"/>
                </a:solidFill>
                <a:latin typeface="等线"/>
                <a:ea typeface="等线"/>
                <a:cs typeface="等线"/>
              </a:rPr>
              <a:t>通知→远程问诊→邮寄 ECG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8EF9E64-9298-423B-9AFD-9B6F1CB46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67025"/>
            <a:ext cx="10687050" cy="942975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DC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DAB23F1-76DC-4846-B788-5DBA60349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38475"/>
            <a:ext cx="1952625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569A8"/>
          </a:solidFill>
          <a:ln xmlns:a="http://schemas.openxmlformats.org/drawingml/2006/main" w="9525">
            <a:solidFill>
              <a:srgbClr val="3569A8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63EF1C6-568A-4E43-A94F-BCCF4472D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38475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等线"/>
                <a:ea typeface="等线"/>
                <a:cs typeface="等线"/>
              </a:defRPr>
            </a:pPr>
            <a:r>
              <a:rPr sz="1050" b="1">
                <a:solidFill>
                  <a:srgbClr val="FFFFFF"/>
                </a:solidFill>
                <a:latin typeface="等线"/>
                <a:ea typeface="等线"/>
                <a:cs typeface="等线"/>
              </a:rPr>
              <a:t>夜间呼吸识别 PD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2E113F4-834B-4767-947A-3191BFBF1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962275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5B1A6E"/>
                </a:solidFill>
                <a:latin typeface="等线"/>
                <a:ea typeface="等线"/>
                <a:cs typeface="等线"/>
              </a:defRPr>
            </a:pPr>
            <a:r>
              <a:rPr sz="1725" b="1">
                <a:solidFill>
                  <a:srgbClr val="5B1A6E"/>
                </a:solidFill>
                <a:latin typeface="等线"/>
                <a:ea typeface="等线"/>
                <a:cs typeface="等线"/>
              </a:rPr>
              <a:t>7,671 人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E83C0DB-A283-4013-AD32-9B8FAA02D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962275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212A"/>
                </a:solidFill>
                <a:latin typeface="等线"/>
                <a:ea typeface="等线"/>
                <a:cs typeface="等线"/>
              </a:defRPr>
            </a:pPr>
            <a:r>
              <a:rPr sz="1350" b="1">
                <a:solidFill>
                  <a:srgbClr val="25212A"/>
                </a:solidFill>
                <a:latin typeface="等线"/>
                <a:ea typeface="等线"/>
                <a:cs typeface="等线"/>
              </a:rPr>
              <a:t>AUC 0.90 / 外部 0.85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AF7EBA9-F2FF-4A77-9200-9A4A5BF64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962275"/>
            <a:ext cx="371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D6672"/>
                </a:solidFill>
                <a:latin typeface="等线"/>
                <a:ea typeface="等线"/>
                <a:cs typeface="等线"/>
              </a:defRPr>
            </a:pPr>
            <a:r>
              <a:rPr sz="1275" b="0">
                <a:solidFill>
                  <a:srgbClr val="6D6672"/>
                </a:solidFill>
                <a:latin typeface="等线"/>
                <a:ea typeface="等线"/>
                <a:cs typeface="等线"/>
              </a:rPr>
              <a:t>强监测；无自适应行动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0B1F441-4F00-4F90-ABF4-77B94FC17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67175"/>
            <a:ext cx="10687050" cy="942975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DC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66881EA-6D15-41B4-ACE1-F0A8554BA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38625"/>
            <a:ext cx="1952625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D65"/>
          </a:solidFill>
          <a:ln xmlns:a="http://schemas.openxmlformats.org/drawingml/2006/main" w="9525">
            <a:solidFill>
              <a:srgbClr val="2E7D6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9BC5E23-A38E-4642-9470-2A85F2B6F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38625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等线"/>
                <a:ea typeface="等线"/>
                <a:cs typeface="等线"/>
              </a:defRPr>
            </a:pPr>
            <a:r>
              <a:rPr sz="1050" b="1">
                <a:solidFill>
                  <a:srgbClr val="FFFFFF"/>
                </a:solidFill>
                <a:latin typeface="等线"/>
                <a:ea typeface="等线"/>
                <a:cs typeface="等线"/>
              </a:rPr>
              <a:t>智能表症状前 COVID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4253F83-1A97-47F1-ABD3-C79346246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162425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5B1A6E"/>
                </a:solidFill>
                <a:latin typeface="等线"/>
                <a:ea typeface="等线"/>
                <a:cs typeface="等线"/>
              </a:defRPr>
            </a:pPr>
            <a:r>
              <a:rPr sz="1725" b="1">
                <a:solidFill>
                  <a:srgbClr val="5B1A6E"/>
                </a:solidFill>
                <a:latin typeface="等线"/>
                <a:ea typeface="等线"/>
                <a:cs typeface="等线"/>
              </a:rPr>
              <a:t>个体基线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6D5EAD6-2E61-47C2-94F6-BCC499D93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162425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212A"/>
                </a:solidFill>
                <a:latin typeface="等线"/>
                <a:ea typeface="等线"/>
                <a:cs typeface="等线"/>
              </a:defRPr>
            </a:pPr>
            <a:r>
              <a:rPr sz="1350" b="1">
                <a:solidFill>
                  <a:srgbClr val="25212A"/>
                </a:solidFill>
                <a:latin typeface="等线"/>
                <a:ea typeface="等线"/>
                <a:cs typeface="等线"/>
              </a:rPr>
              <a:t>异常可先于症状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8C9310F-F3C7-4AE8-9473-15A3C5EB6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162425"/>
            <a:ext cx="371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D6672"/>
                </a:solidFill>
                <a:latin typeface="等线"/>
                <a:ea typeface="等线"/>
                <a:cs typeface="等线"/>
              </a:defRPr>
            </a:pPr>
            <a:r>
              <a:rPr sz="1275" b="0">
                <a:solidFill>
                  <a:srgbClr val="6D6672"/>
                </a:solidFill>
                <a:latin typeface="等线"/>
                <a:ea typeface="等线"/>
                <a:cs typeface="等线"/>
              </a:rPr>
              <a:t>回顾性状态估计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F04066C-6CFC-4BF0-9EA2-2A09AF948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53100"/>
            <a:ext cx="10810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D6672"/>
                </a:solidFill>
                <a:latin typeface="等线"/>
                <a:ea typeface="等线"/>
                <a:cs typeface="等线"/>
              </a:defRPr>
            </a:pPr>
            <a:r>
              <a:rPr sz="1200" b="0">
                <a:solidFill>
                  <a:srgbClr val="6D6672"/>
                </a:solidFill>
                <a:latin typeface="等线"/>
                <a:ea typeface="等线"/>
                <a:cs typeface="等线"/>
              </a:rPr>
              <a:t>成熟度不能只看样本量：关键是异常后是否获得可验证的新证据，以及行动由谁承担。</a:t>
            </a:r>
          </a:p>
        </p:txBody>
      </p:sp>
    </p:spTree>
    <p:extLst>
      <p:ext uri="{BB962C8B-B14F-4D97-AF65-F5344CB8AC3E}">
        <p14:creationId xmlns:p14="http://schemas.microsoft.com/office/powerpoint/2010/main" val="2025121370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菱形 6">
            <a:extLst xmlns:a="http://schemas.openxmlformats.org/drawingml/2006/main">
              <a:ext uri="{FF2B5EF4-FFF2-40B4-BE49-F238E27FC236}">
                <a16:creationId xmlns:a16="http://schemas.microsoft.com/office/drawing/2014/main" id="{8825E84B-323B-49D9-8108-437BE039C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646273" y="6312273"/>
            <a:ext cx="545727" cy="545727"/>
          </a:xfrm>
          <a:prstGeom xmlns:a="http://schemas.openxmlformats.org/drawingml/2006/main" prst="diamond">
            <a:avLst/>
          </a:prstGeom>
          <a:gradFill xmlns:a="http://schemas.openxmlformats.org/drawingml/2006/main">
            <a:gsLst>
              <a:gs pos="100000">
                <a:srgbClr val="C8282A"/>
              </a:gs>
              <a:gs pos="0">
                <a:srgbClr val="194779"/>
              </a:gs>
            </a:gsLst>
            <a:lin ang="18900000" scaled="0"/>
          </a:gradFill>
          <a:ln xmlns:a="http://schemas.openxmlformats.org/drawingml/2006/main">
            <a:noFill/>
          </a:ln>
          <a:effectLst xmlns:a="http://schemas.openxmlformats.org/drawingml/2006/main">
            <a:outerShdw blurRad="127000" dist="38100" dir="2700000" algn="ctr">
              <a:srgbClr val="000000">
                <a:alpha val="45000"/>
              </a:srgb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DengXian"/>
              <a:ea typeface="DengXian"/>
              <a:cs typeface="DengXian"/>
            </a:endParaR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C092C980-ED75-4D29-A46B-D4C2D5D83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79448" y="6438719"/>
            <a:ext cx="320922" cy="338554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glow rad="63500">
              <a:schemeClr val="accent3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600">
                <a:solidFill>
                  <a:prstClr val="white"/>
                </a:solidFill>
                <a:latin typeface="Arial Black"/>
                <a:ea typeface="Arial Black"/>
                <a:cs typeface="Arial Black"/>
              </a:rPr>
              <a:t>23</a:t>
            </a:r>
            <a:endParaRPr sz="1600" b="0" i="0" u="none" kern="1200" cap="none" spc="0" baseline="0">
              <a:ln>
                <a:noFill/>
              </a:ln>
              <a:solidFill>
                <a:prstClr val="white"/>
              </a:solidFill>
              <a:latin typeface="Arial Black"/>
              <a:ea typeface="Arial Black"/>
              <a:cs typeface="Arial Black"/>
            </a:endParaRP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5E3D2DBA-49E9-4CCC-954E-E5F077021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7771"/>
            <a:ext cx="12192000" cy="58404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00000">
                <a:schemeClr val="bg1"/>
              </a:gs>
              <a:gs pos="18000">
                <a:srgbClr val="813789"/>
              </a:gs>
              <a:gs pos="0">
                <a:srgbClr val="813789"/>
              </a:gs>
            </a:gsLst>
            <a:lin ang="270000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65" name="图片 3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d7e88605c14d0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73387" y="11991"/>
            <a:ext cx="1676015" cy="655780"/>
          </a:xfrm>
          <a:prstGeom xmlns:a="http://schemas.openxmlformats.org/drawingml/2006/main" prst="rect">
            <a:avLst/>
          </a:prstGeom>
        </p:spPr>
      </p:pic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CA205373-4581-4B3B-B4F7-9D33498BF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860" y="200660"/>
            <a:ext cx="5683885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25400" dist="25400" dir="2700000" algn="tl" rotWithShape="0">
              <a:prstClr val="black">
                <a:alpha val="46000"/>
              </a:prstClr>
            </a:outerShdw>
          </a:effectLst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>
                <a:solidFill>
                  <a:srgbClr val="813789"/>
                </a:solidFill>
                <a:latin typeface="Arial"/>
                <a:ea typeface="Arial"/>
                <a:cs typeface="Arial"/>
              </a:rPr>
              <a:t>Everyday Monitoring &amp; Adaptive Support</a:t>
            </a:r>
            <a:endParaRPr sz="2400" b="1" i="0" u="none" kern="1200" cap="none" spc="0" baseline="0">
              <a:ln>
                <a:noFill/>
              </a:ln>
              <a:solidFill>
                <a:srgbClr val="81378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77E6F11E-B04D-4DB9-982C-23761098E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76225"/>
            <a:ext cx="5599430" cy="398780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25400" dist="25400" dir="2700000" algn="tl" rotWithShape="0">
              <a:prstClr val="black">
                <a:alpha val="46000"/>
              </a:prstClr>
            </a:outerShdw>
          </a:effectLst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000" b="1">
                <a:ln>
                  <a:noFill/>
                </a:ln>
                <a:solidFill>
                  <a:srgbClr val="813789"/>
                </a:solidFill>
                <a:latin typeface="Arial"/>
                <a:ea typeface="Arial"/>
                <a:cs typeface="Arial"/>
              </a:rPr>
              <a:t>3.2 Personal baselines</a:t>
            </a:r>
            <a:endParaRPr sz="2000" b="1" i="0" u="none" kern="1200" cap="none" spc="0" baseline="0">
              <a:ln>
                <a:noFill/>
              </a:ln>
              <a:solidFill>
                <a:srgbClr val="81378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A52F57F-4B48-4491-86A7-1F250DD26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742950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5212A"/>
                </a:solidFill>
                <a:latin typeface="等线"/>
                <a:ea typeface="等线"/>
                <a:cs typeface="等线"/>
              </a:defRPr>
            </a:pPr>
            <a:r>
              <a:rPr sz="2100" b="1">
                <a:solidFill>
                  <a:srgbClr val="25212A"/>
                </a:solidFill>
                <a:latin typeface="等线"/>
                <a:ea typeface="等线"/>
                <a:cs typeface="等线"/>
              </a:rPr>
              <a:t>方向一：个体基线驱动的动态状态估计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31FE3E9-C20C-4662-83DA-6B3ABA97E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162050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B1A6E"/>
                </a:solidFill>
                <a:latin typeface="等线"/>
                <a:ea typeface="等线"/>
                <a:cs typeface="等线"/>
              </a:defRPr>
            </a:pPr>
            <a:r>
              <a:rPr sz="1500" b="1">
                <a:solidFill>
                  <a:srgbClr val="5B1A6E"/>
                </a:solidFill>
                <a:latin typeface="等线"/>
                <a:ea typeface="等线"/>
                <a:cs typeface="等线"/>
              </a:rPr>
              <a:t>先问“与这个人的正常状态相比发生了什么”，再问“与群体阈值相比是否异常”。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3C90B9D-8245-46C3-A469-0CB926F3B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3333750" cy="1476375"/>
          </a:xfrm>
          <a:prstGeom xmlns:a="http://schemas.openxmlformats.org/drawingml/2006/main" prst="roundRect">
            <a:avLst>
              <a:gd name="adj" fmla="val 116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DC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444E3E9-8B5A-4F9C-81F0-6C1431CE9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5260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5B1A6E"/>
                </a:solidFill>
                <a:latin typeface="等线"/>
                <a:ea typeface="等线"/>
                <a:cs typeface="等线"/>
              </a:defRPr>
            </a:pPr>
            <a:r>
              <a:rPr sz="1575" b="1">
                <a:solidFill>
                  <a:srgbClr val="5B1A6E"/>
                </a:solidFill>
                <a:latin typeface="等线"/>
                <a:ea typeface="等线"/>
                <a:cs typeface="等线"/>
              </a:rPr>
              <a:t>个人基线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9D31DED-4B57-4FF7-A11D-F24F60D43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336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5212A"/>
                </a:solidFill>
                <a:latin typeface="等线"/>
                <a:ea typeface="等线"/>
                <a:cs typeface="等线"/>
              </a:defRPr>
            </a:pPr>
            <a:r>
              <a:rPr sz="1425" b="1">
                <a:solidFill>
                  <a:srgbClr val="25212A"/>
                </a:solidFill>
                <a:latin typeface="等线"/>
                <a:ea typeface="等线"/>
                <a:cs typeface="等线"/>
              </a:rPr>
              <a:t>多周稳定窗口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7DF7D46-3C72-47C8-B744-F82852479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908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D6672"/>
                </a:solidFill>
                <a:latin typeface="等线"/>
                <a:ea typeface="等线"/>
                <a:cs typeface="等线"/>
              </a:defRPr>
            </a:pPr>
            <a:r>
              <a:rPr sz="1200" b="0">
                <a:solidFill>
                  <a:srgbClr val="6D6672"/>
                </a:solidFill>
                <a:latin typeface="等线"/>
                <a:ea typeface="等线"/>
                <a:cs typeface="等线"/>
              </a:rPr>
              <a:t>心率/睡眠/呼吸/活动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8612AFE-BDF9-4C32-A768-1312946A0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1619250"/>
            <a:ext cx="3333750" cy="1476375"/>
          </a:xfrm>
          <a:prstGeom xmlns:a="http://schemas.openxmlformats.org/drawingml/2006/main" prst="roundRect">
            <a:avLst>
              <a:gd name="adj" fmla="val 11613"/>
            </a:avLst>
          </a:prstGeom>
          <a:solidFill xmlns:a="http://schemas.openxmlformats.org/drawingml/2006/main">
            <a:srgbClr val="F4EDF7"/>
          </a:solidFill>
          <a:ln xmlns:a="http://schemas.openxmlformats.org/drawingml/2006/main" w="9525">
            <a:solidFill>
              <a:srgbClr val="7A3E8E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EECD7B3-D1B8-4BD8-8E24-C9560B67F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75260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5B1A6E"/>
                </a:solidFill>
                <a:latin typeface="等线"/>
                <a:ea typeface="等线"/>
                <a:cs typeface="等线"/>
              </a:defRPr>
            </a:pPr>
            <a:r>
              <a:rPr sz="1575" b="1">
                <a:solidFill>
                  <a:srgbClr val="5B1A6E"/>
                </a:solidFill>
                <a:latin typeface="等线"/>
                <a:ea typeface="等线"/>
                <a:cs typeface="等线"/>
              </a:rPr>
              <a:t>偏离检测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95F98A3-851E-4B6A-B96D-140418CE4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1336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5212A"/>
                </a:solidFill>
                <a:latin typeface="等线"/>
                <a:ea typeface="等线"/>
                <a:cs typeface="等线"/>
              </a:defRPr>
            </a:pPr>
            <a:r>
              <a:rPr sz="1425" b="1">
                <a:solidFill>
                  <a:srgbClr val="25212A"/>
                </a:solidFill>
                <a:latin typeface="等线"/>
                <a:ea typeface="等线"/>
                <a:cs typeface="等线"/>
              </a:rPr>
              <a:t>区分疾病、行为、治疗与传感漂移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9DE1DEE-00CE-4E85-85AA-0A7264966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5908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D6672"/>
                </a:solidFill>
                <a:latin typeface="等线"/>
                <a:ea typeface="等线"/>
                <a:cs typeface="等线"/>
              </a:defRPr>
            </a:pPr>
            <a:r>
              <a:rPr sz="1200" b="0">
                <a:solidFill>
                  <a:srgbClr val="6D6672"/>
                </a:solidFill>
                <a:latin typeface="等线"/>
                <a:ea typeface="等线"/>
                <a:cs typeface="等线"/>
              </a:rPr>
              <a:t>动态 latent state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13484CF-D525-4A3E-99D5-CD5A1CEAA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619250"/>
            <a:ext cx="3333750" cy="1476375"/>
          </a:xfrm>
          <a:prstGeom xmlns:a="http://schemas.openxmlformats.org/drawingml/2006/main" prst="roundRect">
            <a:avLst>
              <a:gd name="adj" fmla="val 116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DC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FF4E76A-A715-4C1B-89DE-FE303D937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5260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5B1A6E"/>
                </a:solidFill>
                <a:latin typeface="等线"/>
                <a:ea typeface="等线"/>
                <a:cs typeface="等线"/>
              </a:defRPr>
            </a:pPr>
            <a:r>
              <a:rPr sz="1575" b="1">
                <a:solidFill>
                  <a:srgbClr val="5B1A6E"/>
                </a:solidFill>
                <a:latin typeface="等线"/>
                <a:ea typeface="等线"/>
                <a:cs typeface="等线"/>
              </a:rPr>
              <a:t>选择新证据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95F714F-9E87-441B-A874-44D065614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336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5212A"/>
                </a:solidFill>
                <a:latin typeface="等线"/>
                <a:ea typeface="等线"/>
                <a:cs typeface="等线"/>
              </a:defRPr>
            </a:pPr>
            <a:r>
              <a:rPr sz="1425" b="1">
                <a:solidFill>
                  <a:srgbClr val="25212A"/>
                </a:solidFill>
                <a:latin typeface="等线"/>
                <a:ea typeface="等线"/>
                <a:cs typeface="等线"/>
              </a:rPr>
              <a:t>提高频率、换模态、主动询问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1A353DF-3445-45E9-8F45-5E3DAD048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5908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D6672"/>
                </a:solidFill>
                <a:latin typeface="等线"/>
                <a:ea typeface="等线"/>
                <a:cs typeface="等线"/>
              </a:defRPr>
            </a:pPr>
            <a:r>
              <a:rPr sz="1200" b="0">
                <a:solidFill>
                  <a:srgbClr val="6D6672"/>
                </a:solidFill>
                <a:latin typeface="等线"/>
                <a:ea typeface="等线"/>
                <a:cs typeface="等线"/>
              </a:rPr>
              <a:t>within-person calibration</a:t>
            </a:r>
          </a:p>
        </p:txBody>
      </p:sp>
      <p:cxnSp>
        <p:nvCxnSpPr>
          <p:cNvPr id="82" name=""/>
          <p:cNvCxnSpPr>
            <a:stCxn xmlns:a="http://schemas.openxmlformats.org/drawingml/2006/main" id="38" idx="3"/>
            <a:endCxn xmlns:a="http://schemas.openxmlformats.org/drawingml/2006/main" id="42" idx="1"/>
          </p:cNvCxnSpPr>
          <p:nvPr/>
        </p:nvCxnSpPr>
        <p:spPr>
          <a:xfrm xmlns:a="http://schemas.openxmlformats.org/drawingml/2006/main">
            <a:off x="3790950" y="2357438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A3E8E"/>
            </a:solidFill>
            <a:prstDash val="solid"/>
            <a:headEnd type="triangle" w="sm" len="sm"/>
          </a:ln>
        </p:spPr>
      </p:cxnSp>
      <p:cxnSp>
        <p:nvCxnSpPr>
          <p:cNvPr id="83" name=""/>
          <p:cNvCxnSpPr>
            <a:stCxn xmlns:a="http://schemas.openxmlformats.org/drawingml/2006/main" id="42" idx="3"/>
            <a:endCxn xmlns:a="http://schemas.openxmlformats.org/drawingml/2006/main" id="46" idx="1"/>
          </p:cNvCxnSpPr>
          <p:nvPr/>
        </p:nvCxnSpPr>
        <p:spPr>
          <a:xfrm xmlns:a="http://schemas.openxmlformats.org/drawingml/2006/main">
            <a:off x="7467600" y="2357438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A3E8E"/>
            </a:solidFill>
            <a:prstDash val="solid"/>
            <a:headEnd type="triangle" w="sm" len="sm"/>
          </a:ln>
        </p:spPr>
      </p:cxn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B31653F-D199-41E3-AA86-79780AF40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0"/>
            <a:ext cx="1047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B1A6E"/>
          </a:solidFill>
          <a:ln xmlns:a="http://schemas.openxmlformats.org/drawingml/2006/main" w="9525">
            <a:solidFill>
              <a:srgbClr val="5B1A6E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0BA1E04-7723-481C-B79D-A32743E51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等线"/>
                <a:ea typeface="等线"/>
                <a:cs typeface="等线"/>
              </a:defRPr>
            </a:pPr>
            <a:r>
              <a:rPr sz="1050" b="1">
                <a:solidFill>
                  <a:srgbClr val="FFFFFF"/>
                </a:solidFill>
                <a:latin typeface="等线"/>
                <a:ea typeface="等线"/>
                <a:cs typeface="等线"/>
              </a:rPr>
              <a:t>数据条件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70DC61E-8C3B-4907-8BAF-14ED44AFA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409950"/>
            <a:ext cx="9477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5212A"/>
                </a:solidFill>
                <a:latin typeface="等线"/>
                <a:ea typeface="等线"/>
                <a:cs typeface="等线"/>
              </a:defRPr>
            </a:pPr>
            <a:r>
              <a:rPr sz="1275" b="0">
                <a:solidFill>
                  <a:srgbClr val="25212A"/>
                </a:solidFill>
                <a:latin typeface="等线"/>
                <a:ea typeface="等线"/>
                <a:cs typeface="等线"/>
              </a:rPr>
              <a:t>长期连续、时间同步、情境标签与缺失原因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2C1D275-08FB-4B5D-91F1-6D52B53AF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981450"/>
            <a:ext cx="1047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569A8"/>
          </a:solidFill>
          <a:ln xmlns:a="http://schemas.openxmlformats.org/drawingml/2006/main" w="9525">
            <a:solidFill>
              <a:srgbClr val="3569A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7C6FA98-4B42-4481-A1C3-9A9BA2587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9814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等线"/>
                <a:ea typeface="等线"/>
                <a:cs typeface="等线"/>
              </a:defRPr>
            </a:pPr>
            <a:r>
              <a:rPr sz="1050" b="1">
                <a:solidFill>
                  <a:srgbClr val="FFFFFF"/>
                </a:solidFill>
                <a:latin typeface="等线"/>
                <a:ea typeface="等线"/>
                <a:cs typeface="等线"/>
              </a:rPr>
              <a:t>验证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9134AF4-2C29-4135-B739-2D8F9A6F7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962400"/>
            <a:ext cx="9477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5212A"/>
                </a:solidFill>
                <a:latin typeface="等线"/>
                <a:ea typeface="等线"/>
                <a:cs typeface="等线"/>
              </a:defRPr>
            </a:pPr>
            <a:r>
              <a:rPr sz="1275" b="0">
                <a:solidFill>
                  <a:srgbClr val="25212A"/>
                </a:solidFill>
                <a:latin typeface="等线"/>
                <a:ea typeface="等线"/>
                <a:cs typeface="等线"/>
              </a:rPr>
              <a:t>前瞻性个体校准；提前量与误报负担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056A140-09A7-4309-9A10-7658DA67F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33900"/>
            <a:ext cx="1047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569A8"/>
          </a:solidFill>
          <a:ln xmlns:a="http://schemas.openxmlformats.org/drawingml/2006/main" w="9525">
            <a:solidFill>
              <a:srgbClr val="3569A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294FF6C-F8FC-4DF5-B9DA-A317A768C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339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等线"/>
                <a:ea typeface="等线"/>
                <a:cs typeface="等线"/>
              </a:defRPr>
            </a:pPr>
            <a:r>
              <a:rPr sz="1050" b="1">
                <a:solidFill>
                  <a:srgbClr val="FFFFFF"/>
                </a:solidFill>
                <a:latin typeface="等线"/>
                <a:ea typeface="等线"/>
                <a:cs typeface="等线"/>
              </a:rPr>
              <a:t>风险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4EB6682-D7E2-49E9-91E1-433EDC12B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514850"/>
            <a:ext cx="9477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5212A"/>
                </a:solidFill>
                <a:latin typeface="等线"/>
                <a:ea typeface="等线"/>
                <a:cs typeface="等线"/>
              </a:defRPr>
            </a:pPr>
            <a:r>
              <a:rPr sz="1275" b="0">
                <a:solidFill>
                  <a:srgbClr val="25212A"/>
                </a:solidFill>
                <a:latin typeface="等线"/>
                <a:ea typeface="等线"/>
                <a:cs typeface="等线"/>
              </a:rPr>
              <a:t>弱势群体的数据贫困、设备适配与连接成本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A528805-A47A-471A-A6ED-5FE97B5B5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53100"/>
            <a:ext cx="10810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D6672"/>
                </a:solidFill>
                <a:latin typeface="等线"/>
                <a:ea typeface="等线"/>
                <a:cs typeface="等线"/>
              </a:defRPr>
            </a:pPr>
            <a:r>
              <a:rPr sz="1200" b="0">
                <a:solidFill>
                  <a:srgbClr val="6D6672"/>
                </a:solidFill>
                <a:latin typeface="等线"/>
                <a:ea typeface="等线"/>
                <a:cs typeface="等线"/>
              </a:rPr>
              <a:t>“digital twin”仅用于能持续更新、绑定具体患者并证明决策价值的模型。</a:t>
            </a:r>
          </a:p>
        </p:txBody>
      </p:sp>
    </p:spTree>
    <p:extLst>
      <p:ext uri="{BB962C8B-B14F-4D97-AF65-F5344CB8AC3E}">
        <p14:creationId xmlns:p14="http://schemas.microsoft.com/office/powerpoint/2010/main" val="2025121370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菱形 6">
            <a:extLst xmlns:a="http://schemas.openxmlformats.org/drawingml/2006/main">
              <a:ext uri="{FF2B5EF4-FFF2-40B4-BE49-F238E27FC236}">
                <a16:creationId xmlns:a16="http://schemas.microsoft.com/office/drawing/2014/main" id="{8825E84B-323B-49D9-8108-437BE039C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646273" y="6312273"/>
            <a:ext cx="545727" cy="545727"/>
          </a:xfrm>
          <a:prstGeom xmlns:a="http://schemas.openxmlformats.org/drawingml/2006/main" prst="diamond">
            <a:avLst/>
          </a:prstGeom>
          <a:gradFill xmlns:a="http://schemas.openxmlformats.org/drawingml/2006/main">
            <a:gsLst>
              <a:gs pos="100000">
                <a:srgbClr val="C8282A"/>
              </a:gs>
              <a:gs pos="0">
                <a:srgbClr val="194779"/>
              </a:gs>
            </a:gsLst>
            <a:lin ang="18900000" scaled="0"/>
          </a:gradFill>
          <a:ln xmlns:a="http://schemas.openxmlformats.org/drawingml/2006/main">
            <a:noFill/>
          </a:ln>
          <a:effectLst xmlns:a="http://schemas.openxmlformats.org/drawingml/2006/main">
            <a:outerShdw blurRad="127000" dist="38100" dir="2700000" algn="ctr">
              <a:srgbClr val="000000">
                <a:alpha val="45000"/>
              </a:srgb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DengXian"/>
              <a:ea typeface="DengXian"/>
              <a:cs typeface="DengXian"/>
            </a:endParaR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C092C980-ED75-4D29-A46B-D4C2D5D83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79448" y="6438719"/>
            <a:ext cx="320922" cy="338554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glow rad="63500">
              <a:schemeClr val="accent3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600">
                <a:solidFill>
                  <a:prstClr val="white"/>
                </a:solidFill>
                <a:latin typeface="Arial Black"/>
                <a:ea typeface="Arial Black"/>
                <a:cs typeface="Arial Black"/>
              </a:rPr>
              <a:t>24</a:t>
            </a:r>
            <a:endParaRPr sz="1600" b="0" i="0" u="none" kern="1200" cap="none" spc="0" baseline="0">
              <a:ln>
                <a:noFill/>
              </a:ln>
              <a:solidFill>
                <a:prstClr val="white"/>
              </a:solidFill>
              <a:latin typeface="Arial Black"/>
              <a:ea typeface="Arial Black"/>
              <a:cs typeface="Arial Black"/>
            </a:endParaRP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5E3D2DBA-49E9-4CCC-954E-E5F077021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7771"/>
            <a:ext cx="12192000" cy="58404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00000">
                <a:schemeClr val="bg1"/>
              </a:gs>
              <a:gs pos="18000">
                <a:srgbClr val="813789"/>
              </a:gs>
              <a:gs pos="0">
                <a:srgbClr val="813789"/>
              </a:gs>
            </a:gsLst>
            <a:lin ang="270000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65" name="图片 3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3ba336e6d2427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73387" y="11991"/>
            <a:ext cx="1676015" cy="655780"/>
          </a:xfrm>
          <a:prstGeom xmlns:a="http://schemas.openxmlformats.org/drawingml/2006/main" prst="rect">
            <a:avLst/>
          </a:prstGeom>
        </p:spPr>
      </p:pic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CA205373-4581-4B3B-B4F7-9D33498BF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860" y="200660"/>
            <a:ext cx="5683885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25400" dist="25400" dir="2700000" algn="tl" rotWithShape="0">
              <a:prstClr val="black">
                <a:alpha val="46000"/>
              </a:prstClr>
            </a:outerShdw>
          </a:effectLst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>
                <a:solidFill>
                  <a:srgbClr val="813789"/>
                </a:solidFill>
                <a:latin typeface="Arial"/>
                <a:ea typeface="Arial"/>
                <a:cs typeface="Arial"/>
              </a:rPr>
              <a:t>Everyday Monitoring &amp; Adaptive Support</a:t>
            </a:r>
            <a:endParaRPr sz="2400" b="1" i="0" u="none" kern="1200" cap="none" spc="0" baseline="0">
              <a:ln>
                <a:noFill/>
              </a:ln>
              <a:solidFill>
                <a:srgbClr val="81378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77E6F11E-B04D-4DB9-982C-23761098E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76225"/>
            <a:ext cx="5599430" cy="398780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25400" dist="25400" dir="2700000" algn="tl" rotWithShape="0">
              <a:prstClr val="black">
                <a:alpha val="46000"/>
              </a:prstClr>
            </a:outerShdw>
          </a:effectLst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000" b="1">
                <a:ln>
                  <a:noFill/>
                </a:ln>
                <a:solidFill>
                  <a:srgbClr val="813789"/>
                </a:solidFill>
                <a:latin typeface="Arial"/>
                <a:ea typeface="Arial"/>
                <a:cs typeface="Arial"/>
              </a:rPr>
              <a:t>3.3 Active confirmation</a:t>
            </a:r>
            <a:endParaRPr sz="2000" b="1" i="0" u="none" kern="1200" cap="none" spc="0" baseline="0">
              <a:ln>
                <a:noFill/>
              </a:ln>
              <a:solidFill>
                <a:srgbClr val="81378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D606CE5-D8BD-4BE1-9BA6-F6A3E5D24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742950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5212A"/>
                </a:solidFill>
                <a:latin typeface="等线"/>
                <a:ea typeface="等线"/>
                <a:cs typeface="等线"/>
              </a:defRPr>
            </a:pPr>
            <a:r>
              <a:rPr sz="2100" b="1">
                <a:solidFill>
                  <a:srgbClr val="25212A"/>
                </a:solidFill>
                <a:latin typeface="等线"/>
                <a:ea typeface="等线"/>
                <a:cs typeface="等线"/>
              </a:rPr>
              <a:t>方向二：异常后的主动确认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B140513-112C-4446-9B52-165C483C7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162050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B1A6E"/>
                </a:solidFill>
                <a:latin typeface="等线"/>
                <a:ea typeface="等线"/>
                <a:cs typeface="等线"/>
              </a:defRPr>
            </a:pPr>
            <a:r>
              <a:rPr sz="1500" b="1">
                <a:solidFill>
                  <a:srgbClr val="5B1A6E"/>
                </a:solidFill>
                <a:latin typeface="等线"/>
                <a:ea typeface="等线"/>
                <a:cs typeface="等线"/>
              </a:rPr>
              <a:t>把单次警报变成最小负担的确认序列，而不是持续增加传感器。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6E85876-884D-46F5-A669-E967E258E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3333750" cy="1476375"/>
          </a:xfrm>
          <a:prstGeom xmlns:a="http://schemas.openxmlformats.org/drawingml/2006/main" prst="roundRect">
            <a:avLst>
              <a:gd name="adj" fmla="val 116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DC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413F89A-5653-442A-A8ED-8B3AA4D3A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5260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5B1A6E"/>
                </a:solidFill>
                <a:latin typeface="等线"/>
                <a:ea typeface="等线"/>
                <a:cs typeface="等线"/>
              </a:defRPr>
            </a:pPr>
            <a:r>
              <a:rPr sz="1575" b="1">
                <a:solidFill>
                  <a:srgbClr val="5B1A6E"/>
                </a:solidFill>
                <a:latin typeface="等线"/>
                <a:ea typeface="等线"/>
                <a:cs typeface="等线"/>
              </a:rPr>
              <a:t>Detect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45F0490-D923-4C74-B3FB-D98714442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336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5212A"/>
                </a:solidFill>
                <a:latin typeface="等线"/>
                <a:ea typeface="等线"/>
                <a:cs typeface="等线"/>
              </a:defRPr>
            </a:pPr>
            <a:r>
              <a:rPr sz="1425" b="1">
                <a:solidFill>
                  <a:srgbClr val="25212A"/>
                </a:solidFill>
                <a:latin typeface="等线"/>
                <a:ea typeface="等线"/>
                <a:cs typeface="等线"/>
              </a:rPr>
              <a:t>偏离个人基线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10B8679-615C-4534-A607-55C39A0E8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908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D6672"/>
                </a:solidFill>
                <a:latin typeface="等线"/>
                <a:ea typeface="等线"/>
                <a:cs typeface="等线"/>
              </a:defRPr>
            </a:pPr>
            <a:r>
              <a:rPr sz="1200" b="0">
                <a:solidFill>
                  <a:srgbClr val="6D6672"/>
                </a:solidFill>
                <a:latin typeface="等线"/>
                <a:ea typeface="等线"/>
                <a:cs typeface="等线"/>
              </a:rPr>
              <a:t>不确定异常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6ED2F9D-6881-470E-A6B8-40756C658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1619250"/>
            <a:ext cx="3333750" cy="1476375"/>
          </a:xfrm>
          <a:prstGeom xmlns:a="http://schemas.openxmlformats.org/drawingml/2006/main" prst="roundRect">
            <a:avLst>
              <a:gd name="adj" fmla="val 11613"/>
            </a:avLst>
          </a:prstGeom>
          <a:solidFill xmlns:a="http://schemas.openxmlformats.org/drawingml/2006/main">
            <a:srgbClr val="F4EDF7"/>
          </a:solidFill>
          <a:ln xmlns:a="http://schemas.openxmlformats.org/drawingml/2006/main" w="9525">
            <a:solidFill>
              <a:srgbClr val="7A3E8E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035F4F6-6849-43FC-A4A9-EC840714A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75260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5B1A6E"/>
                </a:solidFill>
                <a:latin typeface="等线"/>
                <a:ea typeface="等线"/>
                <a:cs typeface="等线"/>
              </a:defRPr>
            </a:pPr>
            <a:r>
              <a:rPr sz="1575" b="1">
                <a:solidFill>
                  <a:srgbClr val="5B1A6E"/>
                </a:solidFill>
                <a:latin typeface="等线"/>
                <a:ea typeface="等线"/>
                <a:cs typeface="等线"/>
              </a:rPr>
              <a:t>Confirm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282F2C8-6047-44A4-B0F0-70A3B9440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1336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98655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5212A"/>
                </a:solidFill>
                <a:latin typeface="等线"/>
                <a:ea typeface="等线"/>
                <a:cs typeface="等线"/>
              </a:defRPr>
            </a:pPr>
            <a:r>
              <a:rPr sz="1425" b="1">
                <a:solidFill>
                  <a:srgbClr val="25212A"/>
                </a:solidFill>
                <a:latin typeface="等线"/>
                <a:ea typeface="等线"/>
                <a:cs typeface="等线"/>
              </a:rPr>
              <a:t>提高采样频率 / 第二模态 / 主动问询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37386EB-066E-4297-A8DA-6C21579F3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5908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D6672"/>
                </a:solidFill>
                <a:latin typeface="等线"/>
                <a:ea typeface="等线"/>
                <a:cs typeface="等线"/>
              </a:defRPr>
            </a:pPr>
            <a:r>
              <a:rPr sz="1200" b="0">
                <a:solidFill>
                  <a:srgbClr val="6D6672"/>
                </a:solidFill>
                <a:latin typeface="等线"/>
                <a:ea typeface="等线"/>
                <a:cs typeface="等线"/>
              </a:rPr>
              <a:t>证据一致性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7503FAF-3BB1-4A01-AD66-E70260F77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619250"/>
            <a:ext cx="3333750" cy="1476375"/>
          </a:xfrm>
          <a:prstGeom xmlns:a="http://schemas.openxmlformats.org/drawingml/2006/main" prst="roundRect">
            <a:avLst>
              <a:gd name="adj" fmla="val 116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DC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E3B19BE-CBBD-4C6F-B974-14E5DAC43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5260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5B1A6E"/>
                </a:solidFill>
                <a:latin typeface="等线"/>
                <a:ea typeface="等线"/>
                <a:cs typeface="等线"/>
              </a:defRPr>
            </a:pPr>
            <a:r>
              <a:rPr sz="1575" b="1">
                <a:solidFill>
                  <a:srgbClr val="5B1A6E"/>
                </a:solidFill>
                <a:latin typeface="等线"/>
                <a:ea typeface="等线"/>
                <a:cs typeface="等线"/>
              </a:rPr>
              <a:t>Escalate or recover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3FFB110-8CB2-4C94-B25F-BC0E21A33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336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5212A"/>
                </a:solidFill>
                <a:latin typeface="等线"/>
                <a:ea typeface="等线"/>
                <a:cs typeface="等线"/>
              </a:defRPr>
            </a:pPr>
            <a:r>
              <a:rPr sz="1425" b="1">
                <a:solidFill>
                  <a:srgbClr val="25212A"/>
                </a:solidFill>
                <a:latin typeface="等线"/>
                <a:ea typeface="等线"/>
                <a:cs typeface="等线"/>
              </a:rPr>
              <a:t>远程医疗 / 到院检查 / 返回基线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D216D86-6CC5-4176-9B09-9732B1BC7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5908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D6672"/>
                </a:solidFill>
                <a:latin typeface="等线"/>
                <a:ea typeface="等线"/>
                <a:cs typeface="等线"/>
              </a:defRPr>
            </a:pPr>
            <a:r>
              <a:rPr sz="1200" b="0">
                <a:solidFill>
                  <a:srgbClr val="6D6672"/>
                </a:solidFill>
                <a:latin typeface="等线"/>
                <a:ea typeface="等线"/>
                <a:cs typeface="等线"/>
              </a:rPr>
              <a:t>有界升级</a:t>
            </a:r>
          </a:p>
        </p:txBody>
      </p:sp>
      <p:cxnSp>
        <p:nvCxnSpPr>
          <p:cNvPr id="82" name=""/>
          <p:cNvCxnSpPr>
            <a:stCxn xmlns:a="http://schemas.openxmlformats.org/drawingml/2006/main" id="38" idx="3"/>
            <a:endCxn xmlns:a="http://schemas.openxmlformats.org/drawingml/2006/main" id="42" idx="1"/>
          </p:cNvCxnSpPr>
          <p:nvPr/>
        </p:nvCxnSpPr>
        <p:spPr>
          <a:xfrm xmlns:a="http://schemas.openxmlformats.org/drawingml/2006/main">
            <a:off x="3790950" y="2357438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A3E8E"/>
            </a:solidFill>
            <a:prstDash val="solid"/>
            <a:headEnd type="triangle" w="sm" len="sm"/>
          </a:ln>
        </p:spPr>
      </p:cxnSp>
      <p:cxnSp>
        <p:nvCxnSpPr>
          <p:cNvPr id="83" name=""/>
          <p:cNvCxnSpPr>
            <a:stCxn xmlns:a="http://schemas.openxmlformats.org/drawingml/2006/main" id="42" idx="3"/>
            <a:endCxn xmlns:a="http://schemas.openxmlformats.org/drawingml/2006/main" id="46" idx="1"/>
          </p:cNvCxnSpPr>
          <p:nvPr/>
        </p:nvCxnSpPr>
        <p:spPr>
          <a:xfrm xmlns:a="http://schemas.openxmlformats.org/drawingml/2006/main">
            <a:off x="7467600" y="2357438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A3E8E"/>
            </a:solidFill>
            <a:prstDash val="solid"/>
            <a:headEnd type="triangle" w="sm" len="sm"/>
          </a:ln>
        </p:spPr>
      </p:cxn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7FEC504-1E8E-46B6-8DBD-63605F1D0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0"/>
            <a:ext cx="1047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B1A6E"/>
          </a:solidFill>
          <a:ln xmlns:a="http://schemas.openxmlformats.org/drawingml/2006/main" w="9525">
            <a:solidFill>
              <a:srgbClr val="5B1A6E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25B8EF6-F893-44CE-A123-0B160095A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等线"/>
                <a:ea typeface="等线"/>
                <a:cs typeface="等线"/>
              </a:defRPr>
            </a:pPr>
            <a:r>
              <a:rPr sz="1050" b="1">
                <a:solidFill>
                  <a:srgbClr val="FFFFFF"/>
                </a:solidFill>
                <a:latin typeface="等线"/>
                <a:ea typeface="等线"/>
                <a:cs typeface="等线"/>
              </a:rPr>
              <a:t>可用场景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54C9093-7AAC-4887-956F-931EBBFC9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409950"/>
            <a:ext cx="9477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5212A"/>
                </a:solidFill>
                <a:latin typeface="等线"/>
                <a:ea typeface="等线"/>
                <a:cs typeface="等线"/>
              </a:defRPr>
            </a:pPr>
            <a:r>
              <a:rPr sz="1275" b="0">
                <a:solidFill>
                  <a:srgbClr val="25212A"/>
                </a:solidFill>
                <a:latin typeface="等线"/>
                <a:ea typeface="等线"/>
                <a:cs typeface="等线"/>
              </a:rPr>
              <a:t>心律失常、感染、跌倒后状态、呼吸恶化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A2F4240-528E-4ABE-A361-697F47A00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981450"/>
            <a:ext cx="1047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569A8"/>
          </a:solidFill>
          <a:ln xmlns:a="http://schemas.openxmlformats.org/drawingml/2006/main" w="9525">
            <a:solidFill>
              <a:srgbClr val="3569A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B90B4C7-70DD-43D6-B32D-3ECA6AB1B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9814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等线"/>
                <a:ea typeface="等线"/>
                <a:cs typeface="等线"/>
              </a:defRPr>
            </a:pPr>
            <a:r>
              <a:rPr sz="1050" b="1">
                <a:solidFill>
                  <a:srgbClr val="FFFFFF"/>
                </a:solidFill>
                <a:latin typeface="等线"/>
                <a:ea typeface="等线"/>
                <a:cs typeface="等线"/>
              </a:rPr>
              <a:t>优化目标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B20D273-B87E-4244-AF3B-C220A1C49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962400"/>
            <a:ext cx="9477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5212A"/>
                </a:solidFill>
                <a:latin typeface="等线"/>
                <a:ea typeface="等线"/>
                <a:cs typeface="等线"/>
              </a:defRPr>
            </a:pPr>
            <a:r>
              <a:rPr sz="1275" b="0">
                <a:solidFill>
                  <a:srgbClr val="25212A"/>
                </a:solidFill>
                <a:latin typeface="等线"/>
                <a:ea typeface="等线"/>
                <a:cs typeface="等线"/>
              </a:rPr>
              <a:t>预期临床价值 − 误报 − 用户负担 − 延迟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4B9E3F7-587F-4E86-A265-166B280B9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33900"/>
            <a:ext cx="1047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569A8"/>
          </a:solidFill>
          <a:ln xmlns:a="http://schemas.openxmlformats.org/drawingml/2006/main" w="9525">
            <a:solidFill>
              <a:srgbClr val="3569A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3ED5280-EA12-475E-980A-7A1B42E45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339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等线"/>
                <a:ea typeface="等线"/>
                <a:cs typeface="等线"/>
              </a:defRPr>
            </a:pPr>
            <a:r>
              <a:rPr sz="1050" b="1">
                <a:solidFill>
                  <a:srgbClr val="FFFFFF"/>
                </a:solidFill>
                <a:latin typeface="等线"/>
                <a:ea typeface="等线"/>
                <a:cs typeface="等线"/>
              </a:rPr>
              <a:t>人类角色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53FA0DA-5318-43D0-90AF-5B555A65B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514850"/>
            <a:ext cx="9477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5212A"/>
                </a:solidFill>
                <a:latin typeface="等线"/>
                <a:ea typeface="等线"/>
                <a:cs typeface="等线"/>
              </a:defRPr>
            </a:pPr>
            <a:r>
              <a:rPr sz="1275" b="0">
                <a:solidFill>
                  <a:srgbClr val="25212A"/>
                </a:solidFill>
                <a:latin typeface="等线"/>
                <a:ea typeface="等线"/>
                <a:cs typeface="等线"/>
              </a:rPr>
              <a:t>患者可暂停/拒绝；临床人员处理矛盾或高风险结果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A8FC320-3458-4A8F-94F2-9F7047728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53100"/>
            <a:ext cx="10810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D6672"/>
                </a:solidFill>
                <a:latin typeface="等线"/>
                <a:ea typeface="等线"/>
                <a:cs typeface="等线"/>
              </a:defRPr>
            </a:pPr>
            <a:r>
              <a:rPr sz="1200" b="0">
                <a:solidFill>
                  <a:srgbClr val="6D6672"/>
                </a:solidFill>
                <a:latin typeface="等线"/>
                <a:ea typeface="等线"/>
                <a:cs typeface="等线"/>
              </a:rPr>
              <a:t>Apple Heart 提供 detect→confirm 的真实工作流锚点，但动作主要由人和医疗服务完成。</a:t>
            </a:r>
          </a:p>
        </p:txBody>
      </p:sp>
    </p:spTree>
    <p:extLst>
      <p:ext uri="{BB962C8B-B14F-4D97-AF65-F5344CB8AC3E}">
        <p14:creationId xmlns:p14="http://schemas.microsoft.com/office/powerpoint/2010/main" val="2025121370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菱形 6">
            <a:extLst xmlns:a="http://schemas.openxmlformats.org/drawingml/2006/main">
              <a:ext uri="{FF2B5EF4-FFF2-40B4-BE49-F238E27FC236}">
                <a16:creationId xmlns:a16="http://schemas.microsoft.com/office/drawing/2014/main" id="{8825E84B-323B-49D9-8108-437BE039C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646273" y="6312273"/>
            <a:ext cx="545727" cy="545727"/>
          </a:xfrm>
          <a:prstGeom xmlns:a="http://schemas.openxmlformats.org/drawingml/2006/main" prst="diamond">
            <a:avLst/>
          </a:prstGeom>
          <a:gradFill xmlns:a="http://schemas.openxmlformats.org/drawingml/2006/main">
            <a:gsLst>
              <a:gs pos="100000">
                <a:srgbClr val="C8282A"/>
              </a:gs>
              <a:gs pos="0">
                <a:srgbClr val="194779"/>
              </a:gs>
            </a:gsLst>
            <a:lin ang="18900000" scaled="0"/>
          </a:gradFill>
          <a:ln xmlns:a="http://schemas.openxmlformats.org/drawingml/2006/main">
            <a:noFill/>
          </a:ln>
          <a:effectLst xmlns:a="http://schemas.openxmlformats.org/drawingml/2006/main">
            <a:outerShdw blurRad="127000" dist="38100" dir="2700000" algn="ctr">
              <a:srgbClr val="000000">
                <a:alpha val="45000"/>
              </a:srgb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DengXian"/>
              <a:ea typeface="DengXian"/>
              <a:cs typeface="DengXian"/>
            </a:endParaR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C092C980-ED75-4D29-A46B-D4C2D5D83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79448" y="6438719"/>
            <a:ext cx="320922" cy="338554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glow rad="63500">
              <a:schemeClr val="accent3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600">
                <a:solidFill>
                  <a:prstClr val="white"/>
                </a:solidFill>
                <a:latin typeface="Arial Black"/>
                <a:ea typeface="Arial Black"/>
                <a:cs typeface="Arial Black"/>
              </a:rPr>
              <a:t>25</a:t>
            </a:r>
            <a:endParaRPr sz="1600" b="0" i="0" u="none" kern="1200" cap="none" spc="0" baseline="0">
              <a:ln>
                <a:noFill/>
              </a:ln>
              <a:solidFill>
                <a:prstClr val="white"/>
              </a:solidFill>
              <a:latin typeface="Arial Black"/>
              <a:ea typeface="Arial Black"/>
              <a:cs typeface="Arial Black"/>
            </a:endParaRP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5E3D2DBA-49E9-4CCC-954E-E5F077021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7771"/>
            <a:ext cx="12192000" cy="58404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00000">
                <a:schemeClr val="bg1"/>
              </a:gs>
              <a:gs pos="18000">
                <a:srgbClr val="813789"/>
              </a:gs>
              <a:gs pos="0">
                <a:srgbClr val="813789"/>
              </a:gs>
            </a:gsLst>
            <a:lin ang="270000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56" name="图片 3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6f8f10b6d4425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73387" y="11991"/>
            <a:ext cx="1676015" cy="655780"/>
          </a:xfrm>
          <a:prstGeom xmlns:a="http://schemas.openxmlformats.org/drawingml/2006/main" prst="rect">
            <a:avLst/>
          </a:prstGeom>
        </p:spPr>
      </p:pic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CA205373-4581-4B3B-B4F7-9D33498BF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860" y="200660"/>
            <a:ext cx="5683885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25400" dist="25400" dir="2700000" algn="tl" rotWithShape="0">
              <a:prstClr val="black">
                <a:alpha val="46000"/>
              </a:prstClr>
            </a:outerShdw>
          </a:effectLst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>
                <a:solidFill>
                  <a:srgbClr val="813789"/>
                </a:solidFill>
                <a:latin typeface="Arial"/>
                <a:ea typeface="Arial"/>
                <a:cs typeface="Arial"/>
              </a:rPr>
              <a:t>Everyday Monitoring &amp; Adaptive Support</a:t>
            </a:r>
            <a:endParaRPr sz="2400" b="1" i="0" u="none" kern="1200" cap="none" spc="0" baseline="0">
              <a:ln>
                <a:noFill/>
              </a:ln>
              <a:solidFill>
                <a:srgbClr val="81378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77E6F11E-B04D-4DB9-982C-23761098E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76225"/>
            <a:ext cx="5599430" cy="398780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25400" dist="25400" dir="2700000" algn="tl" rotWithShape="0">
              <a:prstClr val="black">
                <a:alpha val="46000"/>
              </a:prstClr>
            </a:outerShdw>
          </a:effectLst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000" b="1">
                <a:ln>
                  <a:noFill/>
                </a:ln>
                <a:solidFill>
                  <a:srgbClr val="813789"/>
                </a:solidFill>
                <a:latin typeface="Arial"/>
                <a:ea typeface="Arial"/>
                <a:cs typeface="Arial"/>
              </a:rPr>
              <a:t>3.4 Adaptive support ecosystem</a:t>
            </a:r>
            <a:endParaRPr sz="2000" b="1" i="0" u="none" kern="1200" cap="none" spc="0" baseline="0">
              <a:ln>
                <a:noFill/>
              </a:ln>
              <a:solidFill>
                <a:srgbClr val="81378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DAEF9A3-6AA9-4655-9FAF-9FD679739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742950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5212A"/>
                </a:solidFill>
                <a:latin typeface="等线"/>
                <a:ea typeface="等线"/>
                <a:cs typeface="等线"/>
              </a:defRPr>
            </a:pPr>
            <a:r>
              <a:rPr sz="2100" b="1">
                <a:solidFill>
                  <a:srgbClr val="25212A"/>
                </a:solidFill>
                <a:latin typeface="等线"/>
                <a:ea typeface="等线"/>
                <a:cs typeface="等线"/>
              </a:rPr>
              <a:t>方向三：检测—自适应支持生态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0C2F0DD-6C44-4179-B899-1B0D248BF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162050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B1A6E"/>
                </a:solidFill>
                <a:latin typeface="等线"/>
                <a:ea typeface="等线"/>
                <a:cs typeface="等线"/>
              </a:defRPr>
            </a:pPr>
            <a:r>
              <a:rPr sz="1500" b="1">
                <a:solidFill>
                  <a:srgbClr val="5B1A6E"/>
                </a:solidFill>
                <a:latin typeface="等线"/>
                <a:ea typeface="等线"/>
                <a:cs typeface="等线"/>
              </a:rPr>
              <a:t>检测、支持和复评连接后，任何局部错误都可能被闭环放大。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8102C06-2B42-4615-A6D6-53F64B26F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00250"/>
            <a:ext cx="23622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DC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47F54F4-944F-48F0-829B-72706AB11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000250"/>
            <a:ext cx="23622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DE3F1"/>
          </a:solidFill>
          <a:ln xmlns:a="http://schemas.openxmlformats.org/drawingml/2006/main" w="9525">
            <a:solidFill>
              <a:srgbClr val="7A3E8E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E5AA759-C796-463B-B354-7A72FD40B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000250"/>
            <a:ext cx="23622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DC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A3AD4BB-B9B2-405F-9EAA-0065780BA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000250"/>
            <a:ext cx="23622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DC"/>
            </a:solidFill>
            <a:prstDash val="solid"/>
          </a:ln>
        </p:spPr>
      </p:sp>
      <p:cxnSp>
        <p:nvCxnSpPr>
          <p:cNvPr id="65" name=""/>
          <p:cNvCxnSpPr>
            <a:stCxn xmlns:a="http://schemas.openxmlformats.org/drawingml/2006/main" id="38" idx="3"/>
            <a:endCxn xmlns:a="http://schemas.openxmlformats.org/drawingml/2006/main" id="39" idx="1"/>
          </p:cNvCxnSpPr>
          <p:nvPr/>
        </p:nvCxnSpPr>
        <p:spPr>
          <a:xfrm xmlns:a="http://schemas.openxmlformats.org/drawingml/2006/main">
            <a:off x="2914650" y="243840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A3E8E"/>
            </a:solidFill>
            <a:prstDash val="solid"/>
            <a:headEnd type="triangle" w="sm" len="sm"/>
          </a:ln>
        </p:spPr>
      </p:cxnSp>
      <p:cxnSp>
        <p:nvCxnSpPr>
          <p:cNvPr id="66" name=""/>
          <p:cNvCxnSpPr>
            <a:stCxn xmlns:a="http://schemas.openxmlformats.org/drawingml/2006/main" id="39" idx="3"/>
            <a:endCxn xmlns:a="http://schemas.openxmlformats.org/drawingml/2006/main" id="40" idx="1"/>
          </p:cNvCxnSpPr>
          <p:nvPr/>
        </p:nvCxnSpPr>
        <p:spPr>
          <a:xfrm xmlns:a="http://schemas.openxmlformats.org/drawingml/2006/main">
            <a:off x="5638800" y="243840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A3E8E"/>
            </a:solidFill>
            <a:prstDash val="solid"/>
            <a:headEnd type="triangle" w="sm" len="sm"/>
          </a:ln>
        </p:spPr>
      </p:cxnSp>
      <p:cxnSp>
        <p:nvCxnSpPr>
          <p:cNvPr id="67" name=""/>
          <p:cNvCxnSpPr>
            <a:stCxn xmlns:a="http://schemas.openxmlformats.org/drawingml/2006/main" id="40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>
            <a:off x="8362950" y="243840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A3E8E"/>
            </a:solidFill>
            <a:prstDash val="solid"/>
            <a:headEnd type="triangle" w="sm" len="sm"/>
          </a:ln>
        </p:spPr>
      </p:cxn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29E3BF5-C16F-4605-B44C-0BD0A5B7D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85975"/>
            <a:ext cx="2171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5212A"/>
                </a:solidFill>
                <a:latin typeface="等线"/>
                <a:ea typeface="等线"/>
                <a:cs typeface="等线"/>
              </a:defRPr>
            </a:pPr>
            <a:r>
              <a:rPr sz="1500" b="1">
                <a:solidFill>
                  <a:srgbClr val="25212A"/>
                </a:solidFill>
                <a:latin typeface="等线"/>
                <a:ea typeface="等线"/>
                <a:cs typeface="等线"/>
              </a:rPr>
              <a:t>1</a:t>
            </a:r>
          </a:p>
          <a:p xmlns:a="http://schemas.openxmlformats.org/drawingml/2006/main">
            <a:pPr algn="ctr">
              <a:defRPr sz="1500" b="1">
                <a:solidFill>
                  <a:srgbClr val="25212A"/>
                </a:solidFill>
                <a:latin typeface="等线"/>
                <a:ea typeface="等线"/>
                <a:cs typeface="等线"/>
              </a:defRPr>
            </a:pPr>
            <a:r>
              <a:rPr sz="1500" b="1">
                <a:solidFill>
                  <a:srgbClr val="25212A"/>
                </a:solidFill>
                <a:latin typeface="等线"/>
                <a:ea typeface="等线"/>
                <a:cs typeface="等线"/>
              </a:rPr>
              <a:t>检测变化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7D4762D-B7B3-49FF-80AF-32E3DA301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085975"/>
            <a:ext cx="2171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B1A6E"/>
                </a:solidFill>
                <a:latin typeface="等线"/>
                <a:ea typeface="等线"/>
                <a:cs typeface="等线"/>
              </a:defRPr>
            </a:pPr>
            <a:r>
              <a:rPr sz="1500" b="1">
                <a:solidFill>
                  <a:srgbClr val="5B1A6E"/>
                </a:solidFill>
                <a:latin typeface="等线"/>
                <a:ea typeface="等线"/>
                <a:cs typeface="等线"/>
              </a:rPr>
              <a:t>2</a:t>
            </a:r>
          </a:p>
          <a:p xmlns:a="http://schemas.openxmlformats.org/drawingml/2006/main">
            <a:pPr algn="ctr">
              <a:defRPr sz="1500" b="1">
                <a:solidFill>
                  <a:srgbClr val="5B1A6E"/>
                </a:solidFill>
                <a:latin typeface="等线"/>
                <a:ea typeface="等线"/>
                <a:cs typeface="等线"/>
              </a:defRPr>
            </a:pPr>
            <a:r>
              <a:rPr sz="1500" b="1">
                <a:solidFill>
                  <a:srgbClr val="5B1A6E"/>
                </a:solidFill>
                <a:latin typeface="等线"/>
                <a:ea typeface="等线"/>
                <a:cs typeface="等线"/>
              </a:rPr>
              <a:t>估计风险与可逆性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903D3C7-F90D-47A2-BAB0-0F70F9EB5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85975"/>
            <a:ext cx="2171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5212A"/>
                </a:solidFill>
                <a:latin typeface="等线"/>
                <a:ea typeface="等线"/>
                <a:cs typeface="等线"/>
              </a:defRPr>
            </a:pPr>
            <a:r>
              <a:rPr sz="1500" b="1">
                <a:solidFill>
                  <a:srgbClr val="25212A"/>
                </a:solidFill>
                <a:latin typeface="等线"/>
                <a:ea typeface="等线"/>
                <a:cs typeface="等线"/>
              </a:rPr>
              <a:t>3</a:t>
            </a:r>
          </a:p>
          <a:p xmlns:a="http://schemas.openxmlformats.org/drawingml/2006/main">
            <a:pPr algn="ctr">
              <a:defRPr sz="1500" b="1">
                <a:solidFill>
                  <a:srgbClr val="25212A"/>
                </a:solidFill>
                <a:latin typeface="等线"/>
                <a:ea typeface="等线"/>
                <a:cs typeface="等线"/>
              </a:defRPr>
            </a:pPr>
            <a:r>
              <a:rPr sz="1500" b="1">
                <a:solidFill>
                  <a:srgbClr val="25212A"/>
                </a:solidFill>
                <a:latin typeface="等线"/>
                <a:ea typeface="等线"/>
                <a:cs typeface="等线"/>
              </a:rPr>
              <a:t>有界支持/设备调整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1CF3FB5-47FE-44B9-BEB1-894065CCF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085975"/>
            <a:ext cx="2171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5212A"/>
                </a:solidFill>
                <a:latin typeface="等线"/>
                <a:ea typeface="等线"/>
                <a:cs typeface="等线"/>
              </a:defRPr>
            </a:pPr>
            <a:r>
              <a:rPr sz="1500" b="1">
                <a:solidFill>
                  <a:srgbClr val="25212A"/>
                </a:solidFill>
                <a:latin typeface="等线"/>
                <a:ea typeface="等线"/>
                <a:cs typeface="等线"/>
              </a:rPr>
              <a:t>4</a:t>
            </a:r>
          </a:p>
          <a:p xmlns:a="http://schemas.openxmlformats.org/drawingml/2006/main">
            <a:pPr algn="ctr">
              <a:defRPr sz="1500" b="1">
                <a:solidFill>
                  <a:srgbClr val="25212A"/>
                </a:solidFill>
                <a:latin typeface="等线"/>
                <a:ea typeface="等线"/>
                <a:cs typeface="等线"/>
              </a:defRPr>
            </a:pPr>
            <a:r>
              <a:rPr sz="1500" b="1">
                <a:solidFill>
                  <a:srgbClr val="25212A"/>
                </a:solidFill>
                <a:latin typeface="等线"/>
                <a:ea typeface="等线"/>
                <a:cs typeface="等线"/>
              </a:rPr>
              <a:t>复评疗效与副作用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3667789-37DE-4036-9954-526C3A0BF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067050"/>
            <a:ext cx="8172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A3E8E"/>
            </a:solidFill>
            <a:prstDash val="dash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0931F48-64FF-4BCE-A607-376741AA5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00500"/>
            <a:ext cx="10325100" cy="1009650"/>
          </a:xfrm>
          <a:prstGeom xmlns:a="http://schemas.openxmlformats.org/drawingml/2006/main" prst="roundRect">
            <a:avLst>
              <a:gd name="adj" fmla="val 16981"/>
            </a:avLst>
          </a:prstGeom>
          <a:solidFill xmlns:a="http://schemas.openxmlformats.org/drawingml/2006/main">
            <a:srgbClr val="F4EDF7"/>
          </a:solidFill>
          <a:ln xmlns:a="http://schemas.openxmlformats.org/drawingml/2006/main" w="9525">
            <a:solidFill>
              <a:srgbClr val="7A3E8E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858E223-E257-43BF-BCD7-1A48023C3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152900"/>
            <a:ext cx="9810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B1A6E"/>
                </a:solidFill>
                <a:latin typeface="等线"/>
                <a:ea typeface="等线"/>
                <a:cs typeface="等线"/>
              </a:defRPr>
            </a:pPr>
            <a:r>
              <a:rPr sz="1500" b="1">
                <a:solidFill>
                  <a:srgbClr val="5B1A6E"/>
                </a:solidFill>
                <a:latin typeface="等线"/>
                <a:ea typeface="等线"/>
                <a:cs typeface="等线"/>
              </a:rPr>
              <a:t>设计底线：bounded actions、safe degraded state、human override、延迟/缺失/矛盾反馈恢复。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75D9197-AFAC-4E8A-89CF-9A1523E2F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381625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A23B55"/>
                </a:solidFill>
                <a:latin typeface="等线"/>
                <a:ea typeface="等线"/>
                <a:cs typeface="等线"/>
              </a:defRPr>
            </a:pPr>
            <a:r>
              <a:rPr sz="1575" b="1">
                <a:solidFill>
                  <a:srgbClr val="A23B55"/>
                </a:solidFill>
                <a:latin typeface="等线"/>
                <a:ea typeface="等线"/>
                <a:cs typeface="等线"/>
              </a:rPr>
              <a:t>反馈必须改变下一动作</a:t>
            </a:r>
          </a:p>
        </p:txBody>
      </p:sp>
    </p:spTree>
    <p:extLst>
      <p:ext uri="{BB962C8B-B14F-4D97-AF65-F5344CB8AC3E}">
        <p14:creationId xmlns:p14="http://schemas.microsoft.com/office/powerpoint/2010/main" val="2025121370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菱形 6">
            <a:extLst xmlns:a="http://schemas.openxmlformats.org/drawingml/2006/main">
              <a:ext uri="{FF2B5EF4-FFF2-40B4-BE49-F238E27FC236}">
                <a16:creationId xmlns:a16="http://schemas.microsoft.com/office/drawing/2014/main" id="{8825E84B-323B-49D9-8108-437BE039C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646273" y="6312273"/>
            <a:ext cx="545727" cy="545727"/>
          </a:xfrm>
          <a:prstGeom xmlns:a="http://schemas.openxmlformats.org/drawingml/2006/main" prst="diamond">
            <a:avLst/>
          </a:prstGeom>
          <a:gradFill xmlns:a="http://schemas.openxmlformats.org/drawingml/2006/main">
            <a:gsLst>
              <a:gs pos="100000">
                <a:srgbClr val="C8282A"/>
              </a:gs>
              <a:gs pos="0">
                <a:srgbClr val="194779"/>
              </a:gs>
            </a:gsLst>
            <a:lin ang="18900000" scaled="0"/>
          </a:gradFill>
          <a:ln xmlns:a="http://schemas.openxmlformats.org/drawingml/2006/main">
            <a:noFill/>
          </a:ln>
          <a:effectLst xmlns:a="http://schemas.openxmlformats.org/drawingml/2006/main">
            <a:outerShdw blurRad="127000" dist="38100" dir="2700000" algn="ctr">
              <a:srgbClr val="000000">
                <a:alpha val="45000"/>
              </a:srgb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DengXian"/>
              <a:ea typeface="DengXian"/>
              <a:cs typeface="DengXian"/>
            </a:endParaR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C092C980-ED75-4D29-A46B-D4C2D5D83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79448" y="6438719"/>
            <a:ext cx="320922" cy="338554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glow rad="63500">
              <a:schemeClr val="accent3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600">
                <a:solidFill>
                  <a:prstClr val="white"/>
                </a:solidFill>
                <a:latin typeface="Arial Black"/>
                <a:ea typeface="Arial Black"/>
                <a:cs typeface="Arial Black"/>
              </a:rPr>
              <a:t>26</a:t>
            </a:r>
            <a:endParaRPr sz="1600" b="0" i="0" u="none" kern="1200" cap="none" spc="0" baseline="0">
              <a:ln>
                <a:noFill/>
              </a:ln>
              <a:solidFill>
                <a:prstClr val="white"/>
              </a:solidFill>
              <a:latin typeface="Arial Black"/>
              <a:ea typeface="Arial Black"/>
              <a:cs typeface="Arial Black"/>
            </a:endParaRP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5E3D2DBA-49E9-4CCC-954E-E5F077021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7771"/>
            <a:ext cx="12192000" cy="58404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00000">
                <a:schemeClr val="bg1"/>
              </a:gs>
              <a:gs pos="18000">
                <a:srgbClr val="813789"/>
              </a:gs>
              <a:gs pos="0">
                <a:srgbClr val="813789"/>
              </a:gs>
            </a:gsLst>
            <a:lin ang="270000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90" name="图片 3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fc626ff464466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73387" y="11991"/>
            <a:ext cx="1676015" cy="655780"/>
          </a:xfrm>
          <a:prstGeom xmlns:a="http://schemas.openxmlformats.org/drawingml/2006/main" prst="rect">
            <a:avLst/>
          </a:prstGeom>
        </p:spPr>
      </p:pic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CA205373-4581-4B3B-B4F7-9D33498BF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860" y="200660"/>
            <a:ext cx="5683885" cy="460375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25400" dist="25400" dir="2700000" algn="tl" rotWithShape="0">
              <a:prstClr val="black">
                <a:alpha val="46000"/>
              </a:prstClr>
            </a:outerShdw>
          </a:effectLst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>
                <a:solidFill>
                  <a:srgbClr val="813789"/>
                </a:solidFill>
                <a:latin typeface="Arial"/>
                <a:ea typeface="Arial"/>
                <a:cs typeface="Arial"/>
              </a:rPr>
              <a:t>Cross-domain synthesis</a:t>
            </a:r>
            <a:endParaRPr sz="2400" b="1" i="0" u="none" kern="1200" cap="none" spc="0" baseline="0">
              <a:ln>
                <a:noFill/>
              </a:ln>
              <a:solidFill>
                <a:srgbClr val="81378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77E6F11E-B04D-4DB9-982C-23761098E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76225"/>
            <a:ext cx="5599430" cy="398780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25400" dist="25400" dir="2700000" algn="tl" rotWithShape="0">
              <a:prstClr val="black">
                <a:alpha val="46000"/>
              </a:prstClr>
            </a:outerShdw>
          </a:effectLst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000" b="1">
                <a:ln>
                  <a:noFill/>
                </a:ln>
                <a:solidFill>
                  <a:srgbClr val="813789"/>
                </a:solidFill>
                <a:latin typeface="Arial"/>
                <a:ea typeface="Arial"/>
                <a:cs typeface="Arial"/>
              </a:rPr>
              <a:t>4.1 Comparison</a:t>
            </a:r>
            <a:endParaRPr sz="2000" b="1" i="0" u="none" kern="1200" cap="none" spc="0" baseline="0">
              <a:ln>
                <a:noFill/>
              </a:ln>
              <a:solidFill>
                <a:srgbClr val="81378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A8B2677-EFE0-4F7D-914F-43A8EEDF2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742950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5212A"/>
                </a:solidFill>
                <a:latin typeface="等线"/>
                <a:ea typeface="等线"/>
                <a:cs typeface="等线"/>
              </a:defRPr>
            </a:pPr>
            <a:r>
              <a:rPr sz="2100" b="1">
                <a:solidFill>
                  <a:srgbClr val="25212A"/>
                </a:solidFill>
                <a:latin typeface="等线"/>
                <a:ea typeface="等线"/>
                <a:cs typeface="等线"/>
              </a:rPr>
              <a:t>跨领域比较：闭环价值取决于减少关键不确定性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1CA5215-5585-4ACE-BFAD-CF4E80F87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162050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B1A6E"/>
                </a:solidFill>
                <a:latin typeface="等线"/>
                <a:ea typeface="等线"/>
                <a:cs typeface="等线"/>
              </a:defRPr>
            </a:pPr>
            <a:r>
              <a:rPr sz="1500" b="1">
                <a:solidFill>
                  <a:srgbClr val="5B1A6E"/>
                </a:solidFill>
                <a:latin typeface="等线"/>
                <a:ea typeface="等线"/>
                <a:cs typeface="等线"/>
              </a:rPr>
              <a:t>同一闭环框架下，动作不可逆性、反馈延迟和证据成熟度决定治理强度。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9442D56-DD8F-4FFE-8C16-D75302E55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2381250" cy="457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5B1A6E"/>
          </a:solidFill>
          <a:ln xmlns:a="http://schemas.openxmlformats.org/drawingml/2006/main" w="9525">
            <a:solidFill>
              <a:srgbClr val="5B1A6E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48B020B-C532-4467-BED7-3690AFBB3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等线"/>
                <a:ea typeface="等线"/>
                <a:cs typeface="等线"/>
              </a:defRPr>
            </a:pPr>
            <a:r>
              <a:rPr sz="1350" b="1">
                <a:solidFill>
                  <a:srgbClr val="FFFFFF"/>
                </a:solidFill>
                <a:latin typeface="等线"/>
                <a:ea typeface="等线"/>
                <a:cs typeface="等线"/>
              </a:rPr>
              <a:t>机制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D0B79BE-76ED-438D-89F7-F46E1794D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524000"/>
            <a:ext cx="2095500" cy="457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5B1A6E"/>
          </a:solidFill>
          <a:ln xmlns:a="http://schemas.openxmlformats.org/drawingml/2006/main" w="9525">
            <a:solidFill>
              <a:srgbClr val="5B1A6E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45DC13B-BCF7-47A6-ADBE-E84B6852B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52400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等线"/>
                <a:ea typeface="等线"/>
                <a:cs typeface="等线"/>
              </a:defRPr>
            </a:pPr>
            <a:r>
              <a:rPr sz="1350" b="1">
                <a:solidFill>
                  <a:srgbClr val="FFFFFF"/>
                </a:solidFill>
                <a:latin typeface="等线"/>
                <a:ea typeface="等线"/>
                <a:cs typeface="等线"/>
              </a:rPr>
              <a:t>行动风险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F22246D-0E0B-417C-86AE-0722C3062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524000"/>
            <a:ext cx="2095500" cy="457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5B1A6E"/>
          </a:solidFill>
          <a:ln xmlns:a="http://schemas.openxmlformats.org/drawingml/2006/main" w="9525">
            <a:solidFill>
              <a:srgbClr val="5B1A6E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218CF0B-0BED-4423-A546-E589510E7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52400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等线"/>
                <a:ea typeface="等线"/>
                <a:cs typeface="等线"/>
              </a:defRPr>
            </a:pPr>
            <a:r>
              <a:rPr sz="1350" b="1">
                <a:solidFill>
                  <a:srgbClr val="FFFFFF"/>
                </a:solidFill>
                <a:latin typeface="等线"/>
                <a:ea typeface="等线"/>
                <a:cs typeface="等线"/>
              </a:rPr>
              <a:t>反馈延迟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3F06F42-20CF-4DDF-8B85-297A1BAD4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524000"/>
            <a:ext cx="4095750" cy="457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5B1A6E"/>
          </a:solidFill>
          <a:ln xmlns:a="http://schemas.openxmlformats.org/drawingml/2006/main" w="9525">
            <a:solidFill>
              <a:srgbClr val="5B1A6E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5C7DE83-FE09-428F-900F-9603F419D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52400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等线"/>
                <a:ea typeface="等线"/>
                <a:cs typeface="等线"/>
              </a:defRPr>
            </a:pPr>
            <a:r>
              <a:rPr sz="1350" b="1">
                <a:solidFill>
                  <a:srgbClr val="FFFFFF"/>
                </a:solidFill>
                <a:latin typeface="等线"/>
                <a:ea typeface="等线"/>
                <a:cs typeface="等线"/>
              </a:rPr>
              <a:t>证据成熟度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15FD58F-4CEF-4377-AC15-9905E7376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81200"/>
            <a:ext cx="2381250" cy="6477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DC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23CC3A4-5FF1-4C8A-84B6-3EC5B8633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28825"/>
            <a:ext cx="2266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B1A6E"/>
                </a:solidFill>
                <a:latin typeface="等线"/>
                <a:ea typeface="等线"/>
                <a:cs typeface="等线"/>
              </a:defRPr>
            </a:pPr>
            <a:r>
              <a:rPr sz="1275" b="1">
                <a:solidFill>
                  <a:srgbClr val="5B1A6E"/>
                </a:solidFill>
                <a:latin typeface="等线"/>
                <a:ea typeface="等线"/>
                <a:cs typeface="等线"/>
              </a:rPr>
              <a:t>主动观察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1F4B7DF-DE34-4126-8B5B-6D4BF184E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981200"/>
            <a:ext cx="2095500" cy="6477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DC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C301634-3F5D-4DD8-9CB3-1E0A0746D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028825"/>
            <a:ext cx="1981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5212A"/>
                </a:solidFill>
                <a:latin typeface="等线"/>
                <a:ea typeface="等线"/>
                <a:cs typeface="等线"/>
              </a:defRPr>
            </a:pPr>
            <a:r>
              <a:rPr sz="1275" b="0">
                <a:solidFill>
                  <a:srgbClr val="25212A"/>
                </a:solidFill>
                <a:latin typeface="等线"/>
                <a:ea typeface="等线"/>
                <a:cs typeface="等线"/>
              </a:rPr>
              <a:t>低—中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A48D681-EF8C-4BC6-87C5-4F82E5EF9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981200"/>
            <a:ext cx="2095500" cy="6477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DC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5E32F0C-B626-4599-848D-E2A37CCC2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028825"/>
            <a:ext cx="1981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5212A"/>
                </a:solidFill>
                <a:latin typeface="等线"/>
                <a:ea typeface="等线"/>
                <a:cs typeface="等线"/>
              </a:defRPr>
            </a:pPr>
            <a:r>
              <a:rPr sz="1275" b="0">
                <a:solidFill>
                  <a:srgbClr val="25212A"/>
                </a:solidFill>
                <a:latin typeface="等线"/>
                <a:ea typeface="等线"/>
                <a:cs typeface="等线"/>
              </a:rPr>
              <a:t>秒级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8579D2C-A9C6-4A01-A744-685ACD4BE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981200"/>
            <a:ext cx="4095750" cy="6477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DC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DB1F590-1CDC-4610-A827-A6E582538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028825"/>
            <a:ext cx="398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5212A"/>
                </a:solidFill>
                <a:latin typeface="等线"/>
                <a:ea typeface="等线"/>
                <a:cs typeface="等线"/>
              </a:defRPr>
            </a:pPr>
            <a:r>
              <a:rPr sz="1275" b="0">
                <a:solidFill>
                  <a:srgbClr val="25212A"/>
                </a:solidFill>
                <a:latin typeface="等线"/>
                <a:ea typeface="等线"/>
                <a:cs typeface="等线"/>
              </a:rPr>
              <a:t>人体可行性较强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10E1BB2-41E5-48AB-9787-570ED5C41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28900"/>
            <a:ext cx="2381250" cy="6477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4EDF7"/>
          </a:solidFill>
          <a:ln xmlns:a="http://schemas.openxmlformats.org/drawingml/2006/main" w="9525">
            <a:solidFill>
              <a:srgbClr val="D9D2DC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1840B2A-1DFB-414F-80D4-433DCFC1D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76525"/>
            <a:ext cx="2266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B1A6E"/>
                </a:solidFill>
                <a:latin typeface="等线"/>
                <a:ea typeface="等线"/>
                <a:cs typeface="等线"/>
              </a:defRPr>
            </a:pPr>
            <a:r>
              <a:rPr sz="1275" b="1">
                <a:solidFill>
                  <a:srgbClr val="5B1A6E"/>
                </a:solidFill>
                <a:latin typeface="等线"/>
                <a:ea typeface="等线"/>
                <a:cs typeface="等线"/>
              </a:rPr>
              <a:t>响应交互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52F77BE-08C0-447B-B065-3F8B53DCD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628900"/>
            <a:ext cx="2095500" cy="6477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4EDF7"/>
          </a:solidFill>
          <a:ln xmlns:a="http://schemas.openxmlformats.org/drawingml/2006/main" w="9525">
            <a:solidFill>
              <a:srgbClr val="D9D2DC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5791FE9-844F-41AD-AE77-3BE8BB4A7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676525"/>
            <a:ext cx="1981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5212A"/>
                </a:solidFill>
                <a:latin typeface="等线"/>
                <a:ea typeface="等线"/>
                <a:cs typeface="等线"/>
              </a:defRPr>
            </a:pPr>
            <a:r>
              <a:rPr sz="1275" b="0">
                <a:solidFill>
                  <a:srgbClr val="25212A"/>
                </a:solidFill>
                <a:latin typeface="等线"/>
                <a:ea typeface="等线"/>
                <a:cs typeface="等线"/>
              </a:rPr>
              <a:t>中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E35D8BF-CCAD-48F3-A3BA-8FBDB694F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628900"/>
            <a:ext cx="2095500" cy="6477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4EDF7"/>
          </a:solidFill>
          <a:ln xmlns:a="http://schemas.openxmlformats.org/drawingml/2006/main" w="9525">
            <a:solidFill>
              <a:srgbClr val="D9D2DC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C09B6E6-A106-46C3-8032-8FFD1E4E9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676525"/>
            <a:ext cx="1981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5212A"/>
                </a:solidFill>
                <a:latin typeface="等线"/>
                <a:ea typeface="等线"/>
                <a:cs typeface="等线"/>
              </a:defRPr>
            </a:pPr>
            <a:r>
              <a:rPr sz="1275" b="0">
                <a:solidFill>
                  <a:srgbClr val="25212A"/>
                </a:solidFill>
                <a:latin typeface="等线"/>
                <a:ea typeface="等线"/>
                <a:cs typeface="等线"/>
              </a:rPr>
              <a:t>毫秒—分钟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34DCDB2-171E-4C3F-9D30-E2B916C16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628900"/>
            <a:ext cx="4095750" cy="6477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4EDF7"/>
          </a:solidFill>
          <a:ln xmlns:a="http://schemas.openxmlformats.org/drawingml/2006/main" w="9525">
            <a:solidFill>
              <a:srgbClr val="D9D2DC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E0B6FF5-9F01-4CD0-A4D9-05F0B20D4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676525"/>
            <a:ext cx="398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5212A"/>
                </a:solidFill>
                <a:latin typeface="等线"/>
                <a:ea typeface="等线"/>
                <a:cs typeface="等线"/>
              </a:defRPr>
            </a:pPr>
            <a:r>
              <a:rPr sz="1275" b="0">
                <a:solidFill>
                  <a:srgbClr val="25212A"/>
                </a:solidFill>
                <a:latin typeface="等线"/>
                <a:ea typeface="等线"/>
                <a:cs typeface="等线"/>
              </a:rPr>
              <a:t>多为原型/小样本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5E53AE4-3EF3-459B-9BAE-7B222C62D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76600"/>
            <a:ext cx="2381250" cy="6477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DC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4F001A0-790A-4586-BA43-F83C6FB05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24225"/>
            <a:ext cx="2266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B1A6E"/>
                </a:solidFill>
                <a:latin typeface="等线"/>
                <a:ea typeface="等线"/>
                <a:cs typeface="等线"/>
              </a:defRPr>
            </a:pPr>
            <a:r>
              <a:rPr sz="1275" b="1">
                <a:solidFill>
                  <a:srgbClr val="5B1A6E"/>
                </a:solidFill>
                <a:latin typeface="等线"/>
                <a:ea typeface="等线"/>
                <a:cs typeface="等线"/>
              </a:rPr>
              <a:t>采样交互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EFD2D6F-BC5C-4935-8540-2F5F196E6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276600"/>
            <a:ext cx="2095500" cy="6477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DC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AC1ECF6-C3BE-4C5B-BF55-1F26CA7EB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324225"/>
            <a:ext cx="1981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5212A"/>
                </a:solidFill>
                <a:latin typeface="等线"/>
                <a:ea typeface="等线"/>
                <a:cs typeface="等线"/>
              </a:defRPr>
            </a:pPr>
            <a:r>
              <a:rPr sz="1275" b="0">
                <a:solidFill>
                  <a:srgbClr val="25212A"/>
                </a:solidFill>
                <a:latin typeface="等线"/>
                <a:ea typeface="等线"/>
                <a:cs typeface="等线"/>
              </a:rPr>
              <a:t>中—高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E9E7C27-ACDD-4827-9C9D-700EBB474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276600"/>
            <a:ext cx="2095500" cy="6477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DC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55328AC-ABA5-4F36-89CC-FD49EAF9C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324225"/>
            <a:ext cx="1981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5212A"/>
                </a:solidFill>
                <a:latin typeface="等线"/>
                <a:ea typeface="等线"/>
                <a:cs typeface="等线"/>
              </a:defRPr>
            </a:pPr>
            <a:r>
              <a:rPr sz="1275" b="0">
                <a:solidFill>
                  <a:srgbClr val="25212A"/>
                </a:solidFill>
                <a:latin typeface="等线"/>
                <a:ea typeface="等线"/>
                <a:cs typeface="等线"/>
              </a:rPr>
              <a:t>分钟—天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E00E8B8-17BC-4188-95B0-5A7F00A3C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276600"/>
            <a:ext cx="4095750" cy="6477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DC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E49CAD19-AA3B-4EFF-8CE0-6C30B3A26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324225"/>
            <a:ext cx="398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5212A"/>
                </a:solidFill>
                <a:latin typeface="等线"/>
                <a:ea typeface="等线"/>
                <a:cs typeface="等线"/>
              </a:defRPr>
            </a:pPr>
            <a:r>
              <a:rPr sz="1275" b="0">
                <a:solidFill>
                  <a:srgbClr val="25212A"/>
                </a:solidFill>
                <a:latin typeface="等线"/>
                <a:ea typeface="等线"/>
                <a:cs typeface="等线"/>
              </a:rPr>
              <a:t>采血成熟；充分性缺口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97ADD4E0-D480-4EBC-B2FF-62E9CE1E2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24300"/>
            <a:ext cx="2381250" cy="6477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4EDF7"/>
          </a:solidFill>
          <a:ln xmlns:a="http://schemas.openxmlformats.org/drawingml/2006/main" w="9525">
            <a:solidFill>
              <a:srgbClr val="D9D2DC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16D8463E-72D8-419C-B251-AC7C6DC75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71925"/>
            <a:ext cx="2266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B1A6E"/>
                </a:solidFill>
                <a:latin typeface="等线"/>
                <a:ea typeface="等线"/>
                <a:cs typeface="等线"/>
              </a:defRPr>
            </a:pPr>
            <a:r>
              <a:rPr sz="1275" b="1">
                <a:solidFill>
                  <a:srgbClr val="5B1A6E"/>
                </a:solidFill>
                <a:latin typeface="等线"/>
                <a:ea typeface="等线"/>
                <a:cs typeface="等线"/>
              </a:rPr>
              <a:t>实验室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E814B846-B5D6-4928-9758-3696BD470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924300"/>
            <a:ext cx="2095500" cy="6477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4EDF7"/>
          </a:solidFill>
          <a:ln xmlns:a="http://schemas.openxmlformats.org/drawingml/2006/main" w="9525">
            <a:solidFill>
              <a:srgbClr val="D9D2DC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95388CA7-AA25-4A5D-85AC-09D358746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971925"/>
            <a:ext cx="1981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5212A"/>
                </a:solidFill>
                <a:latin typeface="等线"/>
                <a:ea typeface="等线"/>
                <a:cs typeface="等线"/>
              </a:defRPr>
            </a:pPr>
            <a:r>
              <a:rPr sz="1275" b="0">
                <a:solidFill>
                  <a:srgbClr val="25212A"/>
                </a:solidFill>
                <a:latin typeface="等线"/>
                <a:ea typeface="等线"/>
                <a:cs typeface="等线"/>
              </a:rPr>
              <a:t>低—中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A232BDDD-66F2-4630-BE9A-8AF38CD31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924300"/>
            <a:ext cx="2095500" cy="6477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4EDF7"/>
          </a:solidFill>
          <a:ln xmlns:a="http://schemas.openxmlformats.org/drawingml/2006/main" w="9525">
            <a:solidFill>
              <a:srgbClr val="D9D2DC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453A1CAA-C4D7-495A-9CAC-D72F6ED4D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971925"/>
            <a:ext cx="1981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5212A"/>
                </a:solidFill>
                <a:latin typeface="等线"/>
                <a:ea typeface="等线"/>
                <a:cs typeface="等线"/>
              </a:defRPr>
            </a:pPr>
            <a:r>
              <a:rPr sz="1275" b="0">
                <a:solidFill>
                  <a:srgbClr val="25212A"/>
                </a:solidFill>
                <a:latin typeface="等线"/>
                <a:ea typeface="等线"/>
                <a:cs typeface="等线"/>
              </a:rPr>
              <a:t>分钟—小时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4374C547-D509-4ECC-AD6B-2927354E4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924300"/>
            <a:ext cx="4095750" cy="6477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4EDF7"/>
          </a:solidFill>
          <a:ln xmlns:a="http://schemas.openxmlformats.org/drawingml/2006/main" w="9525">
            <a:solidFill>
              <a:srgbClr val="D9D2DC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8B31EB2B-370D-451D-BEC1-EF72DDF0C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971925"/>
            <a:ext cx="398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5212A"/>
                </a:solidFill>
                <a:latin typeface="等线"/>
                <a:ea typeface="等线"/>
                <a:cs typeface="等线"/>
              </a:defRPr>
            </a:pPr>
            <a:r>
              <a:rPr sz="1275" b="0">
                <a:solidFill>
                  <a:srgbClr val="25212A"/>
                </a:solidFill>
                <a:latin typeface="等线"/>
                <a:ea typeface="等线"/>
                <a:cs typeface="等线"/>
              </a:rPr>
              <a:t>器件闭环强；部署弱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46A4608D-13E5-4FDA-BBCE-C64C57610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0"/>
            <a:ext cx="2381250" cy="6477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DC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F3AD59C4-2D84-4239-9E7F-932894F9F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19625"/>
            <a:ext cx="2266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B1A6E"/>
                </a:solidFill>
                <a:latin typeface="等线"/>
                <a:ea typeface="等线"/>
                <a:cs typeface="等线"/>
              </a:defRPr>
            </a:pPr>
            <a:r>
              <a:rPr sz="1275" b="1">
                <a:solidFill>
                  <a:srgbClr val="5B1A6E"/>
                </a:solidFill>
                <a:latin typeface="等线"/>
                <a:ea typeface="等线"/>
                <a:cs typeface="等线"/>
              </a:rPr>
              <a:t>日常监测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5628A056-AF70-44F7-9CA9-601B4AAF0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572000"/>
            <a:ext cx="2095500" cy="6477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DC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FF1C5F00-7799-4F38-917D-D333CBED5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619625"/>
            <a:ext cx="1981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5212A"/>
                </a:solidFill>
                <a:latin typeface="等线"/>
                <a:ea typeface="等线"/>
                <a:cs typeface="等线"/>
              </a:defRPr>
            </a:pPr>
            <a:r>
              <a:rPr sz="1275" b="0">
                <a:solidFill>
                  <a:srgbClr val="25212A"/>
                </a:solidFill>
                <a:latin typeface="等线"/>
                <a:ea typeface="等线"/>
                <a:cs typeface="等线"/>
              </a:rPr>
              <a:t>低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CC0895FD-D117-4ED0-A1BE-7FE627699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572000"/>
            <a:ext cx="2095500" cy="6477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DC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14CC7CE0-18B3-4759-A0CF-6288368AE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619625"/>
            <a:ext cx="1981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5212A"/>
                </a:solidFill>
                <a:latin typeface="等线"/>
                <a:ea typeface="等线"/>
                <a:cs typeface="等线"/>
              </a:defRPr>
            </a:pPr>
            <a:r>
              <a:rPr sz="1275" b="0">
                <a:solidFill>
                  <a:srgbClr val="25212A"/>
                </a:solidFill>
                <a:latin typeface="等线"/>
                <a:ea typeface="等线"/>
                <a:cs typeface="等线"/>
              </a:rPr>
              <a:t>小时—月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A11FFC7E-3B22-49B3-9D71-68A4B98E3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572000"/>
            <a:ext cx="4095750" cy="6477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DC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0DB816B0-CB76-487B-A708-1FA27A718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619625"/>
            <a:ext cx="398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5212A"/>
                </a:solidFill>
                <a:latin typeface="等线"/>
                <a:ea typeface="等线"/>
                <a:cs typeface="等线"/>
              </a:defRPr>
            </a:pPr>
            <a:r>
              <a:rPr sz="1275" b="0">
                <a:solidFill>
                  <a:srgbClr val="25212A"/>
                </a:solidFill>
                <a:latin typeface="等线"/>
                <a:ea typeface="等线"/>
                <a:cs typeface="等线"/>
              </a:rPr>
              <a:t>纵向数据强；动作环弱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1C7B30B4-3444-40F3-BA3D-2A04F1669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53100"/>
            <a:ext cx="10810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D6672"/>
                </a:solidFill>
                <a:latin typeface="等线"/>
                <a:ea typeface="等线"/>
                <a:cs typeface="等线"/>
              </a:defRPr>
            </a:pPr>
            <a:r>
              <a:rPr sz="1200" b="0">
                <a:solidFill>
                  <a:srgbClr val="6D6672"/>
                </a:solidFill>
                <a:latin typeface="等线"/>
                <a:ea typeface="等线"/>
                <a:cs typeface="等线"/>
              </a:rPr>
              <a:t>列：机制｜行动风险｜反馈延迟｜当前证据。成熟度不是自治等级。</a:t>
            </a:r>
          </a:p>
        </p:txBody>
      </p:sp>
    </p:spTree>
    <p:extLst>
      <p:ext uri="{BB962C8B-B14F-4D97-AF65-F5344CB8AC3E}">
        <p14:creationId xmlns:p14="http://schemas.microsoft.com/office/powerpoint/2010/main" val="2025121370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菱形 6">
            <a:extLst xmlns:a="http://schemas.openxmlformats.org/drawingml/2006/main">
              <a:ext uri="{FF2B5EF4-FFF2-40B4-BE49-F238E27FC236}">
                <a16:creationId xmlns:a16="http://schemas.microsoft.com/office/drawing/2014/main" id="{8825E84B-323B-49D9-8108-437BE039C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646273" y="6312273"/>
            <a:ext cx="545727" cy="545727"/>
          </a:xfrm>
          <a:prstGeom xmlns:a="http://schemas.openxmlformats.org/drawingml/2006/main" prst="diamond">
            <a:avLst/>
          </a:prstGeom>
          <a:gradFill xmlns:a="http://schemas.openxmlformats.org/drawingml/2006/main">
            <a:gsLst>
              <a:gs pos="100000">
                <a:srgbClr val="C8282A"/>
              </a:gs>
              <a:gs pos="0">
                <a:srgbClr val="194779"/>
              </a:gs>
            </a:gsLst>
            <a:lin ang="18900000" scaled="0"/>
          </a:gradFill>
          <a:ln xmlns:a="http://schemas.openxmlformats.org/drawingml/2006/main">
            <a:noFill/>
          </a:ln>
          <a:effectLst xmlns:a="http://schemas.openxmlformats.org/drawingml/2006/main">
            <a:outerShdw blurRad="127000" dist="38100" dir="2700000" algn="ctr">
              <a:srgbClr val="000000">
                <a:alpha val="45000"/>
              </a:srgb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DengXian"/>
              <a:ea typeface="DengXian"/>
              <a:cs typeface="DengXian"/>
            </a:endParaR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C092C980-ED75-4D29-A46B-D4C2D5D83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79448" y="6438719"/>
            <a:ext cx="320922" cy="338554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glow rad="63500">
              <a:schemeClr val="accent3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600">
                <a:solidFill>
                  <a:prstClr val="white"/>
                </a:solidFill>
                <a:latin typeface="Arial Black"/>
                <a:ea typeface="Arial Black"/>
                <a:cs typeface="Arial Black"/>
              </a:rPr>
              <a:t>27</a:t>
            </a:r>
            <a:endParaRPr sz="1600" b="0" i="0" u="none" kern="1200" cap="none" spc="0" baseline="0">
              <a:ln>
                <a:noFill/>
              </a:ln>
              <a:solidFill>
                <a:prstClr val="white"/>
              </a:solidFill>
              <a:latin typeface="Arial Black"/>
              <a:ea typeface="Arial Black"/>
              <a:cs typeface="Arial Black"/>
            </a:endParaRP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5E3D2DBA-49E9-4CCC-954E-E5F077021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7771"/>
            <a:ext cx="12192000" cy="58404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00000">
                <a:schemeClr val="bg1"/>
              </a:gs>
              <a:gs pos="18000">
                <a:srgbClr val="813789"/>
              </a:gs>
              <a:gs pos="0">
                <a:srgbClr val="813789"/>
              </a:gs>
            </a:gsLst>
            <a:lin ang="270000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60" name="图片 3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1100ed816746a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73387" y="11991"/>
            <a:ext cx="1676015" cy="655780"/>
          </a:xfrm>
          <a:prstGeom xmlns:a="http://schemas.openxmlformats.org/drawingml/2006/main" prst="rect">
            <a:avLst/>
          </a:prstGeom>
        </p:spPr>
      </p:pic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CA205373-4581-4B3B-B4F7-9D33498BF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860" y="200660"/>
            <a:ext cx="5683885" cy="460375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25400" dist="25400" dir="2700000" algn="tl" rotWithShape="0">
              <a:prstClr val="black">
                <a:alpha val="46000"/>
              </a:prstClr>
            </a:outerShdw>
          </a:effectLst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>
                <a:solidFill>
                  <a:srgbClr val="813789"/>
                </a:solidFill>
                <a:latin typeface="Arial"/>
                <a:ea typeface="Arial"/>
                <a:cs typeface="Arial"/>
              </a:rPr>
              <a:t>Research opportunities</a:t>
            </a:r>
            <a:endParaRPr sz="2400" b="1" i="0" u="none" kern="1200" cap="none" spc="0" baseline="0">
              <a:ln>
                <a:noFill/>
              </a:ln>
              <a:solidFill>
                <a:srgbClr val="81378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77E6F11E-B04D-4DB9-982C-23761098E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76225"/>
            <a:ext cx="5599430" cy="398780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25400" dist="25400" dir="2700000" algn="tl" rotWithShape="0">
              <a:prstClr val="black">
                <a:alpha val="46000"/>
              </a:prstClr>
            </a:outerShdw>
          </a:effectLst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000" b="1">
                <a:ln>
                  <a:noFill/>
                </a:ln>
                <a:solidFill>
                  <a:srgbClr val="813789"/>
                </a:solidFill>
                <a:latin typeface="Arial"/>
                <a:ea typeface="Arial"/>
                <a:cs typeface="Arial"/>
              </a:rPr>
              <a:t>4.2 Recommended entry points</a:t>
            </a:r>
            <a:endParaRPr sz="2000" b="1" i="0" u="none" kern="1200" cap="none" spc="0" baseline="0">
              <a:ln>
                <a:noFill/>
              </a:ln>
              <a:solidFill>
                <a:srgbClr val="81378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734851E-1821-486D-8A6B-AA554338C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742950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5212A"/>
                </a:solidFill>
                <a:latin typeface="等线"/>
                <a:ea typeface="等线"/>
                <a:cs typeface="等线"/>
              </a:defRPr>
            </a:pPr>
            <a:r>
              <a:rPr sz="2100" b="1">
                <a:solidFill>
                  <a:srgbClr val="25212A"/>
                </a:solidFill>
                <a:latin typeface="等线"/>
                <a:ea typeface="等线"/>
                <a:cs typeface="等线"/>
              </a:rPr>
              <a:t>优先研究切入点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1D50F09-1383-4879-AEEE-B1339179F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162050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B1A6E"/>
                </a:solidFill>
                <a:latin typeface="等线"/>
                <a:ea typeface="等线"/>
                <a:cs typeface="等线"/>
              </a:defRPr>
            </a:pPr>
            <a:r>
              <a:rPr sz="1500" b="1">
                <a:solidFill>
                  <a:srgbClr val="5B1A6E"/>
                </a:solidFill>
                <a:latin typeface="等线"/>
                <a:ea typeface="等线"/>
                <a:cs typeface="等线"/>
              </a:rPr>
              <a:t>优先做“闭环可验证、硬件可获得、临床问题清楚”的研究，而不是追求最大自治。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E1E2D61-4274-4467-A306-AE21EA26D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904875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D65"/>
          </a:solidFill>
          <a:ln xmlns:a="http://schemas.openxmlformats.org/drawingml/2006/main" w="9525">
            <a:solidFill>
              <a:srgbClr val="2E7D6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982FFBF-8EA1-49F7-8628-93BD1062E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904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等线"/>
                <a:ea typeface="等线"/>
                <a:cs typeface="等线"/>
              </a:defRPr>
            </a:pPr>
            <a:r>
              <a:rPr sz="1050" b="1">
                <a:solidFill>
                  <a:srgbClr val="FFFFFF"/>
                </a:solidFill>
                <a:latin typeface="等线"/>
                <a:ea typeface="等线"/>
                <a:cs typeface="等线"/>
              </a:rPr>
              <a:t>首选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13EA7F1-F769-4214-A428-82DE5950A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609725"/>
            <a:ext cx="323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B1A6E"/>
                </a:solidFill>
                <a:latin typeface="等线"/>
                <a:ea typeface="等线"/>
                <a:cs typeface="等线"/>
              </a:defRPr>
            </a:pPr>
            <a:r>
              <a:rPr sz="1575" b="1">
                <a:solidFill>
                  <a:srgbClr val="5B1A6E"/>
                </a:solidFill>
                <a:latin typeface="等线"/>
                <a:ea typeface="等线"/>
                <a:cs typeface="等线"/>
              </a:rPr>
              <a:t>① 主动光学/光谱扫描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873F220-3053-465F-A6B9-51D871E85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609725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5212A"/>
                </a:solidFill>
                <a:latin typeface="等线"/>
                <a:ea typeface="等线"/>
                <a:cs typeface="等线"/>
              </a:defRPr>
            </a:pPr>
            <a:r>
              <a:rPr sz="1275" b="0">
                <a:solidFill>
                  <a:srgbClr val="25212A"/>
                </a:solidFill>
                <a:latin typeface="等线"/>
                <a:ea typeface="等线"/>
                <a:cs typeface="等线"/>
              </a:rPr>
              <a:t>信息增益与停止规则可离线+仿体验证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20800A8-82DD-420A-86B8-8E928A643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0972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D6672"/>
                </a:solidFill>
                <a:latin typeface="等线"/>
                <a:ea typeface="等线"/>
                <a:cs typeface="等线"/>
              </a:defRPr>
            </a:pPr>
            <a:r>
              <a:rPr sz="1275" b="0">
                <a:solidFill>
                  <a:srgbClr val="6D6672"/>
                </a:solidFill>
                <a:latin typeface="等线"/>
                <a:ea typeface="等线"/>
                <a:cs typeface="等线"/>
              </a:rPr>
              <a:t>低侵入；数据与硬件可控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AFEEEB1-8B6D-4BFD-863A-24B906BDA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190750"/>
            <a:ext cx="95821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B1A6E"/>
          </a:solidFill>
          <a:ln xmlns:a="http://schemas.openxmlformats.org/drawingml/2006/main" w="9525">
            <a:solidFill>
              <a:srgbClr val="5B1A6E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A8375A3-1070-4A6A-85FC-68C84E5D0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47975"/>
            <a:ext cx="904875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A3E8E"/>
          </a:solidFill>
          <a:ln xmlns:a="http://schemas.openxmlformats.org/drawingml/2006/main" w="9525">
            <a:solidFill>
              <a:srgbClr val="7A3E8E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A09B236-7D35-4863-90FB-72F0B3B00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47975"/>
            <a:ext cx="904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等线"/>
                <a:ea typeface="等线"/>
                <a:cs typeface="等线"/>
              </a:defRPr>
            </a:pPr>
            <a:r>
              <a:rPr sz="1050" b="1">
                <a:solidFill>
                  <a:srgbClr val="FFFFFF"/>
                </a:solidFill>
                <a:latin typeface="等线"/>
                <a:ea typeface="等线"/>
                <a:cs typeface="等线"/>
              </a:rPr>
              <a:t>高价值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667D478-3EBA-41BA-BBFF-F5C1780B0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800350"/>
            <a:ext cx="323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B1A6E"/>
                </a:solidFill>
                <a:latin typeface="等线"/>
                <a:ea typeface="等线"/>
                <a:cs typeface="等线"/>
              </a:defRPr>
            </a:pPr>
            <a:r>
              <a:rPr sz="1575" b="1">
                <a:solidFill>
                  <a:srgbClr val="5B1A6E"/>
                </a:solidFill>
                <a:latin typeface="等线"/>
                <a:ea typeface="等线"/>
                <a:cs typeface="等线"/>
              </a:rPr>
              <a:t>② 样本充分性感知活检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FA51D66-288E-462A-828D-3AAEA8DC2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0035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5212A"/>
                </a:solidFill>
                <a:latin typeface="等线"/>
                <a:ea typeface="等线"/>
                <a:cs typeface="等线"/>
              </a:defRPr>
            </a:pPr>
            <a:r>
              <a:rPr sz="1275" b="0">
                <a:solidFill>
                  <a:srgbClr val="25212A"/>
                </a:solidFill>
                <a:latin typeface="等线"/>
                <a:ea typeface="等线"/>
                <a:cs typeface="等线"/>
              </a:rPr>
              <a:t>临床痛点明确；闭环缺口大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ACF1FB4-5FC5-42CB-9EC0-E9917128C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003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D6672"/>
                </a:solidFill>
                <a:latin typeface="等线"/>
                <a:ea typeface="等线"/>
                <a:cs typeface="等线"/>
              </a:defRPr>
            </a:pPr>
            <a:r>
              <a:rPr sz="1275" b="0">
                <a:solidFill>
                  <a:srgbClr val="6D6672"/>
                </a:solidFill>
                <a:latin typeface="等线"/>
                <a:ea typeface="等线"/>
                <a:cs typeface="等线"/>
              </a:rPr>
              <a:t>需跨病理合作与高安全门槛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F968364-4CA6-4134-BFFB-639A91DE8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381375"/>
            <a:ext cx="95821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A3E8E"/>
          </a:solidFill>
          <a:ln xmlns:a="http://schemas.openxmlformats.org/drawingml/2006/main" w="9525">
            <a:solidFill>
              <a:srgbClr val="7A3E8E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E563FC4-5F3D-419E-9C52-3A551F7BB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38600"/>
            <a:ext cx="904875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A3E8E"/>
          </a:solidFill>
          <a:ln xmlns:a="http://schemas.openxmlformats.org/drawingml/2006/main" w="9525">
            <a:solidFill>
              <a:srgbClr val="7A3E8E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AAEB59D-7DA9-4027-8174-D35ADB4BD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38600"/>
            <a:ext cx="904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等线"/>
                <a:ea typeface="等线"/>
                <a:cs typeface="等线"/>
              </a:defRPr>
            </a:pPr>
            <a:r>
              <a:rPr sz="1050" b="1">
                <a:solidFill>
                  <a:srgbClr val="FFFFFF"/>
                </a:solidFill>
                <a:latin typeface="等线"/>
                <a:ea typeface="等线"/>
                <a:cs typeface="等线"/>
              </a:rPr>
              <a:t>可并行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DB05B20-12A8-4E8F-8C07-E9A9735FF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990975"/>
            <a:ext cx="323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B1A6E"/>
                </a:solidFill>
                <a:latin typeface="等线"/>
                <a:ea typeface="等线"/>
                <a:cs typeface="等线"/>
              </a:defRPr>
            </a:pPr>
            <a:r>
              <a:rPr sz="1575" b="1">
                <a:solidFill>
                  <a:srgbClr val="5B1A6E"/>
                </a:solidFill>
                <a:latin typeface="等线"/>
                <a:ea typeface="等线"/>
                <a:cs typeface="等线"/>
              </a:rPr>
              <a:t>③ 家庭异常后主动确认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B531CBF-B673-4710-8548-C42BAE395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990975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5212A"/>
                </a:solidFill>
                <a:latin typeface="等线"/>
                <a:ea typeface="等线"/>
                <a:cs typeface="等线"/>
              </a:defRPr>
            </a:pPr>
            <a:r>
              <a:rPr sz="1275" b="0">
                <a:solidFill>
                  <a:srgbClr val="25212A"/>
                </a:solidFill>
                <a:latin typeface="等线"/>
                <a:ea typeface="等线"/>
                <a:cs typeface="等线"/>
              </a:rPr>
              <a:t>可先做软件+现有可穿戴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19267D1-D83A-41DB-B083-6B3A60412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99097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D6672"/>
                </a:solidFill>
                <a:latin typeface="等线"/>
                <a:ea typeface="等线"/>
                <a:cs typeface="等线"/>
              </a:defRPr>
            </a:pPr>
            <a:r>
              <a:rPr sz="1275" b="0">
                <a:solidFill>
                  <a:srgbClr val="6D6672"/>
                </a:solidFill>
                <a:latin typeface="等线"/>
                <a:ea typeface="等线"/>
                <a:cs typeface="等线"/>
              </a:rPr>
              <a:t>需长期前瞻性与依从性设计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B139CCE-1CA9-49C7-9E28-ED699A81B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572000"/>
            <a:ext cx="95821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D2DC"/>
          </a:solidFill>
          <a:ln xmlns:a="http://schemas.openxmlformats.org/drawingml/2006/main" w="9525">
            <a:solidFill>
              <a:srgbClr val="D9D2DC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E797EFA-EB3B-4E60-8337-7552ECECA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53100"/>
            <a:ext cx="10810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D6672"/>
                </a:solidFill>
                <a:latin typeface="等线"/>
                <a:ea typeface="等线"/>
                <a:cs typeface="等线"/>
              </a:defRPr>
            </a:pPr>
            <a:r>
              <a:rPr sz="1200" b="0">
                <a:solidFill>
                  <a:srgbClr val="6D6672"/>
                </a:solidFill>
                <a:latin typeface="等线"/>
                <a:ea typeface="等线"/>
                <a:cs typeface="等线"/>
              </a:rPr>
              <a:t>机器人超声适合作为成熟参照和算法验证平台，但硬件/临床竞争更强。</a:t>
            </a:r>
          </a:p>
        </p:txBody>
      </p:sp>
    </p:spTree>
    <p:extLst>
      <p:ext uri="{BB962C8B-B14F-4D97-AF65-F5344CB8AC3E}">
        <p14:creationId xmlns:p14="http://schemas.microsoft.com/office/powerpoint/2010/main" val="2025121370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菱形 6">
            <a:extLst xmlns:a="http://schemas.openxmlformats.org/drawingml/2006/main">
              <a:ext uri="{FF2B5EF4-FFF2-40B4-BE49-F238E27FC236}">
                <a16:creationId xmlns:a16="http://schemas.microsoft.com/office/drawing/2014/main" id="{8825E84B-323B-49D9-8108-437BE039C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646273" y="6312273"/>
            <a:ext cx="545727" cy="545727"/>
          </a:xfrm>
          <a:prstGeom xmlns:a="http://schemas.openxmlformats.org/drawingml/2006/main" prst="diamond">
            <a:avLst/>
          </a:prstGeom>
          <a:gradFill xmlns:a="http://schemas.openxmlformats.org/drawingml/2006/main">
            <a:gsLst>
              <a:gs pos="100000">
                <a:srgbClr val="C8282A"/>
              </a:gs>
              <a:gs pos="0">
                <a:srgbClr val="194779"/>
              </a:gs>
            </a:gsLst>
            <a:lin ang="18900000" scaled="0"/>
          </a:gradFill>
          <a:ln xmlns:a="http://schemas.openxmlformats.org/drawingml/2006/main">
            <a:noFill/>
          </a:ln>
          <a:effectLst xmlns:a="http://schemas.openxmlformats.org/drawingml/2006/main">
            <a:outerShdw blurRad="127000" dist="38100" dir="2700000" algn="ctr">
              <a:srgbClr val="000000">
                <a:alpha val="45000"/>
              </a:srgb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DengXian"/>
              <a:ea typeface="DengXian"/>
              <a:cs typeface="DengXian"/>
            </a:endParaR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C092C980-ED75-4D29-A46B-D4C2D5D83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79448" y="6438719"/>
            <a:ext cx="320922" cy="338554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glow rad="63500">
              <a:schemeClr val="accent3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600">
                <a:solidFill>
                  <a:prstClr val="white"/>
                </a:solidFill>
                <a:latin typeface="Arial Black"/>
                <a:ea typeface="Arial Black"/>
                <a:cs typeface="Arial Black"/>
              </a:rPr>
              <a:t>28</a:t>
            </a:r>
            <a:endParaRPr sz="1600" b="0" i="0" u="none" kern="1200" cap="none" spc="0" baseline="0">
              <a:ln>
                <a:noFill/>
              </a:ln>
              <a:solidFill>
                <a:prstClr val="white"/>
              </a:solidFill>
              <a:latin typeface="Arial Black"/>
              <a:ea typeface="Arial Black"/>
              <a:cs typeface="Arial Black"/>
            </a:endParaRP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5E3D2DBA-49E9-4CCC-954E-E5F077021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7771"/>
            <a:ext cx="12192000" cy="58404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00000">
                <a:schemeClr val="bg1"/>
              </a:gs>
              <a:gs pos="18000">
                <a:srgbClr val="813789"/>
              </a:gs>
              <a:gs pos="0">
                <a:srgbClr val="813789"/>
              </a:gs>
            </a:gsLst>
            <a:lin ang="270000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65" name="图片 3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07dc5ee1bf41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73387" y="11991"/>
            <a:ext cx="1676015" cy="655780"/>
          </a:xfrm>
          <a:prstGeom xmlns:a="http://schemas.openxmlformats.org/drawingml/2006/main" prst="rect">
            <a:avLst/>
          </a:prstGeom>
        </p:spPr>
      </p:pic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CA205373-4581-4B3B-B4F7-9D33498BF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860" y="200660"/>
            <a:ext cx="5683885" cy="460375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25400" dist="25400" dir="2700000" algn="tl" rotWithShape="0">
              <a:prstClr val="black">
                <a:alpha val="46000"/>
              </a:prstClr>
            </a:outerShdw>
          </a:effectLst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>
                <a:solidFill>
                  <a:srgbClr val="813789"/>
                </a:solidFill>
                <a:latin typeface="Arial"/>
                <a:ea typeface="Arial"/>
                <a:cs typeface="Arial"/>
              </a:rPr>
              <a:t>Research roadmap</a:t>
            </a:r>
            <a:endParaRPr sz="2400" b="1" i="0" u="none" kern="1200" cap="none" spc="0" baseline="0">
              <a:ln>
                <a:noFill/>
              </a:ln>
              <a:solidFill>
                <a:srgbClr val="81378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77E6F11E-B04D-4DB9-982C-23761098E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76225"/>
            <a:ext cx="5599430" cy="398780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25400" dist="25400" dir="2700000" algn="tl" rotWithShape="0">
              <a:prstClr val="black">
                <a:alpha val="46000"/>
              </a:prstClr>
            </a:outerShdw>
          </a:effectLst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000" b="1">
                <a:ln>
                  <a:noFill/>
                </a:ln>
                <a:solidFill>
                  <a:srgbClr val="813789"/>
                </a:solidFill>
                <a:latin typeface="Arial"/>
                <a:ea typeface="Arial"/>
                <a:cs typeface="Arial"/>
              </a:rPr>
              <a:t>4.3 Translation path</a:t>
            </a:r>
            <a:endParaRPr sz="2000" b="1" i="0" u="none" kern="1200" cap="none" spc="0" baseline="0">
              <a:ln>
                <a:noFill/>
              </a:ln>
              <a:solidFill>
                <a:srgbClr val="81378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FBAEA73-04A6-4E06-8CEC-CAE72BA9D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742950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5212A"/>
                </a:solidFill>
                <a:latin typeface="等线"/>
                <a:ea typeface="等线"/>
                <a:cs typeface="等线"/>
              </a:defRPr>
            </a:pPr>
            <a:r>
              <a:rPr sz="2100" b="1">
                <a:solidFill>
                  <a:srgbClr val="25212A"/>
                </a:solidFill>
                <a:latin typeface="等线"/>
                <a:ea typeface="等线"/>
                <a:cs typeface="等线"/>
              </a:rPr>
              <a:t>三阶段研究路线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6EA2577-28C0-4A21-A8C5-900A340BF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162050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B1A6E"/>
                </a:solidFill>
                <a:latin typeface="等线"/>
                <a:ea typeface="等线"/>
                <a:cs typeface="等线"/>
              </a:defRPr>
            </a:pPr>
            <a:r>
              <a:rPr sz="1500" b="1">
                <a:solidFill>
                  <a:srgbClr val="5B1A6E"/>
                </a:solidFill>
                <a:latin typeface="等线"/>
                <a:ea typeface="等线"/>
                <a:cs typeface="等线"/>
              </a:rPr>
              <a:t>每一阶段都用可证伪的闭环终点推进，而非直接从模拟跳到“临床自主”。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488CA2D-FCAC-4D69-A19A-19B080F81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3333750" cy="1476375"/>
          </a:xfrm>
          <a:prstGeom xmlns:a="http://schemas.openxmlformats.org/drawingml/2006/main" prst="roundRect">
            <a:avLst>
              <a:gd name="adj" fmla="val 116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DC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266AA78-8B95-44E8-8B77-2F2B2615A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5260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5B1A6E"/>
                </a:solidFill>
                <a:latin typeface="等线"/>
                <a:ea typeface="等线"/>
                <a:cs typeface="等线"/>
              </a:defRPr>
            </a:pPr>
            <a:r>
              <a:rPr sz="1575" b="1">
                <a:solidFill>
                  <a:srgbClr val="5B1A6E"/>
                </a:solidFill>
                <a:latin typeface="等线"/>
                <a:ea typeface="等线"/>
                <a:cs typeface="等线"/>
              </a:rPr>
              <a:t>0–12 个月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866B508-312E-42AF-A693-3A086576B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336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5212A"/>
                </a:solidFill>
                <a:latin typeface="等线"/>
                <a:ea typeface="等线"/>
                <a:cs typeface="等线"/>
              </a:defRPr>
            </a:pPr>
            <a:r>
              <a:rPr sz="1425" b="1">
                <a:solidFill>
                  <a:srgbClr val="25212A"/>
                </a:solidFill>
                <a:latin typeface="等线"/>
                <a:ea typeface="等线"/>
                <a:cs typeface="等线"/>
              </a:rPr>
              <a:t>回放/仿体闭环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827CBB8-C09B-453B-8107-B4D95D942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908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D6672"/>
                </a:solidFill>
                <a:latin typeface="等线"/>
                <a:ea typeface="等线"/>
                <a:cs typeface="等线"/>
              </a:defRPr>
            </a:pPr>
            <a:r>
              <a:rPr sz="1200" b="0">
                <a:solidFill>
                  <a:srgbClr val="6D6672"/>
                </a:solidFill>
                <a:latin typeface="等线"/>
                <a:ea typeface="等线"/>
                <a:cs typeface="等线"/>
              </a:rPr>
              <a:t>信息增益、失败恢复、停止校准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493F707-CDC8-4FE8-872D-30002DC50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1619250"/>
            <a:ext cx="3333750" cy="1476375"/>
          </a:xfrm>
          <a:prstGeom xmlns:a="http://schemas.openxmlformats.org/drawingml/2006/main" prst="roundRect">
            <a:avLst>
              <a:gd name="adj" fmla="val 11613"/>
            </a:avLst>
          </a:prstGeom>
          <a:solidFill xmlns:a="http://schemas.openxmlformats.org/drawingml/2006/main">
            <a:srgbClr val="F4EDF7"/>
          </a:solidFill>
          <a:ln xmlns:a="http://schemas.openxmlformats.org/drawingml/2006/main" w="9525">
            <a:solidFill>
              <a:srgbClr val="7A3E8E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9EE6058-A6B7-4B94-BEF5-07B2822FA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75260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5B1A6E"/>
                </a:solidFill>
                <a:latin typeface="等线"/>
                <a:ea typeface="等线"/>
                <a:cs typeface="等线"/>
              </a:defRPr>
            </a:pPr>
            <a:r>
              <a:rPr sz="1575" b="1">
                <a:solidFill>
                  <a:srgbClr val="5B1A6E"/>
                </a:solidFill>
                <a:latin typeface="等线"/>
                <a:ea typeface="等线"/>
                <a:cs typeface="等线"/>
              </a:rPr>
              <a:t>12–24 个月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A1B3BA0-51EB-4007-8FE4-290A5A94C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1336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5212A"/>
                </a:solidFill>
                <a:latin typeface="等线"/>
                <a:ea typeface="等线"/>
                <a:cs typeface="等线"/>
              </a:defRPr>
            </a:pPr>
            <a:r>
              <a:rPr sz="1425" b="1">
                <a:solidFill>
                  <a:srgbClr val="25212A"/>
                </a:solidFill>
                <a:latin typeface="等线"/>
                <a:ea typeface="等线"/>
                <a:cs typeface="等线"/>
              </a:rPr>
              <a:t>受控人体可行性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4B123EE-B81D-4C89-AF7C-E68DB6D82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5908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D6672"/>
                </a:solidFill>
                <a:latin typeface="等线"/>
                <a:ea typeface="等线"/>
                <a:cs typeface="等线"/>
              </a:defRPr>
            </a:pPr>
            <a:r>
              <a:rPr sz="1200" b="0">
                <a:solidFill>
                  <a:srgbClr val="6D6672"/>
                </a:solidFill>
                <a:latin typeface="等线"/>
                <a:ea typeface="等线"/>
                <a:cs typeface="等线"/>
              </a:rPr>
              <a:t>安全、可重复性、人员介入、负担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FA1696A-D6C6-4D24-AB5A-C3F442AC9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619250"/>
            <a:ext cx="3333750" cy="1476375"/>
          </a:xfrm>
          <a:prstGeom xmlns:a="http://schemas.openxmlformats.org/drawingml/2006/main" prst="roundRect">
            <a:avLst>
              <a:gd name="adj" fmla="val 116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DC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6BDBE77-4534-4339-AC32-048E1F163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5260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5B1A6E"/>
                </a:solidFill>
                <a:latin typeface="等线"/>
                <a:ea typeface="等线"/>
                <a:cs typeface="等线"/>
              </a:defRPr>
            </a:pPr>
            <a:r>
              <a:rPr sz="1575" b="1">
                <a:solidFill>
                  <a:srgbClr val="5B1A6E"/>
                </a:solidFill>
                <a:latin typeface="等线"/>
                <a:ea typeface="等线"/>
                <a:cs typeface="等线"/>
              </a:rPr>
              <a:t>24–48 个月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B7C9287-80B9-4ECA-A216-68C025CC9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336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5212A"/>
                </a:solidFill>
                <a:latin typeface="等线"/>
                <a:ea typeface="等线"/>
                <a:cs typeface="等线"/>
              </a:defRPr>
            </a:pPr>
            <a:r>
              <a:rPr sz="1425" b="1">
                <a:solidFill>
                  <a:srgbClr val="25212A"/>
                </a:solidFill>
                <a:latin typeface="等线"/>
                <a:ea typeface="等线"/>
                <a:cs typeface="等线"/>
              </a:rPr>
              <a:t>前瞻性工作流试验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7592F8E-274D-40AA-9D93-914F5F2D8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5908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98422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D6672"/>
                </a:solidFill>
                <a:latin typeface="等线"/>
                <a:ea typeface="等线"/>
                <a:cs typeface="等线"/>
              </a:defRPr>
            </a:pPr>
            <a:r>
              <a:rPr sz="1200" b="0">
                <a:solidFill>
                  <a:srgbClr val="6D6672"/>
                </a:solidFill>
                <a:latin typeface="等线"/>
                <a:ea typeface="等线"/>
                <a:cs typeface="等线"/>
              </a:rPr>
              <a:t>决策时间、无效检测、诊断遗漏、患者结局</a:t>
            </a:r>
          </a:p>
        </p:txBody>
      </p:sp>
      <p:cxnSp>
        <p:nvCxnSpPr>
          <p:cNvPr id="82" name=""/>
          <p:cNvCxnSpPr>
            <a:stCxn xmlns:a="http://schemas.openxmlformats.org/drawingml/2006/main" id="38" idx="3"/>
            <a:endCxn xmlns:a="http://schemas.openxmlformats.org/drawingml/2006/main" id="42" idx="1"/>
          </p:cNvCxnSpPr>
          <p:nvPr/>
        </p:nvCxnSpPr>
        <p:spPr>
          <a:xfrm xmlns:a="http://schemas.openxmlformats.org/drawingml/2006/main">
            <a:off x="3790950" y="2357438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A3E8E"/>
            </a:solidFill>
            <a:prstDash val="solid"/>
            <a:headEnd type="triangle" w="sm" len="sm"/>
          </a:ln>
        </p:spPr>
      </p:cxnSp>
      <p:cxnSp>
        <p:nvCxnSpPr>
          <p:cNvPr id="83" name=""/>
          <p:cNvCxnSpPr>
            <a:stCxn xmlns:a="http://schemas.openxmlformats.org/drawingml/2006/main" id="42" idx="3"/>
            <a:endCxn xmlns:a="http://schemas.openxmlformats.org/drawingml/2006/main" id="46" idx="1"/>
          </p:cNvCxnSpPr>
          <p:nvPr/>
        </p:nvCxnSpPr>
        <p:spPr>
          <a:xfrm xmlns:a="http://schemas.openxmlformats.org/drawingml/2006/main">
            <a:off x="7467600" y="2357438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A3E8E"/>
            </a:solidFill>
            <a:prstDash val="solid"/>
            <a:headEnd type="triangle" w="sm" len="sm"/>
          </a:ln>
        </p:spPr>
      </p:cxn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D5E0E71-27B5-470E-B6EC-395DA2E73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0"/>
            <a:ext cx="1047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B1A6E"/>
          </a:solidFill>
          <a:ln xmlns:a="http://schemas.openxmlformats.org/drawingml/2006/main" w="9525">
            <a:solidFill>
              <a:srgbClr val="5B1A6E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C96CC2C-958D-4368-891A-5210D0441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等线"/>
                <a:ea typeface="等线"/>
                <a:cs typeface="等线"/>
              </a:defRPr>
            </a:pPr>
            <a:r>
              <a:rPr sz="1050" b="1">
                <a:solidFill>
                  <a:srgbClr val="FFFFFF"/>
                </a:solidFill>
                <a:latin typeface="等线"/>
                <a:ea typeface="等线"/>
                <a:cs typeface="等线"/>
              </a:rPr>
              <a:t>Gate 1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4B6DEB4-EF62-4711-B1A8-31ED33B69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409950"/>
            <a:ext cx="9477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5212A"/>
                </a:solidFill>
                <a:latin typeface="等线"/>
                <a:ea typeface="等线"/>
                <a:cs typeface="等线"/>
              </a:defRPr>
            </a:pPr>
            <a:r>
              <a:rPr sz="1275" b="0">
                <a:solidFill>
                  <a:srgbClr val="25212A"/>
                </a:solidFill>
                <a:latin typeface="等线"/>
                <a:ea typeface="等线"/>
                <a:cs typeface="等线"/>
              </a:rPr>
              <a:t>证明反馈优于固定策略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856B267-4FD0-4EE6-8940-6161623DC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981450"/>
            <a:ext cx="1047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569A8"/>
          </a:solidFill>
          <a:ln xmlns:a="http://schemas.openxmlformats.org/drawingml/2006/main" w="9525">
            <a:solidFill>
              <a:srgbClr val="3569A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2A00C6E-DA5D-45C2-8C9D-5D64BE76E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9814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等线"/>
                <a:ea typeface="等线"/>
                <a:cs typeface="等线"/>
              </a:defRPr>
            </a:pPr>
            <a:r>
              <a:rPr sz="1050" b="1">
                <a:solidFill>
                  <a:srgbClr val="FFFFFF"/>
                </a:solidFill>
                <a:latin typeface="等线"/>
                <a:ea typeface="等线"/>
                <a:cs typeface="等线"/>
              </a:rPr>
              <a:t>Gate 2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D967B08-4E81-4316-89C9-9AC9D88B1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962400"/>
            <a:ext cx="9477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5212A"/>
                </a:solidFill>
                <a:latin typeface="等线"/>
                <a:ea typeface="等线"/>
                <a:cs typeface="等线"/>
              </a:defRPr>
            </a:pPr>
            <a:r>
              <a:rPr sz="1275" b="0">
                <a:solidFill>
                  <a:srgbClr val="25212A"/>
                </a:solidFill>
                <a:latin typeface="等线"/>
                <a:ea typeface="等线"/>
                <a:cs typeface="等线"/>
              </a:rPr>
              <a:t>限定运行域内安全可靠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E443C2B-D901-44A4-B9A1-83AFE2D92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33900"/>
            <a:ext cx="1047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569A8"/>
          </a:solidFill>
          <a:ln xmlns:a="http://schemas.openxmlformats.org/drawingml/2006/main" w="9525">
            <a:solidFill>
              <a:srgbClr val="3569A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6F81431-88F4-4943-874F-BBB2F0DFE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339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等线"/>
                <a:ea typeface="等线"/>
                <a:cs typeface="等线"/>
              </a:defRPr>
            </a:pPr>
            <a:r>
              <a:rPr sz="1050" b="1">
                <a:solidFill>
                  <a:srgbClr val="FFFFFF"/>
                </a:solidFill>
                <a:latin typeface="等线"/>
                <a:ea typeface="等线"/>
                <a:cs typeface="等线"/>
              </a:rPr>
              <a:t>Gate 3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3468A84-7C4D-4D17-9737-333C64E44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514850"/>
            <a:ext cx="9477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5212A"/>
                </a:solidFill>
                <a:latin typeface="等线"/>
                <a:ea typeface="等线"/>
                <a:cs typeface="等线"/>
              </a:defRPr>
            </a:pPr>
            <a:r>
              <a:rPr sz="1275" b="0">
                <a:solidFill>
                  <a:srgbClr val="25212A"/>
                </a:solidFill>
                <a:latin typeface="等线"/>
                <a:ea typeface="等线"/>
                <a:cs typeface="等线"/>
              </a:rPr>
              <a:t>证明改变患者相关决策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6DF5DEC-7F8E-43C7-ACF9-C7C2AD7CD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53100"/>
            <a:ext cx="10810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D6672"/>
                </a:solidFill>
                <a:latin typeface="等线"/>
                <a:ea typeface="等线"/>
                <a:cs typeface="等线"/>
              </a:defRPr>
            </a:pPr>
            <a:r>
              <a:rPr sz="1200" b="0">
                <a:solidFill>
                  <a:srgbClr val="6D6672"/>
                </a:solidFill>
                <a:latin typeface="等线"/>
                <a:ea typeface="等线"/>
                <a:cs typeface="等线"/>
              </a:rPr>
              <a:t>全过程保留日志、人工接管与回滚；证据强度随行动不可逆性同步提高。</a:t>
            </a:r>
          </a:p>
        </p:txBody>
      </p:sp>
    </p:spTree>
    <p:extLst>
      <p:ext uri="{BB962C8B-B14F-4D97-AF65-F5344CB8AC3E}">
        <p14:creationId xmlns:p14="http://schemas.microsoft.com/office/powerpoint/2010/main" val="2025121370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菱形 6">
            <a:extLst xmlns:a="http://schemas.openxmlformats.org/drawingml/2006/main">
              <a:ext uri="{FF2B5EF4-FFF2-40B4-BE49-F238E27FC236}">
                <a16:creationId xmlns:a16="http://schemas.microsoft.com/office/drawing/2014/main" id="{8825E84B-323B-49D9-8108-437BE039C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646273" y="6312273"/>
            <a:ext cx="545727" cy="545727"/>
          </a:xfrm>
          <a:prstGeom xmlns:a="http://schemas.openxmlformats.org/drawingml/2006/main" prst="diamond">
            <a:avLst/>
          </a:prstGeom>
          <a:gradFill xmlns:a="http://schemas.openxmlformats.org/drawingml/2006/main">
            <a:gsLst>
              <a:gs pos="100000">
                <a:srgbClr val="C8282A"/>
              </a:gs>
              <a:gs pos="0">
                <a:srgbClr val="194779"/>
              </a:gs>
            </a:gsLst>
            <a:lin ang="18900000" scaled="0"/>
          </a:gradFill>
          <a:ln xmlns:a="http://schemas.openxmlformats.org/drawingml/2006/main">
            <a:noFill/>
          </a:ln>
          <a:effectLst xmlns:a="http://schemas.openxmlformats.org/drawingml/2006/main">
            <a:outerShdw blurRad="127000" dist="38100" dir="2700000" algn="ctr">
              <a:srgbClr val="000000">
                <a:alpha val="45000"/>
              </a:srgb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DengXian"/>
              <a:ea typeface="DengXian"/>
              <a:cs typeface="DengXian"/>
            </a:endParaR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C092C980-ED75-4D29-A46B-D4C2D5D83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79448" y="6438719"/>
            <a:ext cx="320922" cy="338554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glow rad="63500">
              <a:schemeClr val="accent3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600">
                <a:solidFill>
                  <a:prstClr val="white"/>
                </a:solidFill>
                <a:latin typeface="Arial Black"/>
                <a:ea typeface="Arial Black"/>
                <a:cs typeface="Arial Black"/>
              </a:rPr>
              <a:t>29</a:t>
            </a:r>
            <a:endParaRPr sz="1600" b="0" i="0" u="none" kern="1200" cap="none" spc="0" baseline="0">
              <a:ln>
                <a:noFill/>
              </a:ln>
              <a:solidFill>
                <a:prstClr val="white"/>
              </a:solidFill>
              <a:latin typeface="Arial Black"/>
              <a:ea typeface="Arial Black"/>
              <a:cs typeface="Arial Black"/>
            </a:endParaRP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5E3D2DBA-49E9-4CCC-954E-E5F077021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7771"/>
            <a:ext cx="12192000" cy="58404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00000">
                <a:schemeClr val="bg1"/>
              </a:gs>
              <a:gs pos="18000">
                <a:srgbClr val="813789"/>
              </a:gs>
              <a:gs pos="0">
                <a:srgbClr val="813789"/>
              </a:gs>
            </a:gsLst>
            <a:lin ang="270000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55" name="图片 3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6fbcdc516e42c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73387" y="11991"/>
            <a:ext cx="1676015" cy="655780"/>
          </a:xfrm>
          <a:prstGeom xmlns:a="http://schemas.openxmlformats.org/drawingml/2006/main" prst="rect">
            <a:avLst/>
          </a:prstGeom>
        </p:spPr>
      </p:pic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CA205373-4581-4B3B-B4F7-9D33498BF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860" y="200660"/>
            <a:ext cx="5683885" cy="460375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25400" dist="25400" dir="2700000" algn="tl" rotWithShape="0">
              <a:prstClr val="black">
                <a:alpha val="46000"/>
              </a:prstClr>
            </a:outerShdw>
          </a:effectLst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>
                <a:solidFill>
                  <a:srgbClr val="813789"/>
                </a:solidFill>
                <a:latin typeface="Arial"/>
                <a:ea typeface="Arial"/>
                <a:cs typeface="Arial"/>
              </a:rPr>
              <a:t>Take-home message</a:t>
            </a:r>
            <a:endParaRPr sz="2400" b="1" i="0" u="none" kern="1200" cap="none" spc="0" baseline="0">
              <a:ln>
                <a:noFill/>
              </a:ln>
              <a:solidFill>
                <a:srgbClr val="81378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77E6F11E-B04D-4DB9-982C-23761098E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76225"/>
            <a:ext cx="5599430" cy="398780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25400" dist="25400" dir="2700000" algn="tl" rotWithShape="0">
              <a:prstClr val="black">
                <a:alpha val="46000"/>
              </a:prstClr>
            </a:outerShdw>
          </a:effectLst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000" b="1">
                <a:ln>
                  <a:noFill/>
                </a:ln>
                <a:solidFill>
                  <a:srgbClr val="813789"/>
                </a:solidFill>
                <a:latin typeface="Arial"/>
                <a:ea typeface="Arial"/>
                <a:cs typeface="Arial"/>
              </a:rPr>
              <a:t>5.0 Conclusion</a:t>
            </a:r>
            <a:endParaRPr sz="2000" b="1" i="0" u="none" kern="1200" cap="none" spc="0" baseline="0">
              <a:ln>
                <a:noFill/>
              </a:ln>
              <a:solidFill>
                <a:srgbClr val="81378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9234F2D-6EE9-4C0B-8949-85CCEA456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742950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5212A"/>
                </a:solidFill>
                <a:latin typeface="等线"/>
                <a:ea typeface="等线"/>
                <a:cs typeface="等线"/>
              </a:defRPr>
            </a:pPr>
            <a:r>
              <a:rPr sz="2100" b="1">
                <a:solidFill>
                  <a:srgbClr val="25212A"/>
                </a:solidFill>
                <a:latin typeface="等线"/>
                <a:ea typeface="等线"/>
                <a:cs typeface="等线"/>
              </a:rPr>
              <a:t>结论：从被动检测到适应性证据获取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EC0971C-8076-47C5-BCE0-8B144F4D8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162050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9830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B1A6E"/>
                </a:solidFill>
                <a:latin typeface="等线"/>
                <a:ea typeface="等线"/>
                <a:cs typeface="等线"/>
              </a:defRPr>
            </a:pPr>
            <a:r>
              <a:rPr sz="1500" b="1">
                <a:solidFill>
                  <a:srgbClr val="5B1A6E"/>
                </a:solidFill>
                <a:latin typeface="等线"/>
                <a:ea typeface="等线"/>
                <a:cs typeface="等线"/>
              </a:rPr>
              <a:t>Embodied diagnostics 的单位不是传感器、模型或机器人，而是能改变下一次证据获取的 sensing–decision–action–feedback loop。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87BAB2C-4F91-4BD2-ABE5-A3317DAC7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0"/>
            <a:ext cx="3333750" cy="2238375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DC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D107CA8-3D6C-42A3-8918-0FB4797FE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43150"/>
            <a:ext cx="22288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D65"/>
          </a:solidFill>
          <a:ln xmlns:a="http://schemas.openxmlformats.org/drawingml/2006/main" w="9525">
            <a:solidFill>
              <a:srgbClr val="2E7D6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CFF637A-91CC-4FA7-B61D-09CDC4218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43150"/>
            <a:ext cx="2228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等线"/>
                <a:ea typeface="等线"/>
                <a:cs typeface="等线"/>
              </a:defRPr>
            </a:pPr>
            <a:r>
              <a:rPr sz="1050" b="1">
                <a:solidFill>
                  <a:srgbClr val="FFFFFF"/>
                </a:solidFill>
                <a:latin typeface="等线"/>
                <a:ea typeface="等线"/>
                <a:cs typeface="等线"/>
              </a:rPr>
              <a:t>已有能力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4D2E7AD-0D9C-4166-95C5-89F5FE6DE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57500"/>
            <a:ext cx="28003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5212A"/>
                </a:solidFill>
                <a:latin typeface="等线"/>
                <a:ea typeface="等线"/>
                <a:cs typeface="等线"/>
              </a:defRPr>
            </a:pPr>
            <a:r>
              <a:rPr sz="1425" b="1">
                <a:solidFill>
                  <a:srgbClr val="25212A"/>
                </a:solidFill>
                <a:latin typeface="等线"/>
                <a:ea typeface="等线"/>
                <a:cs typeface="等线"/>
              </a:rPr>
              <a:t>机器人超声/采血、可编程实验室和纵向监测展示了部分闭环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21BCDCE-3D15-4B11-BA8C-C50E81159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095500"/>
            <a:ext cx="3333750" cy="2238375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4EDF7"/>
          </a:solidFill>
          <a:ln xmlns:a="http://schemas.openxmlformats.org/drawingml/2006/main" w="9525">
            <a:solidFill>
              <a:srgbClr val="7A3E8E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360801A-202C-4F47-A394-66D6F30D3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43150"/>
            <a:ext cx="22288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B1A6E"/>
          </a:solidFill>
          <a:ln xmlns:a="http://schemas.openxmlformats.org/drawingml/2006/main" w="9525">
            <a:solidFill>
              <a:srgbClr val="5B1A6E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241EAD6-248F-492A-9B9C-DFAC96C03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43150"/>
            <a:ext cx="2228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等线"/>
                <a:ea typeface="等线"/>
                <a:cs typeface="等线"/>
              </a:defRPr>
            </a:pPr>
            <a:r>
              <a:rPr sz="1050" b="1">
                <a:solidFill>
                  <a:srgbClr val="FFFFFF"/>
                </a:solidFill>
                <a:latin typeface="等线"/>
                <a:ea typeface="等线"/>
                <a:cs typeface="等线"/>
              </a:rPr>
              <a:t>核心缺口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D798491-D78B-4E71-B60A-CA15C8C4C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857500"/>
            <a:ext cx="28003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5212A"/>
                </a:solidFill>
                <a:latin typeface="等线"/>
                <a:ea typeface="等线"/>
                <a:cs typeface="等线"/>
              </a:defRPr>
            </a:pPr>
            <a:r>
              <a:rPr sz="1425" b="1">
                <a:solidFill>
                  <a:srgbClr val="25212A"/>
                </a:solidFill>
                <a:latin typeface="等线"/>
                <a:ea typeface="等线"/>
                <a:cs typeface="等线"/>
              </a:rPr>
              <a:t>样本充分性、跨仪器异常恢复、异常后主动确认与临床效用验证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F28219A-0DE3-475D-BDE4-922177613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095500"/>
            <a:ext cx="3333750" cy="2238375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DC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AC9C3D6-533A-4F5D-887C-7258528C6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343150"/>
            <a:ext cx="22288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D65"/>
          </a:solidFill>
          <a:ln xmlns:a="http://schemas.openxmlformats.org/drawingml/2006/main" w="9525">
            <a:solidFill>
              <a:srgbClr val="2E7D6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F1B5693-AF2D-4548-9107-1D2058EE6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343150"/>
            <a:ext cx="2228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等线"/>
                <a:ea typeface="等线"/>
                <a:cs typeface="等线"/>
              </a:defRPr>
            </a:pPr>
            <a:r>
              <a:rPr sz="1050" b="1">
                <a:solidFill>
                  <a:srgbClr val="FFFFFF"/>
                </a:solidFill>
                <a:latin typeface="等线"/>
                <a:ea typeface="等线"/>
                <a:cs typeface="等线"/>
              </a:rPr>
              <a:t>成功标准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102E02F-F717-4C93-8FD4-EBA49C1C6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57500"/>
            <a:ext cx="28003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5212A"/>
                </a:solidFill>
                <a:latin typeface="等线"/>
                <a:ea typeface="等线"/>
                <a:cs typeface="等线"/>
              </a:defRPr>
            </a:pPr>
            <a:r>
              <a:rPr sz="1425" b="1">
                <a:solidFill>
                  <a:srgbClr val="25212A"/>
                </a:solidFill>
                <a:latin typeface="等线"/>
                <a:ea typeface="等线"/>
                <a:cs typeface="等线"/>
              </a:rPr>
              <a:t>反馈是否更及时、安全、公平地减少 consequential uncertainty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E5CB767-F77E-451A-BF41-BB38DACD2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953000"/>
            <a:ext cx="876300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5B1A6E"/>
          </a:solidFill>
          <a:ln xmlns:a="http://schemas.openxmlformats.org/drawingml/2006/main" w="9525">
            <a:solidFill>
              <a:srgbClr val="5B1A6E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049C881-1E29-4FC7-822A-6ADF2AC3F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048250"/>
            <a:ext cx="828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等线"/>
                <a:ea typeface="等线"/>
                <a:cs typeface="等线"/>
              </a:defRPr>
            </a:pPr>
            <a:r>
              <a:rPr sz="1650" b="1">
                <a:solidFill>
                  <a:srgbClr val="FFFFFF"/>
                </a:solidFill>
                <a:latin typeface="等线"/>
                <a:ea typeface="等线"/>
                <a:cs typeface="等线"/>
              </a:rPr>
              <a:t>目标不是“更自主”，而是“用更少代价获得足以支持决策的下一份证据”。</a:t>
            </a:r>
          </a:p>
        </p:txBody>
      </p:sp>
    </p:spTree>
    <p:extLst>
      <p:ext uri="{BB962C8B-B14F-4D97-AF65-F5344CB8AC3E}">
        <p14:creationId xmlns:p14="http://schemas.microsoft.com/office/powerpoint/2010/main" val="2025121370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22efbf3df3473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-594"/>
            <a:ext cx="12193057" cy="6858594"/>
          </a:xfrm>
          <a:prstGeom xmlns:a="http://schemas.openxmlformats.org/drawingml/2006/main" prst="rect">
            <a:avLst/>
          </a:prstGeom>
        </p:spPr>
      </p:pic>
      <p:pic>
        <p:nvPicPr>
          <p:cNvPr id="25" name="图片 2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600202a66484fba"/>
          <a:srcRect xmlns:a="http://schemas.openxmlformats.org/drawingml/2006/main" l="0" t="20586" r="0" b="2782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892354" y="266980"/>
            <a:ext cx="1840032" cy="711763"/>
          </a:xfrm>
          <a:prstGeom xmlns:a="http://schemas.openxmlformats.org/drawingml/2006/main" prst="rect">
            <a:avLst/>
          </a:prstGeom>
        </p:spPr>
      </p:pic>
      <p:pic>
        <p:nvPicPr>
          <p:cNvPr id="26" name="图片 2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600202a66484fba"/>
          <a:srcRect xmlns:a="http://schemas.openxmlformats.org/drawingml/2006/main" l="0" t="20586" r="0" b="2782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892354" y="266980"/>
            <a:ext cx="1840032" cy="711763"/>
          </a:xfrm>
          <a:prstGeom xmlns:a="http://schemas.openxmlformats.org/drawingml/2006/main" prst="rect">
            <a:avLst/>
          </a:prstGeom>
        </p:spPr>
      </p:pic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CD75239B-9AAC-4768-ABCF-13CB5BB1C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7495" y="2389957"/>
            <a:ext cx="6132202" cy="20774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</a:pPr>
            <a:r>
              <a:rPr sz="6600" b="0" i="0" u="none" cap="none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mpact"/>
                <a:ea typeface="Impact"/>
                <a:cs typeface="Impact"/>
              </a:rPr>
              <a:t> </a:t>
            </a:r>
            <a:r>
              <a:rPr sz="4800" b="1" i="0" u="none" cap="none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/>
                <a:ea typeface="Microsoft YaHei"/>
                <a:cs typeface="Microsoft YaHei"/>
              </a:rPr>
              <a:t>Thank you</a:t>
            </a:r>
            <a:r>
              <a:rPr sz="4800" b="1" i="0" u="none" cap="none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/>
                <a:ea typeface="Microsoft YaHei"/>
                <a:cs typeface="Microsoft YaHei"/>
              </a:rPr>
              <a:t>！</a:t>
            </a:r>
            <a:endParaRPr sz="4800" b="1" i="0" u="none" kern="1200" cap="none" spc="0" baseline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</a:pPr>
            <a:endParaRPr sz="4800" b="1" i="0" u="none" kern="1200" cap="none" spc="0" baseline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0" name="直接连接符 19">
            <a:extLst xmlns:a="http://schemas.openxmlformats.org/drawingml/2006/main">
              <a:ext uri="{FF2B5EF4-FFF2-40B4-BE49-F238E27FC236}">
                <a16:creationId xmlns:a16="http://schemas.microsoft.com/office/drawing/2014/main" id="{1A63FDDD-D45D-4B42-B52E-30A624881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333293" y="3957075"/>
            <a:ext cx="3868606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chemeClr val="bg1">
                <a:alpha val="79000"/>
              </a:schemeClr>
            </a:solidFill>
          </a:ln>
        </p:spPr>
        <p:style>
          <a:lnRef xmlns:a="http://schemas.openxmlformats.org/drawingml/2006/main" idx="3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3D9969F3-5E4F-4F70-81B0-6EB38A59E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7495" y="4357370"/>
            <a:ext cx="6243378" cy="398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defTabSz="866775">
              <a:buNone/>
            </a:pPr>
            <a:r>
              <a:rPr sz="2000" b="1">
                <a:solidFill>
                  <a:schemeClr val="bg1"/>
                </a:solidFill>
                <a:latin typeface="Microsoft YaHei"/>
                <a:ea typeface="Microsoft YaHei"/>
                <a:cs typeface="Microsoft YaHei"/>
              </a:rPr>
              <a:t>Presenter: Wanran Sun  ·  2026.08</a:t>
            </a:r>
            <a:endParaRPr sz="2000">
              <a:solidFill>
                <a:schemeClr val="bg1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44199185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自定义 958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409C"/>
      </a:accent1>
      <a:accent2>
        <a:srgbClr val="00409E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自定义 958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2026-08-12T15:09:35.8370000Z</dcterms:created>
  <dcterms:modified xsi:type="dcterms:W3CDTF">2026-08-12T15:09:35.8370000Z</dcterms:modified>
</coreProperties>
</file>