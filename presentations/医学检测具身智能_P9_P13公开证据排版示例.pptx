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ce297372364656" /><Relationship Type="http://schemas.openxmlformats.org/officeDocument/2006/relationships/extended-properties" Target="/docProps/app.xml" Id="R4dc6601164a84d94" /><Relationship Type="http://schemas.openxmlformats.org/officeDocument/2006/relationships/officeDocument" Target="/ppt/presentation.xml" Id="R53c1b50968d1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a1165bab44611"/>
  </p:sldMasterIdLst>
  <p:notesMasterIdLst>
    <p:notesMasterId xmlns:r="http://schemas.openxmlformats.org/officeDocument/2006/relationships" r:id="R7a329399811644c1"/>
  </p:notesMasterIdLst>
  <p:sldIdLst>
    <p:sldId xmlns:r="http://schemas.openxmlformats.org/officeDocument/2006/relationships" id="256" r:id="Rb9998e4c3c904773"/>
    <p:sldId xmlns:r="http://schemas.openxmlformats.org/officeDocument/2006/relationships" id="257" r:id="R62efb7374b1148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281767ccaf4409" /><Relationship Type="http://schemas.openxmlformats.org/officeDocument/2006/relationships/slideMaster" Target="/ppt/slideMasters/slideMaster1.xml" Id="R2daa1165bab44611" /><Relationship Type="http://schemas.openxmlformats.org/officeDocument/2006/relationships/notesMaster" Target="/ppt/notesMasters/notesMaster1.xml" Id="R7a329399811644c1" /><Relationship Type="http://schemas.openxmlformats.org/officeDocument/2006/relationships/presProps" Target="/ppt/presProps.xml" Id="R4b8c2f77ec09453e" /><Relationship Type="http://schemas.openxmlformats.org/officeDocument/2006/relationships/viewProps" Target="/ppt/viewProps.xml" Id="Rbfb79480b6914155" /><Relationship Type="http://schemas.openxmlformats.org/officeDocument/2006/relationships/tableStyles" Target="/ppt/tableStyles.xml" Id="Rd8860077375f4cb7" /><Relationship Type="http://schemas.openxmlformats.org/officeDocument/2006/relationships/slide" Target="/ppt/slides/slide1.xml" Id="Rb9998e4c3c904773" /><Relationship Type="http://schemas.openxmlformats.org/officeDocument/2006/relationships/slide" Target="/ppt/slides/slide2.xml" Id="R62efb7374b11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7180a3b0fe4e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3c962b75540c0" /><Relationship Type="http://schemas.openxmlformats.org/officeDocument/2006/relationships/notesMaster" Target="/ppt/notesMasters/notesMaster1.xml" Id="R321cdaff575647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cfff4611de436d" /><Relationship Type="http://schemas.openxmlformats.org/officeDocument/2006/relationships/notesMaster" Target="/ppt/notesMasters/notesMaster1.xml" Id="Ra5e8d4faaee949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Public counts: outputs/public_landscape/public_title_screened_task_counts.csv (frozen 2026-08-12 corpus; run 2026-08-13).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Maturity: data/presentation/public_evidence_maturity_matrix.csv.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Bimodal tactile tomography: https://pmc.ncbi.nlm.nih.gov/articles/PMC12604559/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Minimally invasive robotic palpation: https://pmc.ncbi.nlm.nih.gov/articles/PMC11178256/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Automated TMS hotspot hunting: https://doi.org/10.1016/j.neuroimage.2015.09.013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GP TMS mapping: https://pmc.ncbi.nlm.nih.gov/articles/PMC8452135/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Public counts: outputs/public_landscape/public_title_screened_task_counts.csv; punctuation-variant deduplication and capsule-task exclusion applied 2026-08-13.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Maturity: data/presentation/public_evidence_maturity_matrix.csv.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ADOPT robotic phlebotomy: https://doi.org/10.1093/clinchem/hvag029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Swab robot controlled study: https://pmc.ncbi.nlm.nih.gov/articles/PMC10597818/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Autonomous swab paired studies: https://pmc.ncbi.nlm.nih.gov/articles/PMC10762007/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TARGET robotic bronchoscopy: https://doi.org/10.1016/j.chest.2025.04.022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165a77c1948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b4d8c110c42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9db663ab041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98eca5b9145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c55ca874441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86dac0b634a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e7c870e6e4e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ccd85eef745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6a3816b364d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33766c37a45c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6562251ab417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4D150C7-0936-442E-84F5-1AEAC1BCF3E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3FC355A-A8C5-4641-9A69-2BEDAC6108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53FACFD-D349-4301-8345-56096FD788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D5BF0A-C2DB-471F-8DE8-2D9B824000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322EA27-ACF4-456F-BF85-669FE9605D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D720D9-0841-4A64-B1CD-1275A2D606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8A68EAD-BCD9-426A-9D26-1BFD5718A6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4C272BA-EE2D-48F0-B476-E6412D5890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82D391-24D6-4D39-97DC-6711194DA1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CF0930-EFBE-46F5-B803-1D740A1499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437ECE-2BA4-45DE-8DFC-AAD7DFDDB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EED3596-CCC8-4FAE-8D08-E59CC5B2CD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EF7EB-0DAC-43B5-BA14-79EA40C6A6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269253-BAE4-4F98-AD10-1FC666534A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8A7B666-5222-4ADD-952A-D061FD15D9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9B1FEF-2676-4473-BE75-A55023069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202A4DD-5DC1-4FA5-874C-872517818F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58CD094-10E7-4ED8-8682-35C6B10E51D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A8741D-49DD-431F-A33A-B4567D8858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3A6F806-9689-4EEA-A14C-34D64CADE3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E0562D5-4B14-4D68-A56C-2C6D1CE648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CB247D-04DC-4185-99A7-3403634FC7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ACC527C-B3C0-427C-A75C-B26412B86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6A2CB82-FB05-47BA-91E4-4EF705AC458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0E9CD6E-28AD-4DAE-B6EE-3BD2E1C282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7DF324B-DA2C-4C75-A405-2AAFE9090C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03CEB2F-10FC-433F-9F0E-F205127996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DA6F48D-E90F-46B2-A413-7199A380C0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31AA580-AEBD-4A50-8DE7-C9072A3B22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FFB99E4-D5A3-4FA6-838D-5AF248044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48B40D6-F538-407F-8C02-C14B9BDA6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24E1506-74E6-4E9A-8D64-09F59ECBA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0914E1F-3014-407C-AB77-07D0D559C7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859C5B6-D40E-40D0-AF6E-977C3A9B04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A6E8FAD-B94E-40CA-9C0F-6967FE77A9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BB4E2B2-49DD-4EF2-846B-364F398CD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0437A5-2B52-4F84-A16D-A98F58EDD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9F8FDCD-7272-4936-A79A-6C4DC01935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53E1FFA-9F35-4D6D-B09B-2CA1F7D952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0D5B802-EC41-4435-99D7-E56315B93F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2E9B8E-C5B8-4145-869E-A54C7A899A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EDCEB66-8D8E-4A75-8C93-CEDA877D11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34AD1C-265D-4149-88D8-CBB25C446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D58BF06-F426-4BCA-A188-701A6CFC7BC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D717410-6CC5-4785-B946-CDA424CD14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71C7D78-8F4A-4EE1-8DFC-B7CB781D26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362F40E-5EEA-490C-8112-0F41CB1EEA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445990E-6F96-4D86-AD8C-532B22B040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91DB6AD-8C35-4AB3-AB93-F6E849B16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A768A7B-E705-4580-9F2E-718DCBC790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1F24041-5E59-4147-AFA3-A76ECD0244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4D9522-0F27-4B89-8348-07F35F2679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5B72852-C85A-4799-9705-B66CCE8960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CB6058-EEB6-4FCF-928D-1BA091252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B9ABF81-57D5-4F97-BB1A-8FC2BD7566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73DE020-D501-4CAC-A47C-76957EE2C3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8F1FF8-B042-418D-B690-57D3FF00CA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7C6A90-F16D-479B-A9C0-1C8B70F967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a1fe1a56249f7" /><Relationship Type="http://schemas.openxmlformats.org/officeDocument/2006/relationships/slideLayout" Target="/ppt/slideLayouts/slideLayout1.xml" Id="R47ccf0a51d4e4eef" /><Relationship Type="http://schemas.openxmlformats.org/officeDocument/2006/relationships/slideLayout" Target="/ppt/slideLayouts/slideLayout2.xml" Id="Rff724a684fc54ad6" /><Relationship Type="http://schemas.openxmlformats.org/officeDocument/2006/relationships/slideLayout" Target="/ppt/slideLayouts/slideLayout3.xml" Id="R5175ac31749e4272" /><Relationship Type="http://schemas.openxmlformats.org/officeDocument/2006/relationships/slideLayout" Target="/ppt/slideLayouts/slideLayout4.xml" Id="Rb58bdb5a243e484c" /><Relationship Type="http://schemas.openxmlformats.org/officeDocument/2006/relationships/slideLayout" Target="/ppt/slideLayouts/slideLayout5.xml" Id="R5e4010c22bcc444f" /><Relationship Type="http://schemas.openxmlformats.org/officeDocument/2006/relationships/slideLayout" Target="/ppt/slideLayouts/slideLayout6.xml" Id="R42667748049743e5" /><Relationship Type="http://schemas.openxmlformats.org/officeDocument/2006/relationships/slideLayout" Target="/ppt/slideLayouts/slideLayout7.xml" Id="R36da814b109e4cf6" /><Relationship Type="http://schemas.openxmlformats.org/officeDocument/2006/relationships/slideLayout" Target="/ppt/slideLayouts/slideLayout8.xml" Id="Rb038f3fad76a4c3f" /><Relationship Type="http://schemas.openxmlformats.org/officeDocument/2006/relationships/slideLayout" Target="/ppt/slideLayouts/slideLayout9.xml" Id="R8be949dd69d84718" /><Relationship Type="http://schemas.openxmlformats.org/officeDocument/2006/relationships/slideLayout" Target="/ppt/slideLayouts/slideLayout10.xml" Id="Re540ec9955674e75" /><Relationship Type="http://schemas.openxmlformats.org/officeDocument/2006/relationships/slideLayout" Target="/ppt/slideLayouts/slideLayout11.xml" Id="Rc4c074d2c9ae415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7A7A769-E1BB-40E5-871C-8105C1F6D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6285148-A706-41C0-ADDC-21CD394FB5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67721C-6C90-4A18-820B-8801F68EF60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75B454B-14D0-4B8C-9DFE-B213993D6C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933048-29BF-4A17-9C3A-EEDB2A494E7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cf0a51d4e4eef"/>
    <p:sldLayoutId xmlns:r="http://schemas.openxmlformats.org/officeDocument/2006/relationships" id="2147483650" r:id="Rff724a684fc54ad6"/>
    <p:sldLayoutId xmlns:r="http://schemas.openxmlformats.org/officeDocument/2006/relationships" id="2147483651" r:id="R5175ac31749e4272"/>
    <p:sldLayoutId xmlns:r="http://schemas.openxmlformats.org/officeDocument/2006/relationships" id="2147483652" r:id="Rb58bdb5a243e484c"/>
    <p:sldLayoutId xmlns:r="http://schemas.openxmlformats.org/officeDocument/2006/relationships" id="2147483653" r:id="R5e4010c22bcc444f"/>
    <p:sldLayoutId xmlns:r="http://schemas.openxmlformats.org/officeDocument/2006/relationships" id="2147483654" r:id="R42667748049743e5"/>
    <p:sldLayoutId xmlns:r="http://schemas.openxmlformats.org/officeDocument/2006/relationships" id="2147483655" r:id="R36da814b109e4cf6"/>
    <p:sldLayoutId xmlns:r="http://schemas.openxmlformats.org/officeDocument/2006/relationships" id="2147483656" r:id="Rb038f3fad76a4c3f"/>
    <p:sldLayoutId xmlns:r="http://schemas.openxmlformats.org/officeDocument/2006/relationships" id="2147483657" r:id="R8be949dd69d84718"/>
    <p:sldLayoutId xmlns:r="http://schemas.openxmlformats.org/officeDocument/2006/relationships" id="2147483658" r:id="Re540ec9955674e75"/>
    <p:sldLayoutId xmlns:r="http://schemas.openxmlformats.org/officeDocument/2006/relationships" id="2147483659" r:id="Rc4c074d2c9ae415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39484b9c74cb8" /><Relationship Type="http://schemas.openxmlformats.org/officeDocument/2006/relationships/image" Target="/ppt/media/image.jpeg" Id="R0c7c2839a7404bbe" /><Relationship Type="http://schemas.openxmlformats.org/officeDocument/2006/relationships/notesSlide" Target="/ppt/notesSlides/notesSlide1.xml" Id="R7d138ca4dba140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6ad6f9a564f89" /><Relationship Type="http://schemas.openxmlformats.org/officeDocument/2006/relationships/image" Target="/ppt/media/image.jpeg" Id="Rf9152e6afc35433a" /><Relationship Type="http://schemas.openxmlformats.org/officeDocument/2006/relationships/notesSlide" Target="/ppt/notesSlides/notesSlide2.xml" Id="R45c875c1d57249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4E510E83-B7D1-41B9-9048-E11A87D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C62C7CA-2C78-400B-B128-38126000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9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DE9394B-1C88-4BDD-9903-4F838674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2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c2839a7404b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6CC4301-E9C7-4A56-832D-DA274D8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E7EA112-A153-442E-A4FE-EEDC800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1.2 Response-based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8AF1FF0C-F25F-4E8B-9483-17D931F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1532"/>
                </a:solidFill>
              </a:defRPr>
            </a:pPr>
            <a:r>
              <a:rPr sz="2250" b="1">
                <a:solidFill>
                  <a:srgbClr val="2B1532"/>
                </a:solidFill>
              </a:rPr>
              <a:t>公开工作数量与应用成熟度</a:t>
            </a:r>
          </a:p>
        </p:txBody>
      </p:sp>
      <p:sp>
        <p:nvSpPr>
          <p:cNvPr id="37" name="take-home">
            <a:extLst xmlns:a="http://schemas.openxmlformats.org/drawingml/2006/main">
              <a:ext uri="{FF2B5EF4-FFF2-40B4-BE49-F238E27FC236}">
                <a16:creationId xmlns:a16="http://schemas.microsoft.com/office/drawing/2014/main" id="{2E187315-3F1A-4468-AAB0-4550CF34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</a:defRPr>
            </a:pPr>
            <a:r>
              <a:rPr sz="1500" b="1">
                <a:solidFill>
                  <a:srgbClr val="5B1A6E"/>
                </a:solidFill>
              </a:rPr>
              <a:t>触诊形成最大公开题名集群，但整体证据仍以幻模、离体/动物和小样本人体验证为主。</a:t>
            </a:r>
          </a:p>
        </p:txBody>
      </p:sp>
      <p:sp>
        <p:nvSpPr>
          <p:cNvPr id="38" name="chart-title">
            <a:extLst xmlns:a="http://schemas.openxmlformats.org/drawingml/2006/main">
              <a:ext uri="{FF2B5EF4-FFF2-40B4-BE49-F238E27FC236}">
                <a16:creationId xmlns:a16="http://schemas.microsoft.com/office/drawing/2014/main" id="{C6FE3031-26A1-417A-B011-7358B1BF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1532"/>
                </a:solidFill>
              </a:defRPr>
            </a:pPr>
            <a:r>
              <a:rPr sz="1350" b="1">
                <a:solidFill>
                  <a:srgbClr val="2B1532"/>
                </a:solidFill>
              </a:rPr>
              <a:t>公开索引题名筛选候选 / OA或仓储位置</a:t>
            </a:r>
          </a:p>
        </p:txBody>
      </p:sp>
      <p:sp>
        <p:nvSpPr>
          <p:cNvPr id="39" name="label-0">
            <a:extLst xmlns:a="http://schemas.openxmlformats.org/drawingml/2006/main">
              <a:ext uri="{FF2B5EF4-FFF2-40B4-BE49-F238E27FC236}">
                <a16:creationId xmlns:a16="http://schemas.microsoft.com/office/drawing/2014/main" id="{86645294-7CBD-4FCE-B6EC-C0525228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机器人触诊</a:t>
            </a:r>
          </a:p>
        </p:txBody>
      </p:sp>
      <p:sp>
        <p:nvSpPr>
          <p:cNvPr id="40" name="bar-0">
            <a:extLst xmlns:a="http://schemas.openxmlformats.org/drawingml/2006/main">
              <a:ext uri="{FF2B5EF4-FFF2-40B4-BE49-F238E27FC236}">
                <a16:creationId xmlns:a16="http://schemas.microsoft.com/office/drawing/2014/main" id="{3BD60CAA-F358-4819-B55F-438B780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66950"/>
            <a:ext cx="36385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a-0">
            <a:extLst xmlns:a="http://schemas.openxmlformats.org/drawingml/2006/main">
              <a:ext uri="{FF2B5EF4-FFF2-40B4-BE49-F238E27FC236}">
                <a16:creationId xmlns:a16="http://schemas.microsoft.com/office/drawing/2014/main" id="{FAA54303-3EA2-4BEA-AECD-372305E9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33625"/>
            <a:ext cx="2489534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a-n-0">
            <a:extLst xmlns:a="http://schemas.openxmlformats.org/drawingml/2006/main">
              <a:ext uri="{FF2B5EF4-FFF2-40B4-BE49-F238E27FC236}">
                <a16:creationId xmlns:a16="http://schemas.microsoft.com/office/drawing/2014/main" id="{7677946A-D69B-41EF-8A50-B4AC74F5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209" y="2266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3" name="n-0">
            <a:extLst xmlns:a="http://schemas.openxmlformats.org/drawingml/2006/main">
              <a:ext uri="{FF2B5EF4-FFF2-40B4-BE49-F238E27FC236}">
                <a16:creationId xmlns:a16="http://schemas.microsoft.com/office/drawing/2014/main" id="{CAB69FBA-39F9-4CD9-863F-7827DE6C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479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19</a:t>
            </a:r>
          </a:p>
        </p:txBody>
      </p:sp>
      <p:sp>
        <p:nvSpPr>
          <p:cNvPr id="44" name="label-1">
            <a:extLst xmlns:a="http://schemas.openxmlformats.org/drawingml/2006/main">
              <a:ext uri="{FF2B5EF4-FFF2-40B4-BE49-F238E27FC236}">
                <a16:creationId xmlns:a16="http://schemas.microsoft.com/office/drawing/2014/main" id="{B7F1CB10-63BC-4AFA-901C-8185EA6C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336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弹性/刚度测绘</a:t>
            </a:r>
          </a:p>
        </p:txBody>
      </p:sp>
      <p:sp>
        <p:nvSpPr>
          <p:cNvPr id="45" name="bar-1">
            <a:extLst xmlns:a="http://schemas.openxmlformats.org/drawingml/2006/main">
              <a:ext uri="{FF2B5EF4-FFF2-40B4-BE49-F238E27FC236}">
                <a16:creationId xmlns:a16="http://schemas.microsoft.com/office/drawing/2014/main" id="{0ACA2127-3305-4DA5-ACB0-235E3ECC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52725"/>
            <a:ext cx="957513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a-1">
            <a:extLst xmlns:a="http://schemas.openxmlformats.org/drawingml/2006/main">
              <a:ext uri="{FF2B5EF4-FFF2-40B4-BE49-F238E27FC236}">
                <a16:creationId xmlns:a16="http://schemas.microsoft.com/office/drawing/2014/main" id="{E55A9D5B-B4CB-4AAE-A2D8-E858EFCF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19400"/>
            <a:ext cx="38300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a-n-1">
            <a:extLst xmlns:a="http://schemas.openxmlformats.org/drawingml/2006/main">
              <a:ext uri="{FF2B5EF4-FFF2-40B4-BE49-F238E27FC236}">
                <a16:creationId xmlns:a16="http://schemas.microsoft.com/office/drawing/2014/main" id="{8269782B-534B-4B16-8A6E-D29447D8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680" y="27527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n-1">
            <a:extLst xmlns:a="http://schemas.openxmlformats.org/drawingml/2006/main">
              <a:ext uri="{FF2B5EF4-FFF2-40B4-BE49-F238E27FC236}">
                <a16:creationId xmlns:a16="http://schemas.microsoft.com/office/drawing/2014/main" id="{69EEECB5-C5D2-4228-B73D-A6730F1A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338" y="27336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5</a:t>
            </a:r>
          </a:p>
        </p:txBody>
      </p:sp>
      <p:sp>
        <p:nvSpPr>
          <p:cNvPr id="49" name="label-2">
            <a:extLst xmlns:a="http://schemas.openxmlformats.org/drawingml/2006/main">
              <a:ext uri="{FF2B5EF4-FFF2-40B4-BE49-F238E27FC236}">
                <a16:creationId xmlns:a16="http://schemas.microsoft.com/office/drawing/2014/main" id="{7C92EC57-1F03-4963-8C26-47712BA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闭环 TMS 映射</a:t>
            </a:r>
          </a:p>
        </p:txBody>
      </p:sp>
      <p:sp>
        <p:nvSpPr>
          <p:cNvPr id="50" name="bar-2">
            <a:extLst xmlns:a="http://schemas.openxmlformats.org/drawingml/2006/main">
              <a:ext uri="{FF2B5EF4-FFF2-40B4-BE49-F238E27FC236}">
                <a16:creationId xmlns:a16="http://schemas.microsoft.com/office/drawing/2014/main" id="{E13658EB-C4FD-4154-BE4A-4B2427FD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38500"/>
            <a:ext cx="766011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a-2">
            <a:extLst xmlns:a="http://schemas.openxmlformats.org/drawingml/2006/main">
              <a:ext uri="{FF2B5EF4-FFF2-40B4-BE49-F238E27FC236}">
                <a16:creationId xmlns:a16="http://schemas.microsoft.com/office/drawing/2014/main" id="{4227ECCF-7671-42BF-A2D9-B6EA3DE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05175"/>
            <a:ext cx="38300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a-n-2">
            <a:extLst xmlns:a="http://schemas.openxmlformats.org/drawingml/2006/main">
              <a:ext uri="{FF2B5EF4-FFF2-40B4-BE49-F238E27FC236}">
                <a16:creationId xmlns:a16="http://schemas.microsoft.com/office/drawing/2014/main" id="{EE32F05A-08C7-419A-9140-91AA00E7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680" y="3238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3" name="n-2">
            <a:extLst xmlns:a="http://schemas.openxmlformats.org/drawingml/2006/main">
              <a:ext uri="{FF2B5EF4-FFF2-40B4-BE49-F238E27FC236}">
                <a16:creationId xmlns:a16="http://schemas.microsoft.com/office/drawing/2014/main" id="{88C9BDC3-C4DC-4549-9929-82B29413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836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4</a:t>
            </a:r>
          </a:p>
        </p:txBody>
      </p:sp>
      <p:sp>
        <p:nvSpPr>
          <p:cNvPr id="54" name="label-3">
            <a:extLst xmlns:a="http://schemas.openxmlformats.org/drawingml/2006/main">
              <a:ext uri="{FF2B5EF4-FFF2-40B4-BE49-F238E27FC236}">
                <a16:creationId xmlns:a16="http://schemas.microsoft.com/office/drawing/2014/main" id="{5BE903A1-4779-46F8-88F8-A6FE1FC3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关节激发</a:t>
            </a:r>
          </a:p>
        </p:txBody>
      </p:sp>
      <p:sp>
        <p:nvSpPr>
          <p:cNvPr id="55" name="bar-3">
            <a:extLst xmlns:a="http://schemas.openxmlformats.org/drawingml/2006/main">
              <a:ext uri="{FF2B5EF4-FFF2-40B4-BE49-F238E27FC236}">
                <a16:creationId xmlns:a16="http://schemas.microsoft.com/office/drawing/2014/main" id="{59B6B1F5-8F6F-44A9-8220-DBD5984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24275"/>
            <a:ext cx="191503" cy="247650"/>
          </a:xfrm>
          <a:prstGeom xmlns:a="http://schemas.openxmlformats.org/drawingml/2006/main" prst="roundRect">
            <a:avLst>
              <a:gd name="adj" fmla="val 29843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n-3">
            <a:extLst xmlns:a="http://schemas.openxmlformats.org/drawingml/2006/main">
              <a:ext uri="{FF2B5EF4-FFF2-40B4-BE49-F238E27FC236}">
                <a16:creationId xmlns:a16="http://schemas.microsoft.com/office/drawing/2014/main" id="{89DD6F6D-8F2E-4F51-A2F5-29D7150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28" y="37052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1</a:t>
            </a:r>
          </a:p>
        </p:txBody>
      </p:sp>
      <p:sp>
        <p:nvSpPr>
          <p:cNvPr id="57" name="label-4">
            <a:extLst xmlns:a="http://schemas.openxmlformats.org/drawingml/2006/main">
              <a:ext uri="{FF2B5EF4-FFF2-40B4-BE49-F238E27FC236}">
                <a16:creationId xmlns:a16="http://schemas.microsoft.com/office/drawing/2014/main" id="{E65DA700-B34B-449D-ADD7-DF17258F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痉挛评估</a:t>
            </a:r>
          </a:p>
        </p:txBody>
      </p:sp>
      <p:sp>
        <p:nvSpPr>
          <p:cNvPr id="58" name="bar-4">
            <a:extLst xmlns:a="http://schemas.openxmlformats.org/drawingml/2006/main">
              <a:ext uri="{FF2B5EF4-FFF2-40B4-BE49-F238E27FC236}">
                <a16:creationId xmlns:a16="http://schemas.microsoft.com/office/drawing/2014/main" id="{42F0E203-963D-441C-B755-30CCBAA7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10050"/>
            <a:ext cx="191503" cy="247650"/>
          </a:xfrm>
          <a:prstGeom xmlns:a="http://schemas.openxmlformats.org/drawingml/2006/main" prst="roundRect">
            <a:avLst>
              <a:gd name="adj" fmla="val 29843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a-4">
            <a:extLst xmlns:a="http://schemas.openxmlformats.org/drawingml/2006/main">
              <a:ext uri="{FF2B5EF4-FFF2-40B4-BE49-F238E27FC236}">
                <a16:creationId xmlns:a16="http://schemas.microsoft.com/office/drawing/2014/main" id="{5788102D-332A-412B-A693-CE30364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76725"/>
            <a:ext cx="191503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oa-n-4">
            <a:extLst xmlns:a="http://schemas.openxmlformats.org/drawingml/2006/main">
              <a:ext uri="{FF2B5EF4-FFF2-40B4-BE49-F238E27FC236}">
                <a16:creationId xmlns:a16="http://schemas.microsoft.com/office/drawing/2014/main" id="{5765ADB4-4594-47EF-9CC2-423A477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10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1" name="n-4">
            <a:extLst xmlns:a="http://schemas.openxmlformats.org/drawingml/2006/main">
              <a:ext uri="{FF2B5EF4-FFF2-40B4-BE49-F238E27FC236}">
                <a16:creationId xmlns:a16="http://schemas.microsoft.com/office/drawing/2014/main" id="{290B1AAA-A30A-44A2-9876-10437CE8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28" y="4191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1</a:t>
            </a:r>
          </a:p>
        </p:txBody>
      </p:sp>
      <p:sp>
        <p:nvSpPr>
          <p:cNvPr id="62" name="label-5">
            <a:extLst xmlns:a="http://schemas.openxmlformats.org/drawingml/2006/main">
              <a:ext uri="{FF2B5EF4-FFF2-40B4-BE49-F238E27FC236}">
                <a16:creationId xmlns:a16="http://schemas.microsoft.com/office/drawing/2014/main" id="{11760404-84E0-48B8-A9EF-13AA8F24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76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叩诊/反射</a:t>
            </a:r>
          </a:p>
        </p:txBody>
      </p:sp>
      <p:sp>
        <p:nvSpPr>
          <p:cNvPr id="63" name="bar-5">
            <a:extLst xmlns:a="http://schemas.openxmlformats.org/drawingml/2006/main">
              <a:ext uri="{FF2B5EF4-FFF2-40B4-BE49-F238E27FC236}">
                <a16:creationId xmlns:a16="http://schemas.microsoft.com/office/drawing/2014/main" id="{6192022E-B7F6-4DCC-A02F-0546D91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95825"/>
            <a:ext cx="285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n-5">
            <a:extLst xmlns:a="http://schemas.openxmlformats.org/drawingml/2006/main">
              <a:ext uri="{FF2B5EF4-FFF2-40B4-BE49-F238E27FC236}">
                <a16:creationId xmlns:a16="http://schemas.microsoft.com/office/drawing/2014/main" id="{352CB136-6C03-4009-8831-71CF2E28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767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0</a:t>
            </a:r>
          </a:p>
        </p:txBody>
      </p:sp>
      <p:sp>
        <p:nvSpPr>
          <p:cNvPr id="65" name="maturity-title">
            <a:extLst xmlns:a="http://schemas.openxmlformats.org/drawingml/2006/main">
              <a:ext uri="{FF2B5EF4-FFF2-40B4-BE49-F238E27FC236}">
                <a16:creationId xmlns:a16="http://schemas.microsoft.com/office/drawing/2014/main" id="{5AE91BCF-8B62-4617-8729-C544412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1532"/>
                </a:solidFill>
              </a:defRPr>
            </a:pPr>
            <a:r>
              <a:rPr sz="1350" b="1">
                <a:solidFill>
                  <a:srgbClr val="2B1532"/>
                </a:solidFill>
              </a:rPr>
              <a:t>可公开核验的最高证据层级</a:t>
            </a:r>
          </a:p>
        </p:txBody>
      </p:sp>
      <p:sp>
        <p:nvSpPr>
          <p:cNvPr id="66" name="m-label-0">
            <a:extLst xmlns:a="http://schemas.openxmlformats.org/drawingml/2006/main">
              <a:ext uri="{FF2B5EF4-FFF2-40B4-BE49-F238E27FC236}">
                <a16:creationId xmlns:a16="http://schemas.microsoft.com/office/drawing/2014/main" id="{C156F9BF-55A0-47B6-8CA8-893E9C94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触诊</a:t>
            </a:r>
          </a:p>
        </p:txBody>
      </p:sp>
      <p:sp>
        <p:nvSpPr>
          <p:cNvPr id="67" name="m-line-0">
            <a:extLst xmlns:a="http://schemas.openxmlformats.org/drawingml/2006/main">
              <a:ext uri="{FF2B5EF4-FFF2-40B4-BE49-F238E27FC236}">
                <a16:creationId xmlns:a16="http://schemas.microsoft.com/office/drawing/2014/main" id="{3945ED19-33E8-4F66-80EF-B4FF4F6D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95525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m-dot-0">
            <a:extLst xmlns:a="http://schemas.openxmlformats.org/drawingml/2006/main">
              <a:ext uri="{FF2B5EF4-FFF2-40B4-BE49-F238E27FC236}">
                <a16:creationId xmlns:a16="http://schemas.microsoft.com/office/drawing/2014/main" id="{4945E84F-3D1D-431F-BCED-6C4DBE75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193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m-label-1">
            <a:extLst xmlns:a="http://schemas.openxmlformats.org/drawingml/2006/main">
              <a:ext uri="{FF2B5EF4-FFF2-40B4-BE49-F238E27FC236}">
                <a16:creationId xmlns:a16="http://schemas.microsoft.com/office/drawing/2014/main" id="{254057DA-D31E-4444-9D83-EB4514EA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42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弹性</a:t>
            </a:r>
          </a:p>
        </p:txBody>
      </p:sp>
      <p:sp>
        <p:nvSpPr>
          <p:cNvPr id="70" name="m-line-1">
            <a:extLst xmlns:a="http://schemas.openxmlformats.org/drawingml/2006/main">
              <a:ext uri="{FF2B5EF4-FFF2-40B4-BE49-F238E27FC236}">
                <a16:creationId xmlns:a16="http://schemas.microsoft.com/office/drawing/2014/main" id="{822F728F-4B59-45A1-83A2-8763D93C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81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m-dot-1">
            <a:extLst xmlns:a="http://schemas.openxmlformats.org/drawingml/2006/main">
              <a:ext uri="{FF2B5EF4-FFF2-40B4-BE49-F238E27FC236}">
                <a16:creationId xmlns:a16="http://schemas.microsoft.com/office/drawing/2014/main" id="{88E8C38F-5176-40D0-ACA4-907BAF40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019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m-label-2">
            <a:extLst xmlns:a="http://schemas.openxmlformats.org/drawingml/2006/main">
              <a:ext uri="{FF2B5EF4-FFF2-40B4-BE49-F238E27FC236}">
                <a16:creationId xmlns:a16="http://schemas.microsoft.com/office/drawing/2014/main" id="{E19A580D-77D4-49CE-9016-FA9244CD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36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TMS</a:t>
            </a:r>
          </a:p>
        </p:txBody>
      </p:sp>
      <p:sp>
        <p:nvSpPr>
          <p:cNvPr id="73" name="m-line-2">
            <a:extLst xmlns:a="http://schemas.openxmlformats.org/drawingml/2006/main">
              <a:ext uri="{FF2B5EF4-FFF2-40B4-BE49-F238E27FC236}">
                <a16:creationId xmlns:a16="http://schemas.microsoft.com/office/drawing/2014/main" id="{10B84ABA-CE08-4322-ABA3-35DB28A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0675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m-dot-2">
            <a:extLst xmlns:a="http://schemas.openxmlformats.org/drawingml/2006/main">
              <a:ext uri="{FF2B5EF4-FFF2-40B4-BE49-F238E27FC236}">
                <a16:creationId xmlns:a16="http://schemas.microsoft.com/office/drawing/2014/main" id="{BF3E7046-CC22-41AD-8AB4-ECF7A0E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100" y="27844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m-label-3">
            <a:extLst xmlns:a="http://schemas.openxmlformats.org/drawingml/2006/main">
              <a:ext uri="{FF2B5EF4-FFF2-40B4-BE49-F238E27FC236}">
                <a16:creationId xmlns:a16="http://schemas.microsoft.com/office/drawing/2014/main" id="{69E025FB-27AC-4F95-85C9-1F25475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194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关节</a:t>
            </a:r>
          </a:p>
        </p:txBody>
      </p:sp>
      <p:sp>
        <p:nvSpPr>
          <p:cNvPr id="76" name="m-line-3">
            <a:extLst xmlns:a="http://schemas.openxmlformats.org/drawingml/2006/main">
              <a:ext uri="{FF2B5EF4-FFF2-40B4-BE49-F238E27FC236}">
                <a16:creationId xmlns:a16="http://schemas.microsoft.com/office/drawing/2014/main" id="{074FA4A3-85D8-4B3D-B090-F732D4AE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m-dot-3">
            <a:extLst xmlns:a="http://schemas.openxmlformats.org/drawingml/2006/main">
              <a:ext uri="{FF2B5EF4-FFF2-40B4-BE49-F238E27FC236}">
                <a16:creationId xmlns:a16="http://schemas.microsoft.com/office/drawing/2014/main" id="{065C83F6-148F-4350-A68C-4492D57B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100" y="30670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m-label-4">
            <a:extLst xmlns:a="http://schemas.openxmlformats.org/drawingml/2006/main">
              <a:ext uri="{FF2B5EF4-FFF2-40B4-BE49-F238E27FC236}">
                <a16:creationId xmlns:a16="http://schemas.microsoft.com/office/drawing/2014/main" id="{6F4D9B7A-9B61-4E16-87E7-96E03B16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02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痉挛</a:t>
            </a:r>
          </a:p>
        </p:txBody>
      </p:sp>
      <p:sp>
        <p:nvSpPr>
          <p:cNvPr id="79" name="m-line-4">
            <a:extLst xmlns:a="http://schemas.openxmlformats.org/drawingml/2006/main">
              <a:ext uri="{FF2B5EF4-FFF2-40B4-BE49-F238E27FC236}">
                <a16:creationId xmlns:a16="http://schemas.microsoft.com/office/drawing/2014/main" id="{DCF7FF9B-A43F-4ADA-A30E-07D1896B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5825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m-dot-4">
            <a:extLst xmlns:a="http://schemas.openxmlformats.org/drawingml/2006/main">
              <a:ext uri="{FF2B5EF4-FFF2-40B4-BE49-F238E27FC236}">
                <a16:creationId xmlns:a16="http://schemas.microsoft.com/office/drawing/2014/main" id="{BE6F0C04-750B-42E2-AEDA-5DB5C937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100" y="33496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m-label-5">
            <a:extLst xmlns:a="http://schemas.openxmlformats.org/drawingml/2006/main">
              <a:ext uri="{FF2B5EF4-FFF2-40B4-BE49-F238E27FC236}">
                <a16:creationId xmlns:a16="http://schemas.microsoft.com/office/drawing/2014/main" id="{18823760-AD04-485E-8A4E-9DE9DCD0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84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叩诊</a:t>
            </a:r>
          </a:p>
        </p:txBody>
      </p:sp>
      <p:sp>
        <p:nvSpPr>
          <p:cNvPr id="82" name="m-line-5">
            <a:extLst xmlns:a="http://schemas.openxmlformats.org/drawingml/2006/main">
              <a:ext uri="{FF2B5EF4-FFF2-40B4-BE49-F238E27FC236}">
                <a16:creationId xmlns:a16="http://schemas.microsoft.com/office/drawing/2014/main" id="{95F65968-C1F3-402A-AFA9-EBD64A9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084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m-dot-5">
            <a:extLst xmlns:a="http://schemas.openxmlformats.org/drawingml/2006/main">
              <a:ext uri="{FF2B5EF4-FFF2-40B4-BE49-F238E27FC236}">
                <a16:creationId xmlns:a16="http://schemas.microsoft.com/office/drawing/2014/main" id="{A0105599-1B6C-41C6-941E-3B01FF3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22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m-scale">
            <a:extLst xmlns:a="http://schemas.openxmlformats.org/drawingml/2006/main">
              <a:ext uri="{FF2B5EF4-FFF2-40B4-BE49-F238E27FC236}">
                <a16:creationId xmlns:a16="http://schemas.microsoft.com/office/drawing/2014/main" id="{243F45A0-A0FB-4C5F-BE5C-497C779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6170"/>
                </a:solidFill>
              </a:defRPr>
            </a:pPr>
            <a:r>
              <a:rPr sz="750" b="0">
                <a:solidFill>
                  <a:srgbClr val="6D6170"/>
                </a:solidFill>
              </a:rPr>
              <a:t>0 未定位      1 原型      2 幻模/体外      3 动物/离体      4 人体      5 多中心      6 结局</a:t>
            </a:r>
          </a:p>
        </p:txBody>
      </p:sp>
      <p:sp>
        <p:nvSpPr>
          <p:cNvPr id="85" name="gap-title">
            <a:extLst xmlns:a="http://schemas.openxmlformats.org/drawingml/2006/main">
              <a:ext uri="{FF2B5EF4-FFF2-40B4-BE49-F238E27FC236}">
                <a16:creationId xmlns:a16="http://schemas.microsoft.com/office/drawing/2014/main" id="{E4ABBF8C-233C-4588-81EC-34E654E2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82D"/>
                </a:solidFill>
              </a:defRPr>
            </a:pPr>
            <a:r>
              <a:rPr sz="1350" b="1">
                <a:solidFill>
                  <a:srgbClr val="D9782D"/>
                </a:solidFill>
              </a:rPr>
              <a:t>关键断点</a:t>
            </a:r>
          </a:p>
        </p:txBody>
      </p:sp>
      <p:sp>
        <p:nvSpPr>
          <p:cNvPr id="86" name="gap-copy">
            <a:extLst xmlns:a="http://schemas.openxmlformats.org/drawingml/2006/main">
              <a:ext uri="{FF2B5EF4-FFF2-40B4-BE49-F238E27FC236}">
                <a16:creationId xmlns:a16="http://schemas.microsoft.com/office/drawing/2014/main" id="{616A88D8-5834-4E79-BF60-6F6CFA5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01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人体测量 ≠ 自适应诊断搜索</a:t>
            </a:r>
          </a:p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成熟度与论文数、自治程度分别判断</a:t>
            </a:r>
          </a:p>
        </p:txBody>
      </p:sp>
      <p:sp>
        <p:nvSpPr>
          <p:cNvPr id="87" name="method-caveat">
            <a:extLst xmlns:a="http://schemas.openxmlformats.org/drawingml/2006/main">
              <a:ext uri="{FF2B5EF4-FFF2-40B4-BE49-F238E27FC236}">
                <a16:creationId xmlns:a16="http://schemas.microsoft.com/office/drawing/2014/main" id="{73F10190-4612-4BD8-BE2A-98990AE7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170"/>
                </a:solidFill>
              </a:defRPr>
            </a:pPr>
            <a:r>
              <a:rPr sz="1125" b="0">
                <a:solidFill>
                  <a:srgbClr val="6D6170"/>
                </a:solidFill>
              </a:rPr>
              <a:t>0 = 当前冻结语料与规则未定位，并不证明任务不存在。数量不是系统综述纳入数。</a:t>
            </a:r>
          </a:p>
        </p:txBody>
      </p:sp>
      <p:sp>
        <p:nvSpPr>
          <p:cNvPr id="8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A373984-9633-4A2B-AB38-8713FE1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170"/>
                </a:solidFill>
              </a:defRPr>
            </a:pPr>
            <a:r>
              <a:rPr sz="900" b="0">
                <a:solidFill>
                  <a:srgbClr val="6D6170"/>
                </a:solidFill>
              </a:rPr>
              <a:t>公开来源：PMC12604559；PMC11178256；10.1016/j.neuroimage.2015.09.013；PMC8452135</a:t>
            </a:r>
          </a:p>
        </p:txBody>
      </p:sp>
    </p:spTree>
    <p:extLst>
      <p:ext uri="{BB962C8B-B14F-4D97-AF65-F5344CB8AC3E}">
        <p14:creationId xmlns:p14="http://schemas.microsoft.com/office/powerpoint/2010/main" val="6216076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菱形 6">
            <a:extLst xmlns:a="http://schemas.openxmlformats.org/drawingml/2006/main">
              <a:ext uri="{FF2B5EF4-FFF2-40B4-BE49-F238E27FC236}">
                <a16:creationId xmlns:a16="http://schemas.microsoft.com/office/drawing/2014/main" id="{2621EEBF-229D-4912-B832-54D9A8B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46273" y="6312273"/>
            <a:ext cx="545727" cy="545727"/>
          </a:xfrm>
          <a:prstGeom xmlns:a="http://schemas.openxmlformats.org/drawingml/2006/main" prst="diamond">
            <a:avLst/>
          </a:prstGeom>
          <a:gradFill xmlns:a="http://schemas.openxmlformats.org/drawingml/2006/main">
            <a:gsLst>
              <a:gs pos="100000">
                <a:srgbClr val="C8282A"/>
              </a:gs>
              <a:gs pos="0">
                <a:srgbClr val="194779"/>
              </a:gs>
            </a:gsLst>
            <a:lin ang="18900000" scaled="0"/>
          </a:gradFill>
          <a:ln xmlns:a="http://schemas.openxmlformats.org/drawingml/2006/main">
            <a:noFill/>
          </a:ln>
          <a:effectLst xmlns:a="http://schemas.openxmlformats.org/drawingml/2006/main">
            <a:outerShdw blurRad="127000" dist="38100" dir="2700000" algn="ctr">
              <a:srgbClr val="000000">
                <a:alpha val="45000"/>
              </a:srgb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DengXian"/>
              <a:ea typeface="DengXian"/>
              <a:cs typeface="DengXian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E7632D5-7547-4ED5-9768-697481E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79448" y="6438719"/>
            <a:ext cx="320922" cy="338554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>
                <a:solidFill>
                  <a:prstClr val="white"/>
                </a:solidFill>
                <a:latin typeface="Arial Black"/>
                <a:ea typeface="Arial Black"/>
                <a:cs typeface="Arial Black"/>
              </a:rPr>
              <a:t>13</a:t>
            </a:r>
            <a:endParaRPr sz="1600" b="0" i="0" u="none" kern="1200" cap="none" spc="0" baseline="0">
              <a:ln>
                <a:noFill/>
              </a:ln>
              <a:solidFill>
                <a:prstClr val="white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48A2380-2561-4F23-BBC8-8706AB8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771"/>
            <a:ext cx="12192000" cy="5840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bg1"/>
              </a:gs>
              <a:gs pos="18000">
                <a:srgbClr val="813789"/>
              </a:gs>
              <a:gs pos="0">
                <a:srgbClr val="813789"/>
              </a:gs>
            </a:gsLst>
            <a:lin ang="27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52e6afc3543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387" y="11991"/>
            <a:ext cx="1676015" cy="65578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CA9EAD6-F672-4688-88AB-0F9B6FBC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" y="200660"/>
            <a:ext cx="5683885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813789"/>
                </a:solidFill>
                <a:latin typeface="Arial"/>
                <a:ea typeface="Arial"/>
                <a:cs typeface="Arial"/>
              </a:rPr>
              <a:t>Clinical Detection and Intervention</a:t>
            </a:r>
            <a:endParaRPr sz="24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67ADDDB-5C42-4D25-A44C-FF411E4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"/>
            <a:ext cx="5599430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5400" dist="25400" dir="2700000" algn="tl" rotWithShape="0">
              <a:prstClr val="black">
                <a:alpha val="46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>
                <a:ln>
                  <a:noFill/>
                </a:ln>
                <a:solidFill>
                  <a:srgbClr val="813789"/>
                </a:solidFill>
                <a:latin typeface="Arial"/>
                <a:ea typeface="Arial"/>
                <a:cs typeface="Arial"/>
              </a:rPr>
              <a:t>1.3 Sample-based diagnosis</a:t>
            </a:r>
            <a:endParaRPr sz="2000" b="1" i="0" u="none" kern="1200" cap="none" spc="0" baseline="0">
              <a:ln>
                <a:noFill/>
              </a:ln>
              <a:solidFill>
                <a:srgbClr val="81378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8BBB8635-0F63-42FB-85E1-D583071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1532"/>
                </a:solidFill>
              </a:defRPr>
            </a:pPr>
            <a:r>
              <a:rPr sz="2250" b="1">
                <a:solidFill>
                  <a:srgbClr val="2B1532"/>
                </a:solidFill>
              </a:rPr>
              <a:t>公开工作数量、成熟度与闭环断点</a:t>
            </a:r>
          </a:p>
        </p:txBody>
      </p:sp>
      <p:sp>
        <p:nvSpPr>
          <p:cNvPr id="37" name="take-home">
            <a:extLst xmlns:a="http://schemas.openxmlformats.org/drawingml/2006/main">
              <a:ext uri="{FF2B5EF4-FFF2-40B4-BE49-F238E27FC236}">
                <a16:creationId xmlns:a16="http://schemas.microsoft.com/office/drawing/2014/main" id="{F4AFC1C2-86F5-4096-B07A-3EE48229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1A6E"/>
                </a:solidFill>
              </a:defRPr>
            </a:pPr>
            <a:r>
              <a:rPr sz="1500" b="1">
                <a:solidFill>
                  <a:srgbClr val="5B1A6E"/>
                </a:solidFill>
              </a:rPr>
              <a:t>活检候选更多但常停在靶向；采血论文群较小，却已有多中心常规使用证据。</a:t>
            </a:r>
          </a:p>
        </p:txBody>
      </p:sp>
      <p:sp>
        <p:nvSpPr>
          <p:cNvPr id="38" name="chart-title">
            <a:extLst xmlns:a="http://schemas.openxmlformats.org/drawingml/2006/main">
              <a:ext uri="{FF2B5EF4-FFF2-40B4-BE49-F238E27FC236}">
                <a16:creationId xmlns:a16="http://schemas.microsoft.com/office/drawing/2014/main" id="{36C66DDA-39DB-43B5-BC27-6740BA9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1532"/>
                </a:solidFill>
              </a:defRPr>
            </a:pPr>
            <a:r>
              <a:rPr sz="1350" b="1">
                <a:solidFill>
                  <a:srgbClr val="2B1532"/>
                </a:solidFill>
              </a:rPr>
              <a:t>公开索引题名筛选候选 / OA或仓储位置</a:t>
            </a:r>
          </a:p>
        </p:txBody>
      </p:sp>
      <p:sp>
        <p:nvSpPr>
          <p:cNvPr id="39" name="label-0">
            <a:extLst xmlns:a="http://schemas.openxmlformats.org/drawingml/2006/main">
              <a:ext uri="{FF2B5EF4-FFF2-40B4-BE49-F238E27FC236}">
                <a16:creationId xmlns:a16="http://schemas.microsoft.com/office/drawing/2014/main" id="{DA8D97D9-D49B-4099-B862-3ABA5E38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经皮/芯针活检</a:t>
            </a:r>
          </a:p>
        </p:txBody>
      </p:sp>
      <p:sp>
        <p:nvSpPr>
          <p:cNvPr id="40" name="bar-0">
            <a:extLst xmlns:a="http://schemas.openxmlformats.org/drawingml/2006/main">
              <a:ext uri="{FF2B5EF4-FFF2-40B4-BE49-F238E27FC236}">
                <a16:creationId xmlns:a16="http://schemas.microsoft.com/office/drawing/2014/main" id="{3D8A482B-0791-423F-A294-660C01F7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05050"/>
            <a:ext cx="36385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oa-0">
            <a:extLst xmlns:a="http://schemas.openxmlformats.org/drawingml/2006/main">
              <a:ext uri="{FF2B5EF4-FFF2-40B4-BE49-F238E27FC236}">
                <a16:creationId xmlns:a16="http://schemas.microsoft.com/office/drawing/2014/main" id="{E450F75B-C6A8-4A18-AFCA-642A3F77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71725"/>
            <a:ext cx="2315441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oa-n-0">
            <a:extLst xmlns:a="http://schemas.openxmlformats.org/drawingml/2006/main">
              <a:ext uri="{FF2B5EF4-FFF2-40B4-BE49-F238E27FC236}">
                <a16:creationId xmlns:a16="http://schemas.microsoft.com/office/drawing/2014/main" id="{8E0FE446-78D8-4AF4-8653-3B50E3E9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116" y="2305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3" name="n-0">
            <a:extLst xmlns:a="http://schemas.openxmlformats.org/drawingml/2006/main">
              <a:ext uri="{FF2B5EF4-FFF2-40B4-BE49-F238E27FC236}">
                <a16:creationId xmlns:a16="http://schemas.microsoft.com/office/drawing/2014/main" id="{7A91233B-21CE-4444-B600-7E4E64D8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22</a:t>
            </a:r>
          </a:p>
        </p:txBody>
      </p:sp>
      <p:sp>
        <p:nvSpPr>
          <p:cNvPr id="44" name="label-1">
            <a:extLst xmlns:a="http://schemas.openxmlformats.org/drawingml/2006/main">
              <a:ext uri="{FF2B5EF4-FFF2-40B4-BE49-F238E27FC236}">
                <a16:creationId xmlns:a16="http://schemas.microsoft.com/office/drawing/2014/main" id="{E219D9BB-F832-48D4-ABEB-551903F0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4226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静脉穿刺/采血</a:t>
            </a:r>
          </a:p>
        </p:txBody>
      </p:sp>
      <p:sp>
        <p:nvSpPr>
          <p:cNvPr id="45" name="bar-1">
            <a:extLst xmlns:a="http://schemas.openxmlformats.org/drawingml/2006/main">
              <a:ext uri="{FF2B5EF4-FFF2-40B4-BE49-F238E27FC236}">
                <a16:creationId xmlns:a16="http://schemas.microsoft.com/office/drawing/2014/main" id="{BCA81601-F692-49B8-A9D5-C61C38B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61310"/>
            <a:ext cx="1984664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oa-1">
            <a:extLst xmlns:a="http://schemas.openxmlformats.org/drawingml/2006/main">
              <a:ext uri="{FF2B5EF4-FFF2-40B4-BE49-F238E27FC236}">
                <a16:creationId xmlns:a16="http://schemas.microsoft.com/office/drawing/2014/main" id="{6043C29F-4DA8-4625-9B81-D0671760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27985"/>
            <a:ext cx="992332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oa-n-1">
            <a:extLst xmlns:a="http://schemas.openxmlformats.org/drawingml/2006/main">
              <a:ext uri="{FF2B5EF4-FFF2-40B4-BE49-F238E27FC236}">
                <a16:creationId xmlns:a16="http://schemas.microsoft.com/office/drawing/2014/main" id="{0978D8F6-AE5D-41F3-978B-9B20EB0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007" y="286131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n-1">
            <a:extLst xmlns:a="http://schemas.openxmlformats.org/drawingml/2006/main">
              <a:ext uri="{FF2B5EF4-FFF2-40B4-BE49-F238E27FC236}">
                <a16:creationId xmlns:a16="http://schemas.microsoft.com/office/drawing/2014/main" id="{4F7D19EC-AF73-4002-A7C2-449C07D2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489" y="284226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12</a:t>
            </a:r>
          </a:p>
        </p:txBody>
      </p:sp>
      <p:sp>
        <p:nvSpPr>
          <p:cNvPr id="49" name="label-2">
            <a:extLst xmlns:a="http://schemas.openxmlformats.org/drawingml/2006/main">
              <a:ext uri="{FF2B5EF4-FFF2-40B4-BE49-F238E27FC236}">
                <a16:creationId xmlns:a16="http://schemas.microsoft.com/office/drawing/2014/main" id="{B9ADC872-8A33-4AE8-825F-9D452EED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852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拭子/标本采集</a:t>
            </a:r>
          </a:p>
        </p:txBody>
      </p:sp>
      <p:sp>
        <p:nvSpPr>
          <p:cNvPr id="50" name="bar-2">
            <a:extLst xmlns:a="http://schemas.openxmlformats.org/drawingml/2006/main">
              <a:ext uri="{FF2B5EF4-FFF2-40B4-BE49-F238E27FC236}">
                <a16:creationId xmlns:a16="http://schemas.microsoft.com/office/drawing/2014/main" id="{3AD00F48-B8D4-4421-BC96-03B9B1C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17570"/>
            <a:ext cx="1653886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oa-2">
            <a:extLst xmlns:a="http://schemas.openxmlformats.org/drawingml/2006/main">
              <a:ext uri="{FF2B5EF4-FFF2-40B4-BE49-F238E27FC236}">
                <a16:creationId xmlns:a16="http://schemas.microsoft.com/office/drawing/2014/main" id="{AE9794FC-97F1-4703-9CE9-6DFD7BB1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84245"/>
            <a:ext cx="826943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oa-n-2">
            <a:extLst xmlns:a="http://schemas.openxmlformats.org/drawingml/2006/main">
              <a:ext uri="{FF2B5EF4-FFF2-40B4-BE49-F238E27FC236}">
                <a16:creationId xmlns:a16="http://schemas.microsoft.com/office/drawing/2014/main" id="{EF05CBC1-8993-4F88-B39E-087BBB08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618" y="341757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n-2">
            <a:extLst xmlns:a="http://schemas.openxmlformats.org/drawingml/2006/main">
              <a:ext uri="{FF2B5EF4-FFF2-40B4-BE49-F238E27FC236}">
                <a16:creationId xmlns:a16="http://schemas.microsoft.com/office/drawing/2014/main" id="{CFA8D561-C445-472C-9907-831E5B20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711" y="339852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10</a:t>
            </a:r>
          </a:p>
        </p:txBody>
      </p:sp>
      <p:sp>
        <p:nvSpPr>
          <p:cNvPr id="54" name="label-3">
            <a:extLst xmlns:a="http://schemas.openxmlformats.org/drawingml/2006/main">
              <a:ext uri="{FF2B5EF4-FFF2-40B4-BE49-F238E27FC236}">
                <a16:creationId xmlns:a16="http://schemas.microsoft.com/office/drawing/2014/main" id="{18182D8D-5C0E-4D9D-B32F-857528FD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5478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内镜/支气管镜活检</a:t>
            </a:r>
          </a:p>
        </p:txBody>
      </p:sp>
      <p:sp>
        <p:nvSpPr>
          <p:cNvPr id="55" name="bar-3">
            <a:extLst xmlns:a="http://schemas.openxmlformats.org/drawingml/2006/main">
              <a:ext uri="{FF2B5EF4-FFF2-40B4-BE49-F238E27FC236}">
                <a16:creationId xmlns:a16="http://schemas.microsoft.com/office/drawing/2014/main" id="{9A1B2F94-2F4F-4EA5-8DE0-3BBF1767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73830"/>
            <a:ext cx="661555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oa-3">
            <a:extLst xmlns:a="http://schemas.openxmlformats.org/drawingml/2006/main">
              <a:ext uri="{FF2B5EF4-FFF2-40B4-BE49-F238E27FC236}">
                <a16:creationId xmlns:a16="http://schemas.microsoft.com/office/drawing/2014/main" id="{E8C0F5ED-5392-41AB-94DD-A5FFBF48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40505"/>
            <a:ext cx="330777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a-n-3">
            <a:extLst xmlns:a="http://schemas.openxmlformats.org/drawingml/2006/main">
              <a:ext uri="{FF2B5EF4-FFF2-40B4-BE49-F238E27FC236}">
                <a16:creationId xmlns:a16="http://schemas.microsoft.com/office/drawing/2014/main" id="{F64EEB58-6D2D-485C-84E1-97D88DE2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7383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8" name="n-3">
            <a:extLst xmlns:a="http://schemas.openxmlformats.org/drawingml/2006/main">
              <a:ext uri="{FF2B5EF4-FFF2-40B4-BE49-F238E27FC236}">
                <a16:creationId xmlns:a16="http://schemas.microsoft.com/office/drawing/2014/main" id="{DE66A60A-A2E4-4BAC-8D01-49001489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80" y="395478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4</a:t>
            </a:r>
          </a:p>
        </p:txBody>
      </p:sp>
      <p:sp>
        <p:nvSpPr>
          <p:cNvPr id="59" name="label-4">
            <a:extLst xmlns:a="http://schemas.openxmlformats.org/drawingml/2006/main">
              <a:ext uri="{FF2B5EF4-FFF2-40B4-BE49-F238E27FC236}">
                <a16:creationId xmlns:a16="http://schemas.microsoft.com/office/drawing/2014/main" id="{8EC9FFCC-3EDB-4510-902C-94D7F643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104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胶囊组织/体液采样</a:t>
            </a:r>
          </a:p>
        </p:txBody>
      </p:sp>
      <p:sp>
        <p:nvSpPr>
          <p:cNvPr id="60" name="bar-4">
            <a:extLst xmlns:a="http://schemas.openxmlformats.org/drawingml/2006/main">
              <a:ext uri="{FF2B5EF4-FFF2-40B4-BE49-F238E27FC236}">
                <a16:creationId xmlns:a16="http://schemas.microsoft.com/office/drawing/2014/main" id="{21871550-B185-494D-BD62-86B86D7D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30090"/>
            <a:ext cx="330777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B1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n-4">
            <a:extLst xmlns:a="http://schemas.openxmlformats.org/drawingml/2006/main">
              <a:ext uri="{FF2B5EF4-FFF2-40B4-BE49-F238E27FC236}">
                <a16:creationId xmlns:a16="http://schemas.microsoft.com/office/drawing/2014/main" id="{0ABC6171-5A7B-4E32-80AC-081B914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602" y="451104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1532"/>
                </a:solidFill>
              </a:defRPr>
            </a:pPr>
            <a:r>
              <a:rPr sz="1275" b="0">
                <a:solidFill>
                  <a:srgbClr val="2B1532"/>
                </a:solidFill>
              </a:rPr>
              <a:t>2</a:t>
            </a:r>
          </a:p>
        </p:txBody>
      </p:sp>
      <p:sp>
        <p:nvSpPr>
          <p:cNvPr id="62" name="maturity-title">
            <a:extLst xmlns:a="http://schemas.openxmlformats.org/drawingml/2006/main">
              <a:ext uri="{FF2B5EF4-FFF2-40B4-BE49-F238E27FC236}">
                <a16:creationId xmlns:a16="http://schemas.microsoft.com/office/drawing/2014/main" id="{FA87EE54-CA33-4D46-A034-8094B4C1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1532"/>
                </a:solidFill>
              </a:defRPr>
            </a:pPr>
            <a:r>
              <a:rPr sz="1350" b="1">
                <a:solidFill>
                  <a:srgbClr val="2B1532"/>
                </a:solidFill>
              </a:rPr>
              <a:t>最高可公开核验证据</a:t>
            </a:r>
          </a:p>
        </p:txBody>
      </p:sp>
      <p:sp>
        <p:nvSpPr>
          <p:cNvPr id="63" name="m-label-0">
            <a:extLst xmlns:a="http://schemas.openxmlformats.org/drawingml/2006/main">
              <a:ext uri="{FF2B5EF4-FFF2-40B4-BE49-F238E27FC236}">
                <a16:creationId xmlns:a16="http://schemas.microsoft.com/office/drawing/2014/main" id="{DF453A4E-B44F-4395-9B59-B5DA281F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经皮活检</a:t>
            </a:r>
          </a:p>
        </p:txBody>
      </p:sp>
      <p:sp>
        <p:nvSpPr>
          <p:cNvPr id="64" name="m-line-0">
            <a:extLst xmlns:a="http://schemas.openxmlformats.org/drawingml/2006/main">
              <a:ext uri="{FF2B5EF4-FFF2-40B4-BE49-F238E27FC236}">
                <a16:creationId xmlns:a16="http://schemas.microsoft.com/office/drawing/2014/main" id="{9A076F46-1AF1-4A5E-98DF-E45D07E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95525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m-dot-0">
            <a:extLst xmlns:a="http://schemas.openxmlformats.org/drawingml/2006/main">
              <a:ext uri="{FF2B5EF4-FFF2-40B4-BE49-F238E27FC236}">
                <a16:creationId xmlns:a16="http://schemas.microsoft.com/office/drawing/2014/main" id="{6E51717D-E4D8-440E-8A7E-64552DB2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193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m-label-1">
            <a:extLst xmlns:a="http://schemas.openxmlformats.org/drawingml/2006/main">
              <a:ext uri="{FF2B5EF4-FFF2-40B4-BE49-F238E27FC236}">
                <a16:creationId xmlns:a16="http://schemas.microsoft.com/office/drawing/2014/main" id="{3B43803D-85C7-423A-83EE-BC42A8DD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47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采血</a:t>
            </a:r>
          </a:p>
        </p:txBody>
      </p:sp>
      <p:sp>
        <p:nvSpPr>
          <p:cNvPr id="67" name="m-line-1">
            <a:extLst xmlns:a="http://schemas.openxmlformats.org/drawingml/2006/main">
              <a:ext uri="{FF2B5EF4-FFF2-40B4-BE49-F238E27FC236}">
                <a16:creationId xmlns:a16="http://schemas.microsoft.com/office/drawing/2014/main" id="{9EA1C214-0BE1-4A9B-ACE9-10B18FC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m-dot-1">
            <a:extLst xmlns:a="http://schemas.openxmlformats.org/drawingml/2006/main">
              <a:ext uri="{FF2B5EF4-FFF2-40B4-BE49-F238E27FC236}">
                <a16:creationId xmlns:a16="http://schemas.microsoft.com/office/drawing/2014/main" id="{320A3E9A-88D7-4738-A834-E5C48ECD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325" y="24955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m-label-2">
            <a:extLst xmlns:a="http://schemas.openxmlformats.org/drawingml/2006/main">
              <a:ext uri="{FF2B5EF4-FFF2-40B4-BE49-F238E27FC236}">
                <a16:creationId xmlns:a16="http://schemas.microsoft.com/office/drawing/2014/main" id="{1873DB0E-BF11-4DDA-8E28-D62D0F0E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拭子</a:t>
            </a:r>
          </a:p>
        </p:txBody>
      </p:sp>
      <p:sp>
        <p:nvSpPr>
          <p:cNvPr id="70" name="m-line-2">
            <a:extLst xmlns:a="http://schemas.openxmlformats.org/drawingml/2006/main">
              <a:ext uri="{FF2B5EF4-FFF2-40B4-BE49-F238E27FC236}">
                <a16:creationId xmlns:a16="http://schemas.microsoft.com/office/drawing/2014/main" id="{E96E03C9-3CE9-4DD3-AB7E-654247CB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47975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m-dot-2">
            <a:extLst xmlns:a="http://schemas.openxmlformats.org/drawingml/2006/main">
              <a:ext uri="{FF2B5EF4-FFF2-40B4-BE49-F238E27FC236}">
                <a16:creationId xmlns:a16="http://schemas.microsoft.com/office/drawing/2014/main" id="{CC0403CA-F2CC-45C1-9725-4F41415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100" y="27717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m-label-3">
            <a:extLst xmlns:a="http://schemas.openxmlformats.org/drawingml/2006/main">
              <a:ext uri="{FF2B5EF4-FFF2-40B4-BE49-F238E27FC236}">
                <a16:creationId xmlns:a16="http://schemas.microsoft.com/office/drawing/2014/main" id="{5632317A-B34E-44DC-98DD-2855F8B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0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内镜活检</a:t>
            </a:r>
          </a:p>
        </p:txBody>
      </p:sp>
      <p:sp>
        <p:nvSpPr>
          <p:cNvPr id="73" name="m-line-3">
            <a:extLst xmlns:a="http://schemas.openxmlformats.org/drawingml/2006/main">
              <a:ext uri="{FF2B5EF4-FFF2-40B4-BE49-F238E27FC236}">
                <a16:creationId xmlns:a16="http://schemas.microsoft.com/office/drawing/2014/main" id="{EE731098-0579-48F2-A30A-64A899F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m-dot-3">
            <a:extLst xmlns:a="http://schemas.openxmlformats.org/drawingml/2006/main">
              <a:ext uri="{FF2B5EF4-FFF2-40B4-BE49-F238E27FC236}">
                <a16:creationId xmlns:a16="http://schemas.microsoft.com/office/drawing/2014/main" id="{241A9456-2B3F-45C1-938D-0D4B95D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325" y="30480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m-label-4">
            <a:extLst xmlns:a="http://schemas.openxmlformats.org/drawingml/2006/main">
              <a:ext uri="{FF2B5EF4-FFF2-40B4-BE49-F238E27FC236}">
                <a16:creationId xmlns:a16="http://schemas.microsoft.com/office/drawing/2014/main" id="{92D2B559-B95E-4E21-AD90-551EFD7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B1532"/>
                </a:solidFill>
              </a:defRPr>
            </a:pPr>
            <a:r>
              <a:rPr sz="1200" b="0">
                <a:solidFill>
                  <a:srgbClr val="2B1532"/>
                </a:solidFill>
              </a:rPr>
              <a:t>胶囊</a:t>
            </a:r>
          </a:p>
        </p:txBody>
      </p:sp>
      <p:sp>
        <p:nvSpPr>
          <p:cNvPr id="76" name="m-line-4">
            <a:extLst xmlns:a="http://schemas.openxmlformats.org/drawingml/2006/main">
              <a:ext uri="{FF2B5EF4-FFF2-40B4-BE49-F238E27FC236}">
                <a16:creationId xmlns:a16="http://schemas.microsoft.com/office/drawing/2014/main" id="{22AD5131-1CCD-4F34-9DBC-B39B9FA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0425"/>
            <a:ext cx="3181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m-dot-4">
            <a:extLst xmlns:a="http://schemas.openxmlformats.org/drawingml/2006/main">
              <a:ext uri="{FF2B5EF4-FFF2-40B4-BE49-F238E27FC236}">
                <a16:creationId xmlns:a16="http://schemas.microsoft.com/office/drawing/2014/main" id="{560666A8-901F-4A7F-9847-D18E0A0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242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8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m-scale">
            <a:extLst xmlns:a="http://schemas.openxmlformats.org/drawingml/2006/main">
              <a:ext uri="{FF2B5EF4-FFF2-40B4-BE49-F238E27FC236}">
                <a16:creationId xmlns:a16="http://schemas.microsoft.com/office/drawing/2014/main" id="{3F55C0BD-8BA0-480F-98CC-0385033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7187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6170"/>
                </a:solidFill>
              </a:defRPr>
            </a:pPr>
            <a:r>
              <a:rPr sz="750" b="0">
                <a:solidFill>
                  <a:srgbClr val="6D6170"/>
                </a:solidFill>
              </a:rPr>
              <a:t>0 未定位      1 原型      2 幻模/体外      3 动物/离体      4 人体      5 多中心      6 结局</a:t>
            </a:r>
          </a:p>
        </p:txBody>
      </p:sp>
      <p:sp>
        <p:nvSpPr>
          <p:cNvPr id="79" name="chain-title">
            <a:extLst xmlns:a="http://schemas.openxmlformats.org/drawingml/2006/main">
              <a:ext uri="{FF2B5EF4-FFF2-40B4-BE49-F238E27FC236}">
                <a16:creationId xmlns:a16="http://schemas.microsoft.com/office/drawing/2014/main" id="{29394405-5492-4194-8971-38CC1C55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82D"/>
                </a:solidFill>
              </a:defRPr>
            </a:pPr>
            <a:r>
              <a:rPr sz="1350" b="1">
                <a:solidFill>
                  <a:srgbClr val="D9782D"/>
                </a:solidFill>
              </a:rPr>
              <a:t>完整闭环应跨过后两关</a:t>
            </a:r>
          </a:p>
        </p:txBody>
      </p:sp>
      <p:sp>
        <p:nvSpPr>
          <p:cNvPr id="80" name="chain-copy">
            <a:extLst xmlns:a="http://schemas.openxmlformats.org/drawingml/2006/main">
              <a:ext uri="{FF2B5EF4-FFF2-40B4-BE49-F238E27FC236}">
                <a16:creationId xmlns:a16="http://schemas.microsoft.com/office/drawing/2014/main" id="{1105A65D-DF7A-481B-AA69-B5C78193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10100"/>
            <a:ext cx="4333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靶向 → 采集 → 样本充分性 → 结果返回</a:t>
            </a:r>
          </a:p>
          <a:p xmlns:a="http://schemas.openxmlformats.org/drawingml/2006/main">
            <a:pPr algn="l">
              <a:defRPr sz="1350" b="0">
                <a:solidFill>
                  <a:srgbClr val="2B1532"/>
                </a:solidFill>
              </a:defRPr>
            </a:pPr>
            <a:r>
              <a:rPr sz="1350" b="0">
                <a:solidFill>
                  <a:srgbClr val="2B1532"/>
                </a:solidFill>
              </a:rPr>
              <a:t>现有研究多在“靶向/采集”后停止</a:t>
            </a:r>
          </a:p>
        </p:txBody>
      </p:sp>
      <p:sp>
        <p:nvSpPr>
          <p:cNvPr id="81" name="method-caveat">
            <a:extLst xmlns:a="http://schemas.openxmlformats.org/drawingml/2006/main">
              <a:ext uri="{FF2B5EF4-FFF2-40B4-BE49-F238E27FC236}">
                <a16:creationId xmlns:a16="http://schemas.microsoft.com/office/drawing/2014/main" id="{AE189504-8DFC-41D1-830B-2193F567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170"/>
                </a:solidFill>
              </a:defRPr>
            </a:pPr>
            <a:r>
              <a:rPr sz="1125" b="0">
                <a:solidFill>
                  <a:srgbClr val="6D6170"/>
                </a:solidFill>
              </a:rPr>
              <a:t>候选/OA位置：22/14、12/6、10/5、4/2、2/0；人工修正标点变体重复与胶囊跨类重复。</a:t>
            </a:r>
          </a:p>
        </p:txBody>
      </p:sp>
      <p:sp>
        <p:nvSpPr>
          <p:cNvPr id="8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8AC6D0C-0C79-4A8C-AB6D-6E72DD3D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170"/>
                </a:solidFill>
              </a:defRPr>
            </a:pPr>
            <a:r>
              <a:rPr sz="900" b="0">
                <a:solidFill>
                  <a:srgbClr val="6D6170"/>
                </a:solidFill>
              </a:rPr>
              <a:t>公开来源：10.1093/clinchem/hvag029；PMC10597818；PMC10762007；10.1016/j.chest.2025.04.022</a:t>
            </a:r>
          </a:p>
        </p:txBody>
      </p:sp>
    </p:spTree>
    <p:extLst>
      <p:ext uri="{BB962C8B-B14F-4D97-AF65-F5344CB8AC3E}">
        <p14:creationId xmlns:p14="http://schemas.microsoft.com/office/powerpoint/2010/main" val="172066452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95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09C"/>
      </a:accent1>
      <a:accent2>
        <a:srgbClr val="00409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95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2026-08-13T11:25:25.1300000Z</dcterms:created>
  <dcterms:modified xsi:type="dcterms:W3CDTF">2026-08-13T11:25:25.1300000Z</dcterms:modified>
</coreProperties>
</file>